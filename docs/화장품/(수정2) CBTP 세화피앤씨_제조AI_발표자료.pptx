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80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9" r:id="rId24"/>
    <p:sldId id="278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74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52E8B6E5-56B7-9745-904D-9CFC89198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6B726AA-6B72-6A60-B06F-F53AD36EFCF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F7E483-8698-4D8C-9E9B-8012B62C924E}" type="datetime1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D3466F3-A297-1C94-445C-03C40AFD802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47F4013-A9B6-9785-DD74-6AD99F1BD3F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E5E388-0725-465D-88B7-0AE6B305A0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14917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440805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A0723-6BAE-6874-363D-6675379E8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48E584-79E7-70A0-C254-A1E75953FD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6FF3A6-FDCC-D16A-BE53-B81B044A79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70915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1E670-E569-18AD-504C-27BCFDDDE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A928B1-53D2-3DC9-87C1-AF0EB4D2B4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19488C-DADA-6D1B-8091-F44E02EE12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023617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149BB-4A73-C512-FBA9-05B221B14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66440B-C41F-4271-9E33-8DB32839B6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2C6B16-08F2-5AE2-A8EC-95299CABF4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35517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5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3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0">
            <a:extLst>
              <a:ext uri="{FF2B5EF4-FFF2-40B4-BE49-F238E27FC236}">
                <a16:creationId xmlns:a16="http://schemas.microsoft.com/office/drawing/2014/main" id="{DEEAF766-7B29-E341-E7B5-99D34BCAE3BC}"/>
              </a:ext>
            </a:extLst>
          </p:cNvPr>
          <p:cNvSpPr/>
          <p:nvPr/>
        </p:nvSpPr>
        <p:spPr>
          <a:xfrm>
            <a:off x="0" y="0"/>
            <a:ext cx="12161520" cy="384048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">
            <a:extLst>
              <a:ext uri="{FF2B5EF4-FFF2-40B4-BE49-F238E27FC236}">
                <a16:creationId xmlns:a16="http://schemas.microsoft.com/office/drawing/2014/main" id="{B1142876-A271-B434-64E8-A1E34F73F789}"/>
              </a:ext>
            </a:extLst>
          </p:cNvPr>
          <p:cNvSpPr/>
          <p:nvPr/>
        </p:nvSpPr>
        <p:spPr>
          <a:xfrm>
            <a:off x="0" y="3869976"/>
            <a:ext cx="12191016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">
            <a:extLst>
              <a:ext uri="{FF2B5EF4-FFF2-40B4-BE49-F238E27FC236}">
                <a16:creationId xmlns:a16="http://schemas.microsoft.com/office/drawing/2014/main" id="{89A4CCC9-D222-455E-23AE-499FCC07D7D2}"/>
              </a:ext>
            </a:extLst>
          </p:cNvPr>
          <p:cNvSpPr/>
          <p:nvPr/>
        </p:nvSpPr>
        <p:spPr>
          <a:xfrm>
            <a:off x="8686800" y="0"/>
            <a:ext cx="3474720" cy="3840480"/>
          </a:xfrm>
          <a:prstGeom prst="rect">
            <a:avLst/>
          </a:prstGeom>
          <a:solidFill>
            <a:srgbClr val="162F56"/>
          </a:solidFill>
          <a:ln w="12700">
            <a:solidFill>
              <a:srgbClr val="162F5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3">
            <a:extLst>
              <a:ext uri="{FF2B5EF4-FFF2-40B4-BE49-F238E27FC236}">
                <a16:creationId xmlns:a16="http://schemas.microsoft.com/office/drawing/2014/main" id="{080F1E9F-8E2C-B2A8-47BC-A322EC6D72BF}"/>
              </a:ext>
            </a:extLst>
          </p:cNvPr>
          <p:cNvSpPr/>
          <p:nvPr/>
        </p:nvSpPr>
        <p:spPr>
          <a:xfrm>
            <a:off x="457200" y="502920"/>
            <a:ext cx="2560320" cy="384048"/>
          </a:xfrm>
          <a:prstGeom prst="rect">
            <a:avLst/>
          </a:prstGeom>
          <a:solidFill>
            <a:srgbClr val="4DA6E0"/>
          </a:solidFill>
          <a:ln w="12700">
            <a:solidFill>
              <a:srgbClr val="4DA6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4">
            <a:extLst>
              <a:ext uri="{FF2B5EF4-FFF2-40B4-BE49-F238E27FC236}">
                <a16:creationId xmlns:a16="http://schemas.microsoft.com/office/drawing/2014/main" id="{CB9ED172-AF76-60D6-38E6-C128FD7D7F10}"/>
              </a:ext>
            </a:extLst>
          </p:cNvPr>
          <p:cNvSpPr/>
          <p:nvPr/>
        </p:nvSpPr>
        <p:spPr>
          <a:xfrm>
            <a:off x="457200" y="50292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제조 AI 현장 적용 지원 사업</a:t>
            </a:r>
            <a:endParaRPr lang="en-US" sz="1200" dirty="0"/>
          </a:p>
        </p:txBody>
      </p:sp>
      <p:sp>
        <p:nvSpPr>
          <p:cNvPr id="31" name="Text 5">
            <a:extLst>
              <a:ext uri="{FF2B5EF4-FFF2-40B4-BE49-F238E27FC236}">
                <a16:creationId xmlns:a16="http://schemas.microsoft.com/office/drawing/2014/main" id="{39991147-ED5D-584A-15F8-1CE0A2CFFC3A}"/>
              </a:ext>
            </a:extLst>
          </p:cNvPr>
          <p:cNvSpPr/>
          <p:nvPr/>
        </p:nvSpPr>
        <p:spPr>
          <a:xfrm>
            <a:off x="457200" y="1051560"/>
            <a:ext cx="8046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배치형(Batch) 화장품 제조공정의</a:t>
            </a:r>
            <a:endParaRPr lang="en-US" sz="3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시계열 운전데이터 기반</a:t>
            </a:r>
            <a:endParaRPr lang="en-US" sz="3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품질예측 및 불량원인 분석 시스템</a:t>
            </a:r>
            <a:endParaRPr lang="en-US" sz="3200" dirty="0"/>
          </a:p>
        </p:txBody>
      </p:sp>
      <p:sp>
        <p:nvSpPr>
          <p:cNvPr id="33" name="Shape 6">
            <a:extLst>
              <a:ext uri="{FF2B5EF4-FFF2-40B4-BE49-F238E27FC236}">
                <a16:creationId xmlns:a16="http://schemas.microsoft.com/office/drawing/2014/main" id="{C732F802-CF6B-419F-F9A6-31FF402C2E39}"/>
              </a:ext>
            </a:extLst>
          </p:cNvPr>
          <p:cNvSpPr/>
          <p:nvPr/>
        </p:nvSpPr>
        <p:spPr>
          <a:xfrm>
            <a:off x="457200" y="4114800"/>
            <a:ext cx="3108960" cy="822960"/>
          </a:xfrm>
          <a:prstGeom prst="rect">
            <a:avLst/>
          </a:prstGeom>
          <a:solidFill>
            <a:srgbClr val="D6EAF8"/>
          </a:solidFill>
          <a:ln w="12700">
            <a:solidFill>
              <a:srgbClr val="4DA6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7">
            <a:extLst>
              <a:ext uri="{FF2B5EF4-FFF2-40B4-BE49-F238E27FC236}">
                <a16:creationId xmlns:a16="http://schemas.microsoft.com/office/drawing/2014/main" id="{A295A9A8-1E3F-FFF8-3311-9F775F9A0F73}"/>
              </a:ext>
            </a:extLst>
          </p:cNvPr>
          <p:cNvSpPr/>
          <p:nvPr/>
        </p:nvSpPr>
        <p:spPr>
          <a:xfrm>
            <a:off x="594360" y="41605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6F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운영기관</a:t>
            </a:r>
            <a:endParaRPr lang="en-US" sz="1100" dirty="0"/>
          </a:p>
        </p:txBody>
      </p:sp>
      <p:sp>
        <p:nvSpPr>
          <p:cNvPr id="37" name="Text 8">
            <a:extLst>
              <a:ext uri="{FF2B5EF4-FFF2-40B4-BE49-F238E27FC236}">
                <a16:creationId xmlns:a16="http://schemas.microsoft.com/office/drawing/2014/main" id="{376891FA-9DA5-B0E5-AA65-BC5290F807CF}"/>
              </a:ext>
            </a:extLst>
          </p:cNvPr>
          <p:cNvSpPr/>
          <p:nvPr/>
        </p:nvSpPr>
        <p:spPr>
          <a:xfrm>
            <a:off x="594360" y="4407408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(재)충북테크노파크</a:t>
            </a:r>
            <a:endParaRPr lang="en-US" sz="1600" dirty="0"/>
          </a:p>
        </p:txBody>
      </p:sp>
      <p:sp>
        <p:nvSpPr>
          <p:cNvPr id="39" name="Shape 9">
            <a:extLst>
              <a:ext uri="{FF2B5EF4-FFF2-40B4-BE49-F238E27FC236}">
                <a16:creationId xmlns:a16="http://schemas.microsoft.com/office/drawing/2014/main" id="{15E0B8FD-DB5C-6053-5342-69B4578806E0}"/>
              </a:ext>
            </a:extLst>
          </p:cNvPr>
          <p:cNvSpPr/>
          <p:nvPr/>
        </p:nvSpPr>
        <p:spPr>
          <a:xfrm>
            <a:off x="3749040" y="4114800"/>
            <a:ext cx="3108960" cy="822960"/>
          </a:xfrm>
          <a:prstGeom prst="rect">
            <a:avLst/>
          </a:prstGeom>
          <a:solidFill>
            <a:srgbClr val="D6EAF8"/>
          </a:solidFill>
          <a:ln w="12700">
            <a:solidFill>
              <a:srgbClr val="4DA6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10">
            <a:extLst>
              <a:ext uri="{FF2B5EF4-FFF2-40B4-BE49-F238E27FC236}">
                <a16:creationId xmlns:a16="http://schemas.microsoft.com/office/drawing/2014/main" id="{2E8CFD83-47B5-A07A-1342-D68B16BC4168}"/>
              </a:ext>
            </a:extLst>
          </p:cNvPr>
          <p:cNvSpPr/>
          <p:nvPr/>
        </p:nvSpPr>
        <p:spPr>
          <a:xfrm>
            <a:off x="3886200" y="41605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6F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수요기업</a:t>
            </a:r>
            <a:endParaRPr lang="en-US" sz="1100" dirty="0"/>
          </a:p>
        </p:txBody>
      </p:sp>
      <p:sp>
        <p:nvSpPr>
          <p:cNvPr id="43" name="Text 11">
            <a:extLst>
              <a:ext uri="{FF2B5EF4-FFF2-40B4-BE49-F238E27FC236}">
                <a16:creationId xmlns:a16="http://schemas.microsoft.com/office/drawing/2014/main" id="{591A9D61-2C94-B239-DA51-7D09C97EA71E}"/>
              </a:ext>
            </a:extLst>
          </p:cNvPr>
          <p:cNvSpPr/>
          <p:nvPr/>
        </p:nvSpPr>
        <p:spPr>
          <a:xfrm>
            <a:off x="3886200" y="4407408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(주)세화피앤씨</a:t>
            </a:r>
            <a:endParaRPr lang="en-US" sz="1600" dirty="0"/>
          </a:p>
        </p:txBody>
      </p:sp>
      <p:sp>
        <p:nvSpPr>
          <p:cNvPr id="45" name="Shape 12">
            <a:extLst>
              <a:ext uri="{FF2B5EF4-FFF2-40B4-BE49-F238E27FC236}">
                <a16:creationId xmlns:a16="http://schemas.microsoft.com/office/drawing/2014/main" id="{F98846D8-C258-97D6-D087-6F0CCC34BA60}"/>
              </a:ext>
            </a:extLst>
          </p:cNvPr>
          <p:cNvSpPr/>
          <p:nvPr/>
        </p:nvSpPr>
        <p:spPr>
          <a:xfrm>
            <a:off x="7040880" y="4114800"/>
            <a:ext cx="3108960" cy="822960"/>
          </a:xfrm>
          <a:prstGeom prst="rect">
            <a:avLst/>
          </a:prstGeom>
          <a:solidFill>
            <a:srgbClr val="D6EAF8"/>
          </a:solidFill>
          <a:ln w="12700">
            <a:solidFill>
              <a:srgbClr val="4DA6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13">
            <a:extLst>
              <a:ext uri="{FF2B5EF4-FFF2-40B4-BE49-F238E27FC236}">
                <a16:creationId xmlns:a16="http://schemas.microsoft.com/office/drawing/2014/main" id="{C153D2E5-B80A-C293-67D5-C4701B827E73}"/>
              </a:ext>
            </a:extLst>
          </p:cNvPr>
          <p:cNvSpPr/>
          <p:nvPr/>
        </p:nvSpPr>
        <p:spPr>
          <a:xfrm>
            <a:off x="7178040" y="41605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6F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공급기업</a:t>
            </a:r>
            <a:endParaRPr lang="en-US" sz="1100" dirty="0"/>
          </a:p>
        </p:txBody>
      </p:sp>
      <p:sp>
        <p:nvSpPr>
          <p:cNvPr id="49" name="Text 14">
            <a:extLst>
              <a:ext uri="{FF2B5EF4-FFF2-40B4-BE49-F238E27FC236}">
                <a16:creationId xmlns:a16="http://schemas.microsoft.com/office/drawing/2014/main" id="{45769884-C4CF-9C6C-2BC7-544D6273574D}"/>
              </a:ext>
            </a:extLst>
          </p:cNvPr>
          <p:cNvSpPr/>
          <p:nvPr/>
        </p:nvSpPr>
        <p:spPr>
          <a:xfrm>
            <a:off x="7178040" y="4407408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(주)그립</a:t>
            </a:r>
            <a:endParaRPr lang="en-US" sz="1600" dirty="0"/>
          </a:p>
        </p:txBody>
      </p:sp>
      <p:sp>
        <p:nvSpPr>
          <p:cNvPr id="51" name="Text 15">
            <a:extLst>
              <a:ext uri="{FF2B5EF4-FFF2-40B4-BE49-F238E27FC236}">
                <a16:creationId xmlns:a16="http://schemas.microsoft.com/office/drawing/2014/main" id="{05EBB18C-E4A1-1946-C818-87A8D9BDDF05}"/>
              </a:ext>
            </a:extLst>
          </p:cNvPr>
          <p:cNvSpPr/>
          <p:nvPr/>
        </p:nvSpPr>
        <p:spPr>
          <a:xfrm>
            <a:off x="457200" y="5120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사업기간  :  협약일 ~ 2027. 08. 30. (12개월)</a:t>
            </a:r>
            <a:endParaRPr lang="en-US" sz="1300" dirty="0"/>
          </a:p>
        </p:txBody>
      </p:sp>
      <p:sp>
        <p:nvSpPr>
          <p:cNvPr id="53" name="Text 16">
            <a:extLst>
              <a:ext uri="{FF2B5EF4-FFF2-40B4-BE49-F238E27FC236}">
                <a16:creationId xmlns:a16="http://schemas.microsoft.com/office/drawing/2014/main" id="{EEF58100-56D4-3E44-DCF4-5CAD210B2389}"/>
              </a:ext>
            </a:extLst>
          </p:cNvPr>
          <p:cNvSpPr/>
          <p:nvPr/>
        </p:nvSpPr>
        <p:spPr>
          <a:xfrm>
            <a:off x="457200" y="5440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 사업비  :  90,800,000원 (지원금 80,000,000원 + 기업부담금 10,800,000원)</a:t>
            </a:r>
            <a:endParaRPr lang="en-US" sz="1300" dirty="0"/>
          </a:p>
        </p:txBody>
      </p:sp>
      <p:sp>
        <p:nvSpPr>
          <p:cNvPr id="55" name="Text 17">
            <a:extLst>
              <a:ext uri="{FF2B5EF4-FFF2-40B4-BE49-F238E27FC236}">
                <a16:creationId xmlns:a16="http://schemas.microsoft.com/office/drawing/2014/main" id="{965AF3DF-7E30-96BA-711F-825888A48F1A}"/>
              </a:ext>
            </a:extLst>
          </p:cNvPr>
          <p:cNvSpPr/>
          <p:nvPr/>
        </p:nvSpPr>
        <p:spPr>
          <a:xfrm>
            <a:off x="457200" y="63093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2026. 08.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E86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순서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</a:t>
            </a:r>
            <a:r>
              <a:rPr lang="en-US" sz="1300" dirty="0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정의 → 해결방안(AI) → 실행계획 → </a:t>
            </a:r>
            <a:r>
              <a:rPr lang="en-US" sz="1300" dirty="0" err="1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기대효과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5440680" cy="1371600"/>
          </a:xfrm>
          <a:prstGeom prst="roundRect">
            <a:avLst>
              <a:gd name="adj" fmla="val 6667"/>
            </a:avLst>
          </a:prstGeom>
          <a:solidFill>
            <a:srgbClr val="EAF2FC"/>
          </a:solidFill>
          <a:ln/>
          <a:effectLst>
            <a:outerShdw blurRad="88900" dist="25400" dir="5400000" algn="bl" rotWithShape="0">
              <a:srgbClr val="13294B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31520" y="1856232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AFCB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74920" y="2093976"/>
            <a:ext cx="566928" cy="566928"/>
          </a:xfrm>
          <a:prstGeom prst="ellipse">
            <a:avLst/>
          </a:prstGeom>
          <a:solidFill>
            <a:srgbClr val="13294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/tmp/pitch_deck/assets/icons/buildin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0983" y="2230039"/>
            <a:ext cx="294803" cy="29480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189280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 및 사업 개요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463040" y="2295144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세화피앤씨 프로필 · 배치 제조공정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263640" y="1691640"/>
            <a:ext cx="5440680" cy="1371600"/>
          </a:xfrm>
          <a:prstGeom prst="roundRect">
            <a:avLst>
              <a:gd name="adj" fmla="val 6667"/>
            </a:avLst>
          </a:prstGeom>
          <a:solidFill>
            <a:srgbClr val="EAF2FC"/>
          </a:solidFill>
          <a:ln/>
          <a:effectLst>
            <a:outerShdw blurRad="88900" dist="25400" dir="5400000" algn="bl" rotWithShape="0">
              <a:srgbClr val="13294B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6492240" y="1856232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AFCB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3000" dirty="0"/>
          </a:p>
        </p:txBody>
      </p:sp>
      <p:sp>
        <p:nvSpPr>
          <p:cNvPr id="13" name="Shape 10"/>
          <p:cNvSpPr/>
          <p:nvPr/>
        </p:nvSpPr>
        <p:spPr>
          <a:xfrm>
            <a:off x="10835640" y="2093976"/>
            <a:ext cx="566928" cy="566928"/>
          </a:xfrm>
          <a:prstGeom prst="ellipse">
            <a:avLst/>
          </a:prstGeom>
          <a:solidFill>
            <a:srgbClr val="13294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/tmp/pitch_deck/assets/icons/alertTriangl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1703" y="2230039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23760" y="189280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As-Is 현황 및 데이터 확보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7223760" y="2295144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4대 핵심 문제 · 3개년 QC 데이터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502920" y="3319272"/>
            <a:ext cx="5440680" cy="1371600"/>
          </a:xfrm>
          <a:prstGeom prst="roundRect">
            <a:avLst>
              <a:gd name="adj" fmla="val 6667"/>
            </a:avLst>
          </a:prstGeom>
          <a:solidFill>
            <a:srgbClr val="EAF2FC"/>
          </a:solidFill>
          <a:ln/>
          <a:effectLst>
            <a:outerShdw blurRad="88900" dist="25400" dir="5400000" algn="bl" rotWithShape="0">
              <a:srgbClr val="13294B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4"/>
          <p:cNvSpPr/>
          <p:nvPr/>
        </p:nvSpPr>
        <p:spPr>
          <a:xfrm>
            <a:off x="731520" y="3483864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AFCB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3000" dirty="0"/>
          </a:p>
        </p:txBody>
      </p:sp>
      <p:sp>
        <p:nvSpPr>
          <p:cNvPr id="19" name="Shape 15"/>
          <p:cNvSpPr/>
          <p:nvPr/>
        </p:nvSpPr>
        <p:spPr>
          <a:xfrm>
            <a:off x="5074920" y="3721608"/>
            <a:ext cx="566928" cy="566928"/>
          </a:xfrm>
          <a:prstGeom prst="ellipse">
            <a:avLst/>
          </a:prstGeom>
          <a:solidFill>
            <a:srgbClr val="13294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2" descr="/tmp/pitch_deck/assets/icons/robo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0983" y="3857671"/>
            <a:ext cx="294803" cy="294803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463040" y="352044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솔루션 및 기술 전략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1463040" y="3922776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4개 AI 솔루션 · 4계층 아키텍처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6263640" y="3319272"/>
            <a:ext cx="5440680" cy="1371600"/>
          </a:xfrm>
          <a:prstGeom prst="roundRect">
            <a:avLst>
              <a:gd name="adj" fmla="val 6667"/>
            </a:avLst>
          </a:prstGeom>
          <a:solidFill>
            <a:srgbClr val="EAF2FC"/>
          </a:solidFill>
          <a:ln/>
          <a:effectLst>
            <a:outerShdw blurRad="88900" dist="25400" dir="5400000" algn="bl" rotWithShape="0">
              <a:srgbClr val="13294B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Text 19"/>
          <p:cNvSpPr/>
          <p:nvPr/>
        </p:nvSpPr>
        <p:spPr>
          <a:xfrm>
            <a:off x="6492240" y="3483864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AFCB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3000" dirty="0"/>
          </a:p>
        </p:txBody>
      </p:sp>
      <p:sp>
        <p:nvSpPr>
          <p:cNvPr id="25" name="Shape 20"/>
          <p:cNvSpPr/>
          <p:nvPr/>
        </p:nvSpPr>
        <p:spPr>
          <a:xfrm>
            <a:off x="10835640" y="3721608"/>
            <a:ext cx="566928" cy="566928"/>
          </a:xfrm>
          <a:prstGeom prst="ellipse">
            <a:avLst/>
          </a:prstGeom>
          <a:solidFill>
            <a:srgbClr val="13294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3" descr="/tmp/pitch_deck/assets/icons/bullsey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1703" y="3857671"/>
            <a:ext cx="294803" cy="294803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223760" y="352044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정량적 목표(KPI)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7223760" y="3922776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Recall · MAPE · 제형 7종 적용범위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502920" y="4946904"/>
            <a:ext cx="5440680" cy="1371600"/>
          </a:xfrm>
          <a:prstGeom prst="roundRect">
            <a:avLst>
              <a:gd name="adj" fmla="val 6667"/>
            </a:avLst>
          </a:prstGeom>
          <a:solidFill>
            <a:srgbClr val="EAF2FC"/>
          </a:solidFill>
          <a:ln/>
          <a:effectLst>
            <a:outerShdw blurRad="88900" dist="25400" dir="5400000" algn="bl" rotWithShape="0">
              <a:srgbClr val="13294B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4"/>
          <p:cNvSpPr/>
          <p:nvPr/>
        </p:nvSpPr>
        <p:spPr>
          <a:xfrm>
            <a:off x="731520" y="5111496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AFCB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3000" dirty="0"/>
          </a:p>
        </p:txBody>
      </p:sp>
      <p:sp>
        <p:nvSpPr>
          <p:cNvPr id="31" name="Shape 25"/>
          <p:cNvSpPr/>
          <p:nvPr/>
        </p:nvSpPr>
        <p:spPr>
          <a:xfrm>
            <a:off x="5074920" y="5349240"/>
            <a:ext cx="566928" cy="566928"/>
          </a:xfrm>
          <a:prstGeom prst="ellipse">
            <a:avLst/>
          </a:prstGeom>
          <a:solidFill>
            <a:srgbClr val="13294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2" name="Image 4" descr="/tmp/pitch_deck/assets/icons/calendar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10983" y="5485303"/>
            <a:ext cx="294803" cy="294803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463040" y="5148072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추진체계 · 일정 · 인력 · 예산</a:t>
            </a:r>
            <a:endParaRPr lang="en-US" sz="1600" dirty="0"/>
          </a:p>
        </p:txBody>
      </p:sp>
      <p:sp>
        <p:nvSpPr>
          <p:cNvPr id="34" name="Text 27"/>
          <p:cNvSpPr/>
          <p:nvPr/>
        </p:nvSpPr>
        <p:spPr>
          <a:xfrm>
            <a:off x="1463040" y="5550408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12개월 사업 추진 계획</a:t>
            </a:r>
            <a:endParaRPr lang="en-US" sz="1150" dirty="0"/>
          </a:p>
        </p:txBody>
      </p:sp>
      <p:sp>
        <p:nvSpPr>
          <p:cNvPr id="35" name="Shape 28"/>
          <p:cNvSpPr/>
          <p:nvPr/>
        </p:nvSpPr>
        <p:spPr>
          <a:xfrm>
            <a:off x="6263640" y="4946904"/>
            <a:ext cx="5440680" cy="1371600"/>
          </a:xfrm>
          <a:prstGeom prst="roundRect">
            <a:avLst>
              <a:gd name="adj" fmla="val 6667"/>
            </a:avLst>
          </a:prstGeom>
          <a:solidFill>
            <a:srgbClr val="EAF2FC"/>
          </a:solidFill>
          <a:ln/>
          <a:effectLst>
            <a:outerShdw blurRad="88900" dist="25400" dir="5400000" algn="bl" rotWithShape="0">
              <a:srgbClr val="13294B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6" name="Text 29"/>
          <p:cNvSpPr/>
          <p:nvPr/>
        </p:nvSpPr>
        <p:spPr>
          <a:xfrm>
            <a:off x="6492240" y="5111496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AFCB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3000" dirty="0"/>
          </a:p>
        </p:txBody>
      </p:sp>
      <p:sp>
        <p:nvSpPr>
          <p:cNvPr id="37" name="Shape 30"/>
          <p:cNvSpPr/>
          <p:nvPr/>
        </p:nvSpPr>
        <p:spPr>
          <a:xfrm>
            <a:off x="10835640" y="5349240"/>
            <a:ext cx="566928" cy="566928"/>
          </a:xfrm>
          <a:prstGeom prst="ellipse">
            <a:avLst/>
          </a:prstGeom>
          <a:solidFill>
            <a:srgbClr val="13294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8" name="Image 5" descr="/tmp/pitch_deck/assets/icons/shieldAlt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1703" y="5485303"/>
            <a:ext cx="294803" cy="294803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7223760" y="5148072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리스크 관리 및 기대효과</a:t>
            </a:r>
            <a:endParaRPr lang="en-US" sz="1600" dirty="0"/>
          </a:p>
        </p:txBody>
      </p:sp>
      <p:sp>
        <p:nvSpPr>
          <p:cNvPr id="40" name="Text 32"/>
          <p:cNvSpPr/>
          <p:nvPr/>
        </p:nvSpPr>
        <p:spPr>
          <a:xfrm>
            <a:off x="7223760" y="5550408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대응방안 · 도입 전후 비교</a:t>
            </a:r>
            <a:endParaRPr lang="en-US" sz="1150" dirty="0"/>
          </a:p>
        </p:txBody>
      </p:sp>
      <p:sp>
        <p:nvSpPr>
          <p:cNvPr id="41" name="Text 33"/>
          <p:cNvSpPr/>
          <p:nvPr/>
        </p:nvSpPr>
        <p:spPr>
          <a:xfrm>
            <a:off x="50292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5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(주)그립 × (주)세화피앤씨</a:t>
            </a:r>
            <a:endParaRPr lang="en-US" sz="900" dirty="0"/>
          </a:p>
        </p:txBody>
      </p:sp>
      <p:sp>
        <p:nvSpPr>
          <p:cNvPr id="42" name="Text 34"/>
          <p:cNvSpPr/>
          <p:nvPr/>
        </p:nvSpPr>
        <p:spPr>
          <a:xfrm>
            <a:off x="10774375" y="65196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5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E86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COMPANY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 개요 — (주)세화피앤씨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1976년 설립, 50년 역사의 헤어케어·화장품 전문 제조기업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37360"/>
          <a:ext cx="6035040" cy="3236976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94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329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대표이사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B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이훈구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329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설립일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B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1976년 7월 9일 (2026년 기준 50주년)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329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매출액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B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376억원 (2025년 기준)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329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임직원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B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93명 (2025년 기준)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329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소재지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B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충북 진천군 초평면 (본사 · 공장)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329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주력 브랜드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B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moremo · RICHENNA · SENNOK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858000" y="1737360"/>
            <a:ext cx="4846320" cy="932688"/>
          </a:xfrm>
          <a:prstGeom prst="roundRect">
            <a:avLst>
              <a:gd name="adj" fmla="val 9804"/>
            </a:avLst>
          </a:prstGeom>
          <a:solidFill>
            <a:srgbClr val="EAF2FC"/>
          </a:solidFill>
          <a:ln/>
          <a:effectLst>
            <a:outerShdw blurRad="88900" dist="25400" dir="5400000" algn="bl" rotWithShape="0">
              <a:srgbClr val="13294B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7040880" y="1920240"/>
            <a:ext cx="566928" cy="566928"/>
          </a:xfrm>
          <a:prstGeom prst="ellipse">
            <a:avLst/>
          </a:prstGeom>
          <a:solidFill>
            <a:srgbClr val="2E86D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/tmp/pitch_deck/assets/icons/coin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6943" y="2056303"/>
            <a:ext cx="294803" cy="29480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772400" y="18288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376억원</a:t>
            </a:r>
            <a:endParaRPr lang="en-US" sz="2100" dirty="0"/>
          </a:p>
        </p:txBody>
      </p:sp>
      <p:sp>
        <p:nvSpPr>
          <p:cNvPr id="10" name="Text 6"/>
          <p:cNvSpPr/>
          <p:nvPr/>
        </p:nvSpPr>
        <p:spPr>
          <a:xfrm>
            <a:off x="7772400" y="226771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2025년 매출액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6858000" y="2816352"/>
            <a:ext cx="4846320" cy="932688"/>
          </a:xfrm>
          <a:prstGeom prst="roundRect">
            <a:avLst>
              <a:gd name="adj" fmla="val 9804"/>
            </a:avLst>
          </a:prstGeom>
          <a:solidFill>
            <a:srgbClr val="EAF2FC"/>
          </a:solidFill>
          <a:ln/>
          <a:effectLst>
            <a:outerShdw blurRad="88900" dist="25400" dir="5400000" algn="bl" rotWithShape="0">
              <a:srgbClr val="13294B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8"/>
          <p:cNvSpPr/>
          <p:nvPr/>
        </p:nvSpPr>
        <p:spPr>
          <a:xfrm>
            <a:off x="7040880" y="2999232"/>
            <a:ext cx="566928" cy="566928"/>
          </a:xfrm>
          <a:prstGeom prst="ellipse">
            <a:avLst/>
          </a:prstGeom>
          <a:solidFill>
            <a:srgbClr val="2E86D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1" descr="/tmp/pitch_deck/assets/icons/user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6943" y="3135295"/>
            <a:ext cx="294803" cy="29480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772400" y="290779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93명</a:t>
            </a:r>
            <a:endParaRPr lang="en-US" sz="2100" dirty="0"/>
          </a:p>
        </p:txBody>
      </p:sp>
      <p:sp>
        <p:nvSpPr>
          <p:cNvPr id="15" name="Text 10"/>
          <p:cNvSpPr/>
          <p:nvPr/>
        </p:nvSpPr>
        <p:spPr>
          <a:xfrm>
            <a:off x="7772400" y="334670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임직원 (진천공장 120명*)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858000" y="3895344"/>
            <a:ext cx="4846320" cy="932688"/>
          </a:xfrm>
          <a:prstGeom prst="roundRect">
            <a:avLst>
              <a:gd name="adj" fmla="val 9804"/>
            </a:avLst>
          </a:prstGeom>
          <a:solidFill>
            <a:srgbClr val="EAF2FC"/>
          </a:solidFill>
          <a:ln/>
          <a:effectLst>
            <a:outerShdw blurRad="88900" dist="25400" dir="5400000" algn="bl" rotWithShape="0">
              <a:srgbClr val="13294B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2"/>
          <p:cNvSpPr/>
          <p:nvPr/>
        </p:nvSpPr>
        <p:spPr>
          <a:xfrm>
            <a:off x="7040880" y="4078224"/>
            <a:ext cx="566928" cy="566928"/>
          </a:xfrm>
          <a:prstGeom prst="ellipse">
            <a:avLst/>
          </a:prstGeom>
          <a:solidFill>
            <a:srgbClr val="2E86D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2" descr="/tmp/pitch_deck/assets/icons/boxe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6943" y="4214287"/>
            <a:ext cx="294803" cy="29480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772400" y="3986784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1,500만개</a:t>
            </a:r>
            <a:endParaRPr lang="en-US" sz="2100" dirty="0"/>
          </a:p>
        </p:txBody>
      </p:sp>
      <p:sp>
        <p:nvSpPr>
          <p:cNvPr id="20" name="Text 14"/>
          <p:cNvSpPr/>
          <p:nvPr/>
        </p:nvSpPr>
        <p:spPr>
          <a:xfrm>
            <a:off x="7772400" y="442569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연간 총 생산 CAPA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502920" y="5166360"/>
            <a:ext cx="11192256" cy="868680"/>
          </a:xfrm>
          <a:prstGeom prst="roundRect">
            <a:avLst>
              <a:gd name="adj" fmla="val 10526"/>
            </a:avLst>
          </a:prstGeom>
          <a:solidFill>
            <a:srgbClr val="1329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6"/>
          <p:cNvSpPr/>
          <p:nvPr/>
        </p:nvSpPr>
        <p:spPr>
          <a:xfrm>
            <a:off x="777240" y="528523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사업영역   염모제 · 헤어케어 · 스킨케어 등 화장품 Brand 사업 + 코스메틱 OEM·ODM 사업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77240" y="5614416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E0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생산 CAPA(연간)   염모제 750만개 · 화장품 600만개 · 파우더류 150만개  |  진천공장 대지 17,444㎡(5,276평)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0292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5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(주)그립 × (주)세화피앤씨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0774375" y="65196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5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E86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BUSINESS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 개요 및 배치(Batch) 제조공정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배치형 화장품 제조 전문 코스닥 상장 중소기업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6642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화장품 배치(Batch) 제조 공정  ―  7단계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02920" y="2048256"/>
            <a:ext cx="1481328" cy="960120"/>
          </a:xfrm>
          <a:prstGeom prst="roundRect">
            <a:avLst>
              <a:gd name="adj" fmla="val 7619"/>
            </a:avLst>
          </a:prstGeom>
          <a:solidFill>
            <a:srgbClr val="1329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94360" y="20939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FC1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57784" y="2322576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원료입고 ·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원료칭량</a:t>
            </a:r>
            <a:endParaRPr lang="en-US" sz="1050" dirty="0"/>
          </a:p>
        </p:txBody>
      </p:sp>
      <p:pic>
        <p:nvPicPr>
          <p:cNvPr id="9" name="Image 0" descr="/tmp/pitch_deck/assets/icons/arrowRight_gr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3392" y="2446020"/>
            <a:ext cx="118872" cy="16459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116836" y="2048256"/>
            <a:ext cx="1481328" cy="960120"/>
          </a:xfrm>
          <a:prstGeom prst="roundRect">
            <a:avLst>
              <a:gd name="adj" fmla="val 7619"/>
            </a:avLst>
          </a:prstGeom>
          <a:solidFill>
            <a:srgbClr val="1329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2208276" y="20939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FC1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171700" y="2322576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유상용해 +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수상용해</a:t>
            </a:r>
            <a:endParaRPr lang="en-US" sz="1050" dirty="0"/>
          </a:p>
        </p:txBody>
      </p:sp>
      <p:pic>
        <p:nvPicPr>
          <p:cNvPr id="13" name="Image 1" descr="/tmp/pitch_deck/assets/icons/arrowRight_gr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7308" y="2446020"/>
            <a:ext cx="118872" cy="16459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730752" y="2048256"/>
            <a:ext cx="1481328" cy="960120"/>
          </a:xfrm>
          <a:prstGeom prst="roundRect">
            <a:avLst>
              <a:gd name="adj" fmla="val 7619"/>
            </a:avLst>
          </a:prstGeom>
          <a:solidFill>
            <a:srgbClr val="1329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1"/>
          <p:cNvSpPr/>
          <p:nvPr/>
        </p:nvSpPr>
        <p:spPr>
          <a:xfrm>
            <a:off x="3822192" y="20939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FC1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3785616" y="2322576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혼합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용해</a:t>
            </a:r>
            <a:endParaRPr lang="en-US" sz="1050" dirty="0"/>
          </a:p>
        </p:txBody>
      </p:sp>
      <p:pic>
        <p:nvPicPr>
          <p:cNvPr id="17" name="Image 2" descr="/tmp/pitch_deck/assets/icons/arrowRight_gr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1224" y="2446020"/>
            <a:ext cx="118872" cy="164592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5344668" y="2048256"/>
            <a:ext cx="1481328" cy="960120"/>
          </a:xfrm>
          <a:prstGeom prst="roundRect">
            <a:avLst>
              <a:gd name="adj" fmla="val 7619"/>
            </a:avLst>
          </a:prstGeom>
          <a:solidFill>
            <a:srgbClr val="1329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4"/>
          <p:cNvSpPr/>
          <p:nvPr/>
        </p:nvSpPr>
        <p:spPr>
          <a:xfrm>
            <a:off x="5436108" y="20939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FC1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5399532" y="2322576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냉각 →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첨가제투입·교반</a:t>
            </a:r>
            <a:endParaRPr lang="en-US" sz="1050" dirty="0"/>
          </a:p>
        </p:txBody>
      </p:sp>
      <p:pic>
        <p:nvPicPr>
          <p:cNvPr id="21" name="Image 3" descr="/tmp/pitch_deck/assets/icons/arrowRight_gr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140" y="2446020"/>
            <a:ext cx="118872" cy="164592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6958584" y="2048256"/>
            <a:ext cx="1481328" cy="960120"/>
          </a:xfrm>
          <a:prstGeom prst="roundRect">
            <a:avLst>
              <a:gd name="adj" fmla="val 7619"/>
            </a:avLst>
          </a:prstGeom>
          <a:solidFill>
            <a:srgbClr val="1329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7"/>
          <p:cNvSpPr/>
          <p:nvPr/>
        </p:nvSpPr>
        <p:spPr>
          <a:xfrm>
            <a:off x="7050024" y="20939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FC1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7013448" y="2322576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냉각 및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탈포</a:t>
            </a:r>
            <a:endParaRPr lang="en-US" sz="1050" dirty="0"/>
          </a:p>
        </p:txBody>
      </p:sp>
      <p:pic>
        <p:nvPicPr>
          <p:cNvPr id="25" name="Image 4" descr="/tmp/pitch_deck/assets/icons/arrowRight_gr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9056" y="2446020"/>
            <a:ext cx="118872" cy="164592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8572500" y="2048256"/>
            <a:ext cx="1481328" cy="960120"/>
          </a:xfrm>
          <a:prstGeom prst="roundRect">
            <a:avLst>
              <a:gd name="adj" fmla="val 7619"/>
            </a:avLst>
          </a:prstGeom>
          <a:solidFill>
            <a:srgbClr val="2E86D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0"/>
          <p:cNvSpPr/>
          <p:nvPr/>
        </p:nvSpPr>
        <p:spPr>
          <a:xfrm>
            <a:off x="8663940" y="20939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FC1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8627364" y="2322576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QC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(반제품시험)</a:t>
            </a:r>
            <a:endParaRPr lang="en-US" sz="1050" dirty="0"/>
          </a:p>
        </p:txBody>
      </p:sp>
      <p:pic>
        <p:nvPicPr>
          <p:cNvPr id="29" name="Image 5" descr="/tmp/pitch_deck/assets/icons/arrowRight_gr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2972" y="2446020"/>
            <a:ext cx="118872" cy="164592"/>
          </a:xfrm>
          <a:prstGeom prst="rect">
            <a:avLst/>
          </a:prstGeom>
        </p:spPr>
      </p:pic>
      <p:sp>
        <p:nvSpPr>
          <p:cNvPr id="30" name="Shape 22"/>
          <p:cNvSpPr/>
          <p:nvPr/>
        </p:nvSpPr>
        <p:spPr>
          <a:xfrm>
            <a:off x="10186416" y="2048256"/>
            <a:ext cx="1481328" cy="960120"/>
          </a:xfrm>
          <a:prstGeom prst="roundRect">
            <a:avLst>
              <a:gd name="adj" fmla="val 7619"/>
            </a:avLst>
          </a:prstGeom>
          <a:solidFill>
            <a:srgbClr val="1329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3"/>
          <p:cNvSpPr/>
          <p:nvPr/>
        </p:nvSpPr>
        <p:spPr>
          <a:xfrm>
            <a:off x="10277856" y="20939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FC1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100" dirty="0"/>
          </a:p>
        </p:txBody>
      </p:sp>
      <p:sp>
        <p:nvSpPr>
          <p:cNvPr id="32" name="Text 24"/>
          <p:cNvSpPr/>
          <p:nvPr/>
        </p:nvSpPr>
        <p:spPr>
          <a:xfrm>
            <a:off x="10241280" y="2322576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보관→충전→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포장→출고</a:t>
            </a:r>
            <a:endParaRPr lang="en-US" sz="1050" dirty="0"/>
          </a:p>
        </p:txBody>
      </p:sp>
      <p:sp>
        <p:nvSpPr>
          <p:cNvPr id="33" name="Text 25"/>
          <p:cNvSpPr/>
          <p:nvPr/>
        </p:nvSpPr>
        <p:spPr>
          <a:xfrm>
            <a:off x="502920" y="3291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2025년 제조배치 상위 품목 7종 (정량목표 대상)</a:t>
            </a:r>
            <a:endParaRPr lang="en-US" sz="145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611880"/>
          <a:ext cx="11192256" cy="219456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288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품목명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배치수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중량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86D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유화①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B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모레모 헤어트리트먼트 미라클투엑스 시그니처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41배치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80,200kg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86D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유화②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B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모레모 헤어트리트먼트 미라클투엑스 네롤리플라워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23배치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46,000kg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86D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유화③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B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모레모 리커버리 밤비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15배치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28,500kg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86D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유화④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B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모레모 팩토리 바디제모 크림인샤워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15배치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12,750kg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86D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샴푸①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B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모레모 슈퍼리페어 샴푸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22배치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96,850kg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86D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샴푸②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B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모레모 카페인바이옴 샴푸지성용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9배치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27,750kg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86D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액상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B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모레모 워터트리트먼트 미라클10 시그니처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12배치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51,000kg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5" name="Text 26"/>
          <p:cNvSpPr/>
          <p:nvPr/>
        </p:nvSpPr>
        <p:spPr>
          <a:xfrm>
            <a:off x="502920" y="587044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합계  137배치 / 343,050kg</a:t>
            </a:r>
            <a:endParaRPr lang="en-US" sz="1250" dirty="0"/>
          </a:p>
        </p:txBody>
      </p:sp>
      <p:sp>
        <p:nvSpPr>
          <p:cNvPr id="36" name="Text 27"/>
          <p:cNvSpPr/>
          <p:nvPr/>
        </p:nvSpPr>
        <p:spPr>
          <a:xfrm>
            <a:off x="50292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5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(주)그립 × (주)세화피앤씨</a:t>
            </a:r>
            <a:endParaRPr lang="en-US" sz="900" dirty="0"/>
          </a:p>
        </p:txBody>
      </p:sp>
      <p:sp>
        <p:nvSpPr>
          <p:cNvPr id="37" name="Text 28"/>
          <p:cNvSpPr/>
          <p:nvPr/>
        </p:nvSpPr>
        <p:spPr>
          <a:xfrm>
            <a:off x="10774375" y="65196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5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E86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AS-IS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As-Is 현황 및 도입 필요성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생산 현장의 4대 핵심 문제 — AI 솔루션 도입으로 해결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664208"/>
            <a:ext cx="5440680" cy="1719072"/>
          </a:xfrm>
          <a:prstGeom prst="roundRect">
            <a:avLst>
              <a:gd name="adj" fmla="val 5319"/>
            </a:avLst>
          </a:prstGeom>
          <a:solidFill>
            <a:srgbClr val="FBFCFE"/>
          </a:solidFill>
          <a:ln/>
          <a:effectLst>
            <a:outerShdw blurRad="88900" dist="25400" dir="5400000" algn="bl" rotWithShape="0">
              <a:srgbClr val="13294B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02920" y="1664208"/>
            <a:ext cx="5440680" cy="1719072"/>
          </a:xfrm>
          <a:prstGeom prst="roundRect">
            <a:avLst>
              <a:gd name="adj" fmla="val 5319"/>
            </a:avLst>
          </a:prstGeom>
          <a:solidFill>
            <a:srgbClr val="FBFCFE"/>
          </a:solidFill>
          <a:ln w="9525">
            <a:solidFill>
              <a:srgbClr val="D7E3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731520" y="1883664"/>
            <a:ext cx="512064" cy="512064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/tmp/pitch_deck/assets/icons/alertTriang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2011680"/>
            <a:ext cx="256032" cy="25603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371600" y="1865376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FBEAE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1371600" y="186537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생산 블랙박스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31520" y="2414016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생산설비 데이터 미수집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731520" y="2743200"/>
            <a:ext cx="4983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유상·수상·혼합 믹서의 RPM·온도·전류·운전시간이 제어판넬에 표시만 되고 기록되지 않아, 배치별 이력 추적이 완전히 불가합니다.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263640" y="1664208"/>
            <a:ext cx="5440680" cy="1719072"/>
          </a:xfrm>
          <a:prstGeom prst="roundRect">
            <a:avLst>
              <a:gd name="adj" fmla="val 5319"/>
            </a:avLst>
          </a:prstGeom>
          <a:solidFill>
            <a:srgbClr val="FBFCFE"/>
          </a:solidFill>
          <a:ln/>
          <a:effectLst>
            <a:outerShdw blurRad="88900" dist="25400" dir="5400000" algn="bl" rotWithShape="0">
              <a:srgbClr val="13294B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6263640" y="1664208"/>
            <a:ext cx="5440680" cy="1719072"/>
          </a:xfrm>
          <a:prstGeom prst="roundRect">
            <a:avLst>
              <a:gd name="adj" fmla="val 5319"/>
            </a:avLst>
          </a:prstGeom>
          <a:solidFill>
            <a:srgbClr val="FBFCFE"/>
          </a:solidFill>
          <a:ln w="9525">
            <a:solidFill>
              <a:srgbClr val="D7E3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6492240" y="1883664"/>
            <a:ext cx="512064" cy="512064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1" descr="/tmp/pitch_deck/assets/icons/unlin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0256" y="2011680"/>
            <a:ext cx="256032" cy="256032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7132320" y="1865376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FBEAE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4"/>
          <p:cNvSpPr/>
          <p:nvPr/>
        </p:nvSpPr>
        <p:spPr>
          <a:xfrm>
            <a:off x="7132320" y="186537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불량원인 규명 불가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6492240" y="2414016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품질-공정 데이터 단절</a:t>
            </a:r>
            <a:endParaRPr lang="en-US" sz="1550" dirty="0"/>
          </a:p>
        </p:txBody>
      </p:sp>
      <p:sp>
        <p:nvSpPr>
          <p:cNvPr id="20" name="Text 16"/>
          <p:cNvSpPr/>
          <p:nvPr/>
        </p:nvSpPr>
        <p:spPr>
          <a:xfrm>
            <a:off x="6492240" y="2743200"/>
            <a:ext cx="4983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QC 데이터(점도·비중·pH·향·성상)는 엑셀로만 관리되어 공정 데이터와 전혀 연계되지 않아 원인 규명이 불가합니다.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502920" y="3547872"/>
            <a:ext cx="5440680" cy="1719072"/>
          </a:xfrm>
          <a:prstGeom prst="roundRect">
            <a:avLst>
              <a:gd name="adj" fmla="val 5319"/>
            </a:avLst>
          </a:prstGeom>
          <a:solidFill>
            <a:srgbClr val="FBFCFE"/>
          </a:solidFill>
          <a:ln/>
          <a:effectLst>
            <a:outerShdw blurRad="88900" dist="25400" dir="5400000" algn="bl" rotWithShape="0">
              <a:srgbClr val="13294B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8"/>
          <p:cNvSpPr/>
          <p:nvPr/>
        </p:nvSpPr>
        <p:spPr>
          <a:xfrm>
            <a:off x="502920" y="3547872"/>
            <a:ext cx="5440680" cy="1719072"/>
          </a:xfrm>
          <a:prstGeom prst="roundRect">
            <a:avLst>
              <a:gd name="adj" fmla="val 5319"/>
            </a:avLst>
          </a:prstGeom>
          <a:solidFill>
            <a:srgbClr val="FBFCFE"/>
          </a:solidFill>
          <a:ln w="9525">
            <a:solidFill>
              <a:srgbClr val="D7E3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9"/>
          <p:cNvSpPr/>
          <p:nvPr/>
        </p:nvSpPr>
        <p:spPr>
          <a:xfrm>
            <a:off x="731520" y="3767328"/>
            <a:ext cx="512064" cy="512064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2" descr="/tmp/pitch_deck/assets/icons/userCloc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" y="3895344"/>
            <a:ext cx="256032" cy="256032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1371600" y="374904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FBEAE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1"/>
          <p:cNvSpPr/>
          <p:nvPr/>
        </p:nvSpPr>
        <p:spPr>
          <a:xfrm>
            <a:off x="1371600" y="37490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 편차 리스크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731520" y="4297680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작업자 의존형 제조 운영</a:t>
            </a:r>
            <a:endParaRPr lang="en-US" sz="1550" dirty="0"/>
          </a:p>
        </p:txBody>
      </p:sp>
      <p:sp>
        <p:nvSpPr>
          <p:cNvPr id="28" name="Text 23"/>
          <p:cNvSpPr/>
          <p:nvPr/>
        </p:nvSpPr>
        <p:spPr>
          <a:xfrm>
            <a:off x="731520" y="4626864"/>
            <a:ext cx="4983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온도·RPM·운전시간 설정을 작업자 경험에 전적으로 의존해, 숙련도·컨디션에 따른 품질 편차 리스크가 상존합니다.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6263640" y="3547872"/>
            <a:ext cx="5440680" cy="1719072"/>
          </a:xfrm>
          <a:prstGeom prst="roundRect">
            <a:avLst>
              <a:gd name="adj" fmla="val 5319"/>
            </a:avLst>
          </a:prstGeom>
          <a:solidFill>
            <a:srgbClr val="FBFCFE"/>
          </a:solidFill>
          <a:ln/>
          <a:effectLst>
            <a:outerShdw blurRad="88900" dist="25400" dir="5400000" algn="bl" rotWithShape="0">
              <a:srgbClr val="13294B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5"/>
          <p:cNvSpPr/>
          <p:nvPr/>
        </p:nvSpPr>
        <p:spPr>
          <a:xfrm>
            <a:off x="6263640" y="3547872"/>
            <a:ext cx="5440680" cy="1719072"/>
          </a:xfrm>
          <a:prstGeom prst="roundRect">
            <a:avLst>
              <a:gd name="adj" fmla="val 5319"/>
            </a:avLst>
          </a:prstGeom>
          <a:solidFill>
            <a:srgbClr val="FBFCFE"/>
          </a:solidFill>
          <a:ln w="9525">
            <a:solidFill>
              <a:srgbClr val="D7E3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6"/>
          <p:cNvSpPr/>
          <p:nvPr/>
        </p:nvSpPr>
        <p:spPr>
          <a:xfrm>
            <a:off x="6492240" y="3767328"/>
            <a:ext cx="512064" cy="512064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2" name="Image 3" descr="/tmp/pitch_deck/assets/icons/tools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0256" y="3895344"/>
            <a:ext cx="256032" cy="256032"/>
          </a:xfrm>
          <a:prstGeom prst="rect">
            <a:avLst/>
          </a:prstGeom>
        </p:spPr>
      </p:pic>
      <p:sp>
        <p:nvSpPr>
          <p:cNvPr id="33" name="Shape 27"/>
          <p:cNvSpPr/>
          <p:nvPr/>
        </p:nvSpPr>
        <p:spPr>
          <a:xfrm>
            <a:off x="7132320" y="374904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FBEAE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28"/>
          <p:cNvSpPr/>
          <p:nvPr/>
        </p:nvSpPr>
        <p:spPr>
          <a:xfrm>
            <a:off x="7132320" y="37490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돌발 정지 리스크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6492240" y="4297680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사후 대응형 설비 관리</a:t>
            </a:r>
            <a:endParaRPr lang="en-US" sz="1550" dirty="0"/>
          </a:p>
        </p:txBody>
      </p:sp>
      <p:sp>
        <p:nvSpPr>
          <p:cNvPr id="36" name="Text 30"/>
          <p:cNvSpPr/>
          <p:nvPr/>
        </p:nvSpPr>
        <p:spPr>
          <a:xfrm>
            <a:off x="6492240" y="4626864"/>
            <a:ext cx="4983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 이상 징후 감지 체계가 전무해, 돌발 고장 시 생산 중단·납기 지연·긴급 수리비용으로 직결됩니다.</a:t>
            </a:r>
            <a:endParaRPr lang="en-US" sz="1100" dirty="0"/>
          </a:p>
        </p:txBody>
      </p:sp>
      <p:sp>
        <p:nvSpPr>
          <p:cNvPr id="37" name="Text 31"/>
          <p:cNvSpPr/>
          <p:nvPr/>
        </p:nvSpPr>
        <p:spPr>
          <a:xfrm>
            <a:off x="502920" y="5376672"/>
            <a:ext cx="11192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A95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MES 등 기존 시스템은 배치·자재 흐름 관리 중심이며, 믹서 설비의 실시간 온도·RPM·전류 등 공정 파라미터는 별도로 수집되지 않고 있습니다.</a:t>
            </a:r>
            <a:endParaRPr lang="en-US" sz="1050" dirty="0"/>
          </a:p>
        </p:txBody>
      </p:sp>
      <p:sp>
        <p:nvSpPr>
          <p:cNvPr id="38" name="Text 32"/>
          <p:cNvSpPr/>
          <p:nvPr/>
        </p:nvSpPr>
        <p:spPr>
          <a:xfrm>
            <a:off x="50292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5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(주)그립 × (주)세화피앤씨</a:t>
            </a:r>
            <a:endParaRPr lang="en-US" sz="900" dirty="0"/>
          </a:p>
        </p:txBody>
      </p:sp>
      <p:sp>
        <p:nvSpPr>
          <p:cNvPr id="39" name="Text 33"/>
          <p:cNvSpPr/>
          <p:nvPr/>
        </p:nvSpPr>
        <p:spPr>
          <a:xfrm>
            <a:off x="10774375" y="65196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5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E86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확보 현황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3년간 2,231배치 QC 데이터 보유 + 신규 공정 데이터 수집 계획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664208"/>
            <a:ext cx="3611880" cy="1234440"/>
          </a:xfrm>
          <a:prstGeom prst="roundRect">
            <a:avLst>
              <a:gd name="adj" fmla="val 7407"/>
            </a:avLst>
          </a:prstGeom>
          <a:solidFill>
            <a:srgbClr val="13294B"/>
          </a:solidFill>
          <a:ln/>
          <a:effectLst>
            <a:outerShdw blurRad="88900" dist="25400" dir="5400000" algn="bl" rotWithShape="0">
              <a:srgbClr val="13294B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31520" y="1810512"/>
            <a:ext cx="502920" cy="502920"/>
          </a:xfrm>
          <a:prstGeom prst="ellipse">
            <a:avLst/>
          </a:prstGeom>
          <a:solidFill>
            <a:srgbClr val="2E86D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/tmp/pitch_deck/assets/icons/databas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1" y="1931213"/>
            <a:ext cx="261518" cy="26151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75564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2,231건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31520" y="23317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9D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3년 누적 QC 배치 데이터 (2023~2025)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297680" y="1664208"/>
            <a:ext cx="3611880" cy="1234440"/>
          </a:xfrm>
          <a:prstGeom prst="roundRect">
            <a:avLst>
              <a:gd name="adj" fmla="val 7407"/>
            </a:avLst>
          </a:prstGeom>
          <a:solidFill>
            <a:srgbClr val="13294B"/>
          </a:solidFill>
          <a:ln/>
          <a:effectLst>
            <a:outerShdw blurRad="88900" dist="25400" dir="5400000" algn="bl" rotWithShape="0">
              <a:srgbClr val="13294B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4526280" y="1810512"/>
            <a:ext cx="502920" cy="502920"/>
          </a:xfrm>
          <a:prstGeom prst="ellipse">
            <a:avLst/>
          </a:prstGeom>
          <a:solidFill>
            <a:srgbClr val="2E86D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/tmp/pitch_deck/assets/icons/boxe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6981" y="1931213"/>
            <a:ext cx="261518" cy="26151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66360" y="175564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137배치/년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4526280" y="23317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9D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정량목표 3개 제형·7개 품목 연간 총 배치수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092440" y="1664208"/>
            <a:ext cx="3611880" cy="1234440"/>
          </a:xfrm>
          <a:prstGeom prst="roundRect">
            <a:avLst>
              <a:gd name="adj" fmla="val 7407"/>
            </a:avLst>
          </a:prstGeom>
          <a:solidFill>
            <a:srgbClr val="13294B"/>
          </a:solidFill>
          <a:ln/>
          <a:effectLst>
            <a:outerShdw blurRad="88900" dist="25400" dir="5400000" algn="bl" rotWithShape="0">
              <a:srgbClr val="13294B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2"/>
          <p:cNvSpPr/>
          <p:nvPr/>
        </p:nvSpPr>
        <p:spPr>
          <a:xfrm>
            <a:off x="8321040" y="1810512"/>
            <a:ext cx="502920" cy="502920"/>
          </a:xfrm>
          <a:prstGeom prst="ellipse">
            <a:avLst/>
          </a:prstGeom>
          <a:solidFill>
            <a:srgbClr val="2E86D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2" descr="/tmp/pitch_deck/assets/icons/clipboardLis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1741" y="1931213"/>
            <a:ext cx="261518" cy="26151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961120" y="175564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5개 항목</a:t>
            </a:r>
            <a:endParaRPr lang="en-US" sz="2200" dirty="0"/>
          </a:p>
        </p:txBody>
      </p:sp>
      <p:sp>
        <p:nvSpPr>
          <p:cNvPr id="19" name="Text 14"/>
          <p:cNvSpPr/>
          <p:nvPr/>
        </p:nvSpPr>
        <p:spPr>
          <a:xfrm>
            <a:off x="8321040" y="23317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9D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점도·비중·pH·향·성상 품질 측정 항목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502920" y="3154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연도별 QC 데이터 및 품질 부적합 사례</a:t>
            </a:r>
            <a:endParaRPr lang="en-US" sz="14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474720"/>
          <a:ext cx="11192256" cy="173736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86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배치 건수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품질 부적합 사례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222B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2023년</a:t>
                      </a:r>
                      <a:endParaRPr lang="en-US" sz="10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222B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708건</a:t>
                      </a:r>
                      <a:endParaRPr lang="en-US" sz="10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222B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6건</a:t>
                      </a:r>
                      <a:endParaRPr lang="en-US" sz="10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222B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엑셀 보유</a:t>
                      </a:r>
                      <a:endParaRPr lang="en-US" sz="10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222B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2024년</a:t>
                      </a:r>
                      <a:endParaRPr lang="en-US" sz="10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222B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761건</a:t>
                      </a:r>
                      <a:endParaRPr lang="en-US" sz="10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222B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7건</a:t>
                      </a:r>
                      <a:endParaRPr lang="en-US" sz="10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222B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엑셀 보유</a:t>
                      </a:r>
                      <a:endParaRPr lang="en-US" sz="10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222B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2025년</a:t>
                      </a:r>
                      <a:endParaRPr lang="en-US" sz="10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222B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762건</a:t>
                      </a:r>
                      <a:endParaRPr lang="en-US" sz="10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222B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9건</a:t>
                      </a:r>
                      <a:endParaRPr lang="en-US" sz="10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222B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엑셀 보유</a:t>
                      </a:r>
                      <a:endParaRPr lang="en-US" sz="10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b="1" dirty="0">
                          <a:solidFill>
                            <a:srgbClr val="1329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합계</a:t>
                      </a:r>
                      <a:endParaRPr lang="en-US" sz="10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b="1" dirty="0">
                          <a:solidFill>
                            <a:srgbClr val="1329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2,231건</a:t>
                      </a:r>
                      <a:endParaRPr lang="en-US" sz="10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b="1" dirty="0">
                          <a:solidFill>
                            <a:srgbClr val="1329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22건</a:t>
                      </a:r>
                      <a:endParaRPr lang="en-US" sz="10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b="1" dirty="0">
                          <a:solidFill>
                            <a:srgbClr val="1329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학습 초기 데이터셋으로 활용 가능</a:t>
                      </a:r>
                      <a:endParaRPr lang="en-US" sz="10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" name="Text 16"/>
          <p:cNvSpPr/>
          <p:nvPr/>
        </p:nvSpPr>
        <p:spPr>
          <a:xfrm>
            <a:off x="502920" y="5349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데이터 수집 계획 (본 사업)</a:t>
            </a:r>
            <a:endParaRPr lang="en-US" sz="1450" dirty="0"/>
          </a:p>
        </p:txBody>
      </p:sp>
      <p:sp>
        <p:nvSpPr>
          <p:cNvPr id="23" name="Shape 17"/>
          <p:cNvSpPr/>
          <p:nvPr/>
        </p:nvSpPr>
        <p:spPr>
          <a:xfrm>
            <a:off x="502920" y="5669280"/>
            <a:ext cx="1691640" cy="566928"/>
          </a:xfrm>
          <a:prstGeom prst="roundRect">
            <a:avLst>
              <a:gd name="adj" fmla="val 12903"/>
            </a:avLst>
          </a:prstGeom>
          <a:solidFill>
            <a:srgbClr val="DCEB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18"/>
          <p:cNvSpPr/>
          <p:nvPr/>
        </p:nvSpPr>
        <p:spPr>
          <a:xfrm>
            <a:off x="548640" y="566928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RS-485 제어판넬</a:t>
            </a:r>
            <a:endParaRPr lang="en-US" sz="970" dirty="0"/>
          </a:p>
        </p:txBody>
      </p:sp>
      <p:pic>
        <p:nvPicPr>
          <p:cNvPr id="25" name="Image 3" descr="/tmp/pitch_deck/assets/icons/arrowRight_gra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03704" y="5879592"/>
            <a:ext cx="109728" cy="146304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2340864" y="5669280"/>
            <a:ext cx="1691640" cy="566928"/>
          </a:xfrm>
          <a:prstGeom prst="roundRect">
            <a:avLst>
              <a:gd name="adj" fmla="val 12903"/>
            </a:avLst>
          </a:prstGeom>
          <a:solidFill>
            <a:srgbClr val="DCEB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0"/>
          <p:cNvSpPr/>
          <p:nvPr/>
        </p:nvSpPr>
        <p:spPr>
          <a:xfrm>
            <a:off x="2386584" y="566928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IoT 게이트웨이</a:t>
            </a:r>
            <a:endParaRPr lang="en-US" sz="970" dirty="0"/>
          </a:p>
          <a:p>
            <a:pPr marL="0" indent="0" algn="ctr">
              <a:buNone/>
            </a:pPr>
            <a:r>
              <a:rPr lang="en-US" sz="97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(6대 설치)</a:t>
            </a:r>
            <a:endParaRPr lang="en-US" sz="970" dirty="0"/>
          </a:p>
        </p:txBody>
      </p:sp>
      <p:pic>
        <p:nvPicPr>
          <p:cNvPr id="28" name="Image 4" descr="/tmp/pitch_deck/assets/icons/arrowRight_gra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41648" y="5879592"/>
            <a:ext cx="109728" cy="146304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4178808" y="5669280"/>
            <a:ext cx="1691640" cy="566928"/>
          </a:xfrm>
          <a:prstGeom prst="roundRect">
            <a:avLst>
              <a:gd name="adj" fmla="val 12903"/>
            </a:avLst>
          </a:prstGeom>
          <a:solidFill>
            <a:srgbClr val="DCEB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2"/>
          <p:cNvSpPr/>
          <p:nvPr/>
        </p:nvSpPr>
        <p:spPr>
          <a:xfrm>
            <a:off x="4224528" y="566928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초·분·시간</a:t>
            </a:r>
            <a:endParaRPr lang="en-US" sz="970" dirty="0"/>
          </a:p>
          <a:p>
            <a:pPr marL="0" indent="0" algn="ctr">
              <a:buNone/>
            </a:pPr>
            <a:r>
              <a:rPr lang="en-US" sz="97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주기 자동수집</a:t>
            </a:r>
            <a:endParaRPr lang="en-US" sz="970" dirty="0"/>
          </a:p>
        </p:txBody>
      </p:sp>
      <p:pic>
        <p:nvPicPr>
          <p:cNvPr id="31" name="Image 5" descr="/tmp/pitch_deck/assets/icons/arrowRight_gra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79592" y="5879592"/>
            <a:ext cx="109728" cy="146304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6016752" y="5669280"/>
            <a:ext cx="1691640" cy="566928"/>
          </a:xfrm>
          <a:prstGeom prst="roundRect">
            <a:avLst>
              <a:gd name="adj" fmla="val 12903"/>
            </a:avLst>
          </a:prstGeom>
          <a:solidFill>
            <a:srgbClr val="DCEB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24"/>
          <p:cNvSpPr/>
          <p:nvPr/>
        </p:nvSpPr>
        <p:spPr>
          <a:xfrm>
            <a:off x="6062472" y="566928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InfluxDB</a:t>
            </a:r>
            <a:endParaRPr lang="en-US" sz="970" dirty="0"/>
          </a:p>
          <a:p>
            <a:pPr marL="0" indent="0" algn="ctr">
              <a:buNone/>
            </a:pPr>
            <a:r>
              <a:rPr lang="en-US" sz="97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</a:t>
            </a:r>
            <a:endParaRPr lang="en-US" sz="970" dirty="0"/>
          </a:p>
        </p:txBody>
      </p:sp>
      <p:pic>
        <p:nvPicPr>
          <p:cNvPr id="34" name="Image 6" descr="/tmp/pitch_deck/assets/icons/arrowRight_gra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7536" y="5879592"/>
            <a:ext cx="109728" cy="146304"/>
          </a:xfrm>
          <a:prstGeom prst="rect">
            <a:avLst/>
          </a:prstGeom>
        </p:spPr>
      </p:pic>
      <p:sp>
        <p:nvSpPr>
          <p:cNvPr id="35" name="Shape 25"/>
          <p:cNvSpPr/>
          <p:nvPr/>
        </p:nvSpPr>
        <p:spPr>
          <a:xfrm>
            <a:off x="7854696" y="5669280"/>
            <a:ext cx="1691640" cy="566928"/>
          </a:xfrm>
          <a:prstGeom prst="roundRect">
            <a:avLst>
              <a:gd name="adj" fmla="val 12903"/>
            </a:avLst>
          </a:prstGeom>
          <a:solidFill>
            <a:srgbClr val="DCEB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26"/>
          <p:cNvSpPr/>
          <p:nvPr/>
        </p:nvSpPr>
        <p:spPr>
          <a:xfrm>
            <a:off x="7900416" y="566928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배치번호</a:t>
            </a:r>
            <a:endParaRPr lang="en-US" sz="970" dirty="0"/>
          </a:p>
          <a:p>
            <a:pPr marL="0" indent="0" algn="ctr">
              <a:buNone/>
            </a:pPr>
            <a:r>
              <a:rPr lang="en-US" sz="97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태깅</a:t>
            </a:r>
            <a:endParaRPr lang="en-US" sz="970" dirty="0"/>
          </a:p>
        </p:txBody>
      </p:sp>
      <p:pic>
        <p:nvPicPr>
          <p:cNvPr id="37" name="Image 7" descr="/tmp/pitch_deck/assets/icons/arrowRight_gra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55480" y="5879592"/>
            <a:ext cx="109728" cy="146304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9692640" y="5669280"/>
            <a:ext cx="1691640" cy="566928"/>
          </a:xfrm>
          <a:prstGeom prst="roundRect">
            <a:avLst>
              <a:gd name="adj" fmla="val 12903"/>
            </a:avLst>
          </a:prstGeom>
          <a:solidFill>
            <a:srgbClr val="DCEB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28"/>
          <p:cNvSpPr/>
          <p:nvPr/>
        </p:nvSpPr>
        <p:spPr>
          <a:xfrm>
            <a:off x="9738360" y="566928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학습셋</a:t>
            </a:r>
            <a:endParaRPr lang="en-US" sz="970" dirty="0"/>
          </a:p>
          <a:p>
            <a:pPr marL="0" indent="0" algn="ctr">
              <a:buNone/>
            </a:pPr>
            <a:r>
              <a:rPr lang="en-US" sz="97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구성</a:t>
            </a:r>
            <a:endParaRPr lang="en-US" sz="970" dirty="0"/>
          </a:p>
        </p:txBody>
      </p:sp>
      <p:sp>
        <p:nvSpPr>
          <p:cNvPr id="40" name="Text 29"/>
          <p:cNvSpPr/>
          <p:nvPr/>
        </p:nvSpPr>
        <p:spPr>
          <a:xfrm>
            <a:off x="50292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5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(주)그립 × (주)세화피앤씨</a:t>
            </a:r>
            <a:endParaRPr lang="en-US" sz="900" dirty="0"/>
          </a:p>
        </p:txBody>
      </p:sp>
      <p:sp>
        <p:nvSpPr>
          <p:cNvPr id="41" name="Text 30"/>
          <p:cNvSpPr/>
          <p:nvPr/>
        </p:nvSpPr>
        <p:spPr>
          <a:xfrm>
            <a:off x="10774375" y="65196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5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E86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솔루션 구성 및 기술 전략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4개 AI 솔루션 — 데이터 수집부터 이상 감지까지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2651760" cy="2834640"/>
          </a:xfrm>
          <a:prstGeom prst="roundRect">
            <a:avLst>
              <a:gd name="adj" fmla="val 3448"/>
            </a:avLst>
          </a:prstGeom>
          <a:solidFill>
            <a:srgbClr val="13294B"/>
          </a:solidFill>
          <a:ln/>
          <a:effectLst>
            <a:outerShdw blurRad="88900" dist="25400" dir="5400000" algn="bl" rotWithShape="0">
              <a:srgbClr val="13294B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0080" y="18013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FCB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468880" y="18288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/tmp/pitch_deck/assets/icons/gauge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4610" y="1954530"/>
            <a:ext cx="251460" cy="2514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225856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 예측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0080" y="256946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FCB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Quality Prediction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40080" y="2898648"/>
            <a:ext cx="2377440" cy="0"/>
          </a:xfrm>
          <a:prstGeom prst="line">
            <a:avLst/>
          </a:prstGeom>
          <a:noFill/>
          <a:ln w="9525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640080" y="300837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XGBoost Regressor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40080" y="347472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D8E6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배치별 품질 수치 사전 예측 (점도·비중·pH)</a:t>
            </a:r>
            <a:endParaRPr lang="en-US" sz="1030" dirty="0"/>
          </a:p>
        </p:txBody>
      </p:sp>
      <p:sp>
        <p:nvSpPr>
          <p:cNvPr id="14" name="Shape 11"/>
          <p:cNvSpPr/>
          <p:nvPr/>
        </p:nvSpPr>
        <p:spPr>
          <a:xfrm>
            <a:off x="3319272" y="1691640"/>
            <a:ext cx="2651760" cy="2834640"/>
          </a:xfrm>
          <a:prstGeom prst="roundRect">
            <a:avLst>
              <a:gd name="adj" fmla="val 3448"/>
            </a:avLst>
          </a:prstGeom>
          <a:solidFill>
            <a:srgbClr val="173A66"/>
          </a:solidFill>
          <a:ln/>
          <a:effectLst>
            <a:outerShdw blurRad="88900" dist="25400" dir="5400000" algn="bl" rotWithShape="0">
              <a:srgbClr val="13294B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3456432" y="18013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FCB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5285232" y="18288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1" descr="/tmp/pitch_deck/assets/icons/checkCircle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0962" y="1954530"/>
            <a:ext cx="251460" cy="25146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456432" y="225856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불량 판정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3456432" y="256946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FCB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Defect Classification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3456432" y="2898648"/>
            <a:ext cx="2377440" cy="0"/>
          </a:xfrm>
          <a:prstGeom prst="line">
            <a:avLst/>
          </a:prstGeom>
          <a:noFill/>
          <a:ln w="9525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7"/>
          <p:cNvSpPr/>
          <p:nvPr/>
        </p:nvSpPr>
        <p:spPr>
          <a:xfrm>
            <a:off x="3456432" y="300837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XGBoost Classifier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3456432" y="347472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D8E6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배치 합격/불합격 자동 판정, Recall 우선 설계</a:t>
            </a:r>
            <a:endParaRPr lang="en-US" sz="1030" dirty="0"/>
          </a:p>
        </p:txBody>
      </p:sp>
      <p:sp>
        <p:nvSpPr>
          <p:cNvPr id="23" name="Shape 19"/>
          <p:cNvSpPr/>
          <p:nvPr/>
        </p:nvSpPr>
        <p:spPr>
          <a:xfrm>
            <a:off x="6135624" y="1691640"/>
            <a:ext cx="2651760" cy="2834640"/>
          </a:xfrm>
          <a:prstGeom prst="roundRect">
            <a:avLst>
              <a:gd name="adj" fmla="val 3448"/>
            </a:avLst>
          </a:prstGeom>
          <a:solidFill>
            <a:srgbClr val="1D4E8C"/>
          </a:solidFill>
          <a:ln/>
          <a:effectLst>
            <a:outerShdw blurRad="88900" dist="25400" dir="5400000" algn="bl" rotWithShape="0">
              <a:srgbClr val="13294B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0"/>
          <p:cNvSpPr/>
          <p:nvPr/>
        </p:nvSpPr>
        <p:spPr>
          <a:xfrm>
            <a:off x="6272784" y="18013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FCB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</a:t>
            </a:r>
            <a:endParaRPr lang="en-US" sz="2000" dirty="0"/>
          </a:p>
        </p:txBody>
      </p:sp>
      <p:sp>
        <p:nvSpPr>
          <p:cNvPr id="25" name="Shape 21"/>
          <p:cNvSpPr/>
          <p:nvPr/>
        </p:nvSpPr>
        <p:spPr>
          <a:xfrm>
            <a:off x="8101584" y="18288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2" descr="/tmp/pitch_deck/assets/icons/search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7314" y="1954530"/>
            <a:ext cx="251460" cy="25146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272784" y="225856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불량 원인 분석</a:t>
            </a:r>
            <a:endParaRPr lang="en-US" sz="1600" dirty="0"/>
          </a:p>
        </p:txBody>
      </p:sp>
      <p:sp>
        <p:nvSpPr>
          <p:cNvPr id="28" name="Text 23"/>
          <p:cNvSpPr/>
          <p:nvPr/>
        </p:nvSpPr>
        <p:spPr>
          <a:xfrm>
            <a:off x="6272784" y="256946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FCB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Root Cause Analysis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6272784" y="2898648"/>
            <a:ext cx="2377440" cy="0"/>
          </a:xfrm>
          <a:prstGeom prst="line">
            <a:avLst/>
          </a:prstGeom>
          <a:noFill/>
          <a:ln w="9525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5"/>
          <p:cNvSpPr/>
          <p:nvPr/>
        </p:nvSpPr>
        <p:spPr>
          <a:xfrm>
            <a:off x="6272784" y="300837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SHAP TreeExplainer</a:t>
            </a:r>
            <a:endParaRPr lang="en-US" sz="1250" dirty="0"/>
          </a:p>
        </p:txBody>
      </p:sp>
      <p:sp>
        <p:nvSpPr>
          <p:cNvPr id="31" name="Text 26"/>
          <p:cNvSpPr/>
          <p:nvPr/>
        </p:nvSpPr>
        <p:spPr>
          <a:xfrm>
            <a:off x="6272784" y="347472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D8E6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불량 원인 변수 자동 규명, 기여도 정량화·시각화</a:t>
            </a:r>
            <a:endParaRPr lang="en-US" sz="1030" dirty="0"/>
          </a:p>
        </p:txBody>
      </p:sp>
      <p:sp>
        <p:nvSpPr>
          <p:cNvPr id="32" name="Shape 27"/>
          <p:cNvSpPr/>
          <p:nvPr/>
        </p:nvSpPr>
        <p:spPr>
          <a:xfrm>
            <a:off x="8951976" y="1691640"/>
            <a:ext cx="2651760" cy="2834640"/>
          </a:xfrm>
          <a:prstGeom prst="roundRect">
            <a:avLst>
              <a:gd name="adj" fmla="val 3448"/>
            </a:avLst>
          </a:prstGeom>
          <a:solidFill>
            <a:srgbClr val="2E86DE"/>
          </a:solidFill>
          <a:ln/>
          <a:effectLst>
            <a:outerShdw blurRad="88900" dist="25400" dir="5400000" algn="bl" rotWithShape="0">
              <a:srgbClr val="13294B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Text 28"/>
          <p:cNvSpPr/>
          <p:nvPr/>
        </p:nvSpPr>
        <p:spPr>
          <a:xfrm>
            <a:off x="9089136" y="18013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FCB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</a:t>
            </a:r>
            <a:endParaRPr lang="en-US" sz="2000" dirty="0"/>
          </a:p>
        </p:txBody>
      </p:sp>
      <p:sp>
        <p:nvSpPr>
          <p:cNvPr id="34" name="Shape 29"/>
          <p:cNvSpPr/>
          <p:nvPr/>
        </p:nvSpPr>
        <p:spPr>
          <a:xfrm>
            <a:off x="10917936" y="18288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5" name="Image 3" descr="/tmp/pitch_deck/assets/icons/bell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43666" y="1954530"/>
            <a:ext cx="251460" cy="25146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9089136" y="225856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 이상 감지</a:t>
            </a:r>
            <a:endParaRPr lang="en-US" sz="1600" dirty="0"/>
          </a:p>
        </p:txBody>
      </p:sp>
      <p:sp>
        <p:nvSpPr>
          <p:cNvPr id="37" name="Text 31"/>
          <p:cNvSpPr/>
          <p:nvPr/>
        </p:nvSpPr>
        <p:spPr>
          <a:xfrm>
            <a:off x="9089136" y="256946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FCB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Predictive Maintenance</a:t>
            </a:r>
            <a:endParaRPr lang="en-US" sz="900" dirty="0"/>
          </a:p>
        </p:txBody>
      </p:sp>
      <p:sp>
        <p:nvSpPr>
          <p:cNvPr id="38" name="Shape 32"/>
          <p:cNvSpPr/>
          <p:nvPr/>
        </p:nvSpPr>
        <p:spPr>
          <a:xfrm>
            <a:off x="9089136" y="2898648"/>
            <a:ext cx="2377440" cy="0"/>
          </a:xfrm>
          <a:prstGeom prst="line">
            <a:avLst/>
          </a:prstGeom>
          <a:noFill/>
          <a:ln w="9525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3"/>
          <p:cNvSpPr/>
          <p:nvPr/>
        </p:nvSpPr>
        <p:spPr>
          <a:xfrm>
            <a:off x="9089136" y="300837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Isolation Forest → LSTM-AE</a:t>
            </a:r>
            <a:endParaRPr lang="en-US" sz="1250" dirty="0"/>
          </a:p>
        </p:txBody>
      </p:sp>
      <p:sp>
        <p:nvSpPr>
          <p:cNvPr id="40" name="Text 34"/>
          <p:cNvSpPr/>
          <p:nvPr/>
        </p:nvSpPr>
        <p:spPr>
          <a:xfrm>
            <a:off x="9089136" y="347472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D8E6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 패턴 이탈 감지, 비지도 학습(고장 라벨 불필요)</a:t>
            </a:r>
            <a:endParaRPr lang="en-US" sz="1030" dirty="0"/>
          </a:p>
        </p:txBody>
      </p:sp>
      <p:sp>
        <p:nvSpPr>
          <p:cNvPr id="41" name="Shape 35"/>
          <p:cNvSpPr/>
          <p:nvPr/>
        </p:nvSpPr>
        <p:spPr>
          <a:xfrm>
            <a:off x="502920" y="4709160"/>
            <a:ext cx="11192256" cy="640080"/>
          </a:xfrm>
          <a:prstGeom prst="roundRect">
            <a:avLst>
              <a:gd name="adj" fmla="val 14286"/>
            </a:avLst>
          </a:prstGeom>
          <a:solidFill>
            <a:srgbClr val="EAF2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6"/>
          <p:cNvSpPr/>
          <p:nvPr/>
        </p:nvSpPr>
        <p:spPr>
          <a:xfrm>
            <a:off x="731520" y="470916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입력 데이터   유상·수상·혼합 믹서(온도·RPM·전류·운전시간)  +  QC 품질 데이터(점도·비중·pH·향·성상)  +  배치번호(Batch ID)</a:t>
            </a:r>
            <a:endParaRPr lang="en-US" sz="1250" dirty="0"/>
          </a:p>
        </p:txBody>
      </p:sp>
      <p:sp>
        <p:nvSpPr>
          <p:cNvPr id="43" name="Shape 37"/>
          <p:cNvSpPr/>
          <p:nvPr/>
        </p:nvSpPr>
        <p:spPr>
          <a:xfrm>
            <a:off x="502920" y="5532120"/>
            <a:ext cx="457200" cy="457200"/>
          </a:xfrm>
          <a:prstGeom prst="ellipse">
            <a:avLst/>
          </a:prstGeom>
          <a:solidFill>
            <a:srgbClr val="13294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4" name="Image 4" descr="/tmp/pitch_deck/assets/icons/award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792" y="5650992"/>
            <a:ext cx="219456" cy="219456"/>
          </a:xfrm>
          <a:prstGeom prst="rect">
            <a:avLst/>
          </a:prstGeom>
        </p:spPr>
      </p:pic>
      <p:sp>
        <p:nvSpPr>
          <p:cNvPr id="45" name="Text 38"/>
          <p:cNvSpPr/>
          <p:nvPr/>
        </p:nvSpPr>
        <p:spPr>
          <a:xfrm>
            <a:off x="1069848" y="5504688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Recall ≥ 90%</a:t>
            </a:r>
            <a:endParaRPr lang="en-US" sz="1450" dirty="0"/>
          </a:p>
        </p:txBody>
      </p:sp>
      <p:sp>
        <p:nvSpPr>
          <p:cNvPr id="46" name="Text 39"/>
          <p:cNvSpPr/>
          <p:nvPr/>
        </p:nvSpPr>
        <p:spPr>
          <a:xfrm>
            <a:off x="1069848" y="5797296"/>
            <a:ext cx="2130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불량 판정</a:t>
            </a:r>
            <a:endParaRPr lang="en-US" sz="970" dirty="0"/>
          </a:p>
        </p:txBody>
      </p:sp>
      <p:sp>
        <p:nvSpPr>
          <p:cNvPr id="47" name="Shape 40"/>
          <p:cNvSpPr/>
          <p:nvPr/>
        </p:nvSpPr>
        <p:spPr>
          <a:xfrm>
            <a:off x="3364992" y="5532120"/>
            <a:ext cx="457200" cy="457200"/>
          </a:xfrm>
          <a:prstGeom prst="ellipse">
            <a:avLst/>
          </a:prstGeom>
          <a:solidFill>
            <a:srgbClr val="13294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8" name="Image 5" descr="/tmp/pitch_deck/assets/icons/award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3864" y="5650992"/>
            <a:ext cx="219456" cy="219456"/>
          </a:xfrm>
          <a:prstGeom prst="rect">
            <a:avLst/>
          </a:prstGeom>
        </p:spPr>
      </p:pic>
      <p:sp>
        <p:nvSpPr>
          <p:cNvPr id="49" name="Text 41"/>
          <p:cNvSpPr/>
          <p:nvPr/>
        </p:nvSpPr>
        <p:spPr>
          <a:xfrm>
            <a:off x="3931920" y="5504688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MAPE ≤ 5%</a:t>
            </a:r>
            <a:endParaRPr lang="en-US" sz="1450" dirty="0"/>
          </a:p>
        </p:txBody>
      </p:sp>
      <p:sp>
        <p:nvSpPr>
          <p:cNvPr id="50" name="Text 42"/>
          <p:cNvSpPr/>
          <p:nvPr/>
        </p:nvSpPr>
        <p:spPr>
          <a:xfrm>
            <a:off x="3931920" y="5797296"/>
            <a:ext cx="2130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 예측</a:t>
            </a:r>
            <a:endParaRPr lang="en-US" sz="970" dirty="0"/>
          </a:p>
        </p:txBody>
      </p:sp>
      <p:sp>
        <p:nvSpPr>
          <p:cNvPr id="51" name="Shape 43"/>
          <p:cNvSpPr/>
          <p:nvPr/>
        </p:nvSpPr>
        <p:spPr>
          <a:xfrm>
            <a:off x="6227064" y="5532120"/>
            <a:ext cx="457200" cy="457200"/>
          </a:xfrm>
          <a:prstGeom prst="ellipse">
            <a:avLst/>
          </a:prstGeom>
          <a:solidFill>
            <a:srgbClr val="13294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2" name="Image 6" descr="/tmp/pitch_deck/assets/icons/award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5936" y="5650992"/>
            <a:ext cx="219456" cy="219456"/>
          </a:xfrm>
          <a:prstGeom prst="rect">
            <a:avLst/>
          </a:prstGeom>
        </p:spPr>
      </p:pic>
      <p:sp>
        <p:nvSpPr>
          <p:cNvPr id="53" name="Text 44"/>
          <p:cNvSpPr/>
          <p:nvPr/>
        </p:nvSpPr>
        <p:spPr>
          <a:xfrm>
            <a:off x="6793992" y="5504688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90% 단축</a:t>
            </a:r>
            <a:endParaRPr lang="en-US" sz="1450" dirty="0"/>
          </a:p>
        </p:txBody>
      </p:sp>
      <p:sp>
        <p:nvSpPr>
          <p:cNvPr id="54" name="Text 45"/>
          <p:cNvSpPr/>
          <p:nvPr/>
        </p:nvSpPr>
        <p:spPr>
          <a:xfrm>
            <a:off x="6793992" y="5797296"/>
            <a:ext cx="2130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원인분석 시간</a:t>
            </a:r>
            <a:endParaRPr lang="en-US" sz="970" dirty="0"/>
          </a:p>
        </p:txBody>
      </p:sp>
      <p:sp>
        <p:nvSpPr>
          <p:cNvPr id="55" name="Shape 46"/>
          <p:cNvSpPr/>
          <p:nvPr/>
        </p:nvSpPr>
        <p:spPr>
          <a:xfrm>
            <a:off x="9089136" y="5532120"/>
            <a:ext cx="457200" cy="457200"/>
          </a:xfrm>
          <a:prstGeom prst="ellipse">
            <a:avLst/>
          </a:prstGeom>
          <a:solidFill>
            <a:srgbClr val="13294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6" name="Image 7" descr="/tmp/pitch_deck/assets/icons/award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08008" y="5650992"/>
            <a:ext cx="219456" cy="219456"/>
          </a:xfrm>
          <a:prstGeom prst="rect">
            <a:avLst/>
          </a:prstGeom>
        </p:spPr>
      </p:pic>
      <p:sp>
        <p:nvSpPr>
          <p:cNvPr id="57" name="Text 47"/>
          <p:cNvSpPr/>
          <p:nvPr/>
        </p:nvSpPr>
        <p:spPr>
          <a:xfrm>
            <a:off x="9656064" y="5504688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50%↓ 감소</a:t>
            </a:r>
            <a:endParaRPr lang="en-US" sz="1450" dirty="0"/>
          </a:p>
        </p:txBody>
      </p:sp>
      <p:sp>
        <p:nvSpPr>
          <p:cNvPr id="58" name="Text 48"/>
          <p:cNvSpPr/>
          <p:nvPr/>
        </p:nvSpPr>
        <p:spPr>
          <a:xfrm>
            <a:off x="9656064" y="5797296"/>
            <a:ext cx="2130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돌발 정지</a:t>
            </a:r>
            <a:endParaRPr lang="en-US" sz="970" dirty="0"/>
          </a:p>
        </p:txBody>
      </p:sp>
      <p:sp>
        <p:nvSpPr>
          <p:cNvPr id="59" name="Text 49"/>
          <p:cNvSpPr/>
          <p:nvPr/>
        </p:nvSpPr>
        <p:spPr>
          <a:xfrm>
            <a:off x="50292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5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(주)그립 × (주)세화피앤씨</a:t>
            </a:r>
            <a:endParaRPr lang="en-US" sz="900" dirty="0"/>
          </a:p>
        </p:txBody>
      </p:sp>
      <p:sp>
        <p:nvSpPr>
          <p:cNvPr id="60" name="Text 50"/>
          <p:cNvSpPr/>
          <p:nvPr/>
        </p:nvSpPr>
        <p:spPr>
          <a:xfrm>
            <a:off x="10774375" y="65196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5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E86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70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수집 및 </a:t>
            </a:r>
            <a:r>
              <a:rPr lang="en-US" sz="270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</a:t>
            </a:r>
            <a:r>
              <a:rPr lang="ko-KR" altLang="en-US" sz="270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절차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생산 설비로부터 데이터를 수집 </a:t>
            </a:r>
            <a:r>
              <a:rPr lang="en-US" altLang="ko-KR" sz="1300" dirty="0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– Manu </a:t>
            </a:r>
            <a:r>
              <a:rPr lang="en-US" altLang="ko-KR" sz="1300" dirty="0" err="1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MLOps</a:t>
            </a:r>
            <a:r>
              <a:rPr lang="ko-KR" altLang="en-US" sz="1300" dirty="0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</a:t>
            </a:r>
            <a:r>
              <a:rPr lang="en-US" altLang="ko-KR" sz="1300" dirty="0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</a:t>
            </a:r>
            <a:r>
              <a:rPr lang="ko-KR" altLang="en-US" sz="1300" dirty="0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학습 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50292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5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(주)그립 × (주)세화피앤씨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0774375" y="65196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5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00" dirty="0"/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5AB63858-D8F4-025E-6A0B-488A7AFB97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7515" y="1637087"/>
            <a:ext cx="8784077" cy="474511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F9575C-218F-7506-6DE1-33D7EB8DB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1F835DB-8DAA-1720-B7C3-6F4DDC211495}"/>
              </a:ext>
            </a:extLst>
          </p:cNvPr>
          <p:cNvSpPr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E86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APPROACH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B6A317C-90E2-5EB8-B081-DC6DD61BA9F7}"/>
              </a:ext>
            </a:extLst>
          </p:cNvPr>
          <p:cNvSpPr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기술 적용 전략 — 왜 이 방식인가</a:t>
            </a:r>
            <a:endParaRPr lang="en-US" sz="27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8949DF3-AC52-8438-2033-AE7C64CCF119}"/>
              </a:ext>
            </a:extLst>
          </p:cNvPr>
          <p:cNvSpPr/>
          <p:nvPr/>
        </p:nvSpPr>
        <p:spPr>
          <a:xfrm>
            <a:off x="502920" y="120700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현장에서 이해할 수 있는 눈높이로 설명 — 상세 수식은 부록 참조</a:t>
            </a:r>
            <a:endParaRPr lang="en-US" sz="13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890A238-35A4-C04A-1460-B1C273AD0851}"/>
              </a:ext>
            </a:extLst>
          </p:cNvPr>
          <p:cNvSpPr/>
          <p:nvPr/>
        </p:nvSpPr>
        <p:spPr>
          <a:xfrm>
            <a:off x="502920" y="1783080"/>
            <a:ext cx="11192256" cy="1280160"/>
          </a:xfrm>
          <a:prstGeom prst="roundRect">
            <a:avLst>
              <a:gd name="adj" fmla="val 7143"/>
            </a:avLst>
          </a:prstGeom>
          <a:solidFill>
            <a:srgbClr val="EAF2FC"/>
          </a:solidFill>
          <a:ln/>
          <a:effectLst>
            <a:outerShdw blurRad="88900" dist="25400" dir="5400000" algn="bl" rotWithShape="0">
              <a:srgbClr val="13294B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50FA9D47-E58F-0797-A43E-77E830C9CC80}"/>
              </a:ext>
            </a:extLst>
          </p:cNvPr>
          <p:cNvSpPr/>
          <p:nvPr/>
        </p:nvSpPr>
        <p:spPr>
          <a:xfrm>
            <a:off x="777240" y="2139696"/>
            <a:ext cx="566928" cy="566928"/>
          </a:xfrm>
          <a:prstGeom prst="ellipse">
            <a:avLst/>
          </a:prstGeom>
          <a:solidFill>
            <a:srgbClr val="13294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/tmp/pitch_deck/assets/icons/cogs_white.png">
            <a:extLst>
              <a:ext uri="{FF2B5EF4-FFF2-40B4-BE49-F238E27FC236}">
                <a16:creationId xmlns:a16="http://schemas.microsoft.com/office/drawing/2014/main" id="{4C4509E4-935B-CB7F-520E-9CE10EE355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303" y="2275759"/>
            <a:ext cx="294803" cy="294803"/>
          </a:xfrm>
          <a:prstGeom prst="rect">
            <a:avLst/>
          </a:prstGeom>
        </p:spPr>
      </p:pic>
      <p:sp>
        <p:nvSpPr>
          <p:cNvPr id="8" name="Text 5">
            <a:extLst>
              <a:ext uri="{FF2B5EF4-FFF2-40B4-BE49-F238E27FC236}">
                <a16:creationId xmlns:a16="http://schemas.microsoft.com/office/drawing/2014/main" id="{3AE46ECC-FC92-9F2B-72B4-5FA5DBBA8B79}"/>
              </a:ext>
            </a:extLst>
          </p:cNvPr>
          <p:cNvSpPr/>
          <p:nvPr/>
        </p:nvSpPr>
        <p:spPr>
          <a:xfrm>
            <a:off x="1554480" y="1965960"/>
            <a:ext cx="9692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XGBoost인가</a:t>
            </a:r>
            <a:endParaRPr lang="en-US" sz="16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1F944CD2-691B-45DD-819E-36CA2C26BDC3}"/>
              </a:ext>
            </a:extLst>
          </p:cNvPr>
          <p:cNvSpPr/>
          <p:nvPr/>
        </p:nvSpPr>
        <p:spPr>
          <a:xfrm>
            <a:off x="1554480" y="2331720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22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적은 배치 데이터(수백~수천 건)에도 강하고, 온도×RPM 같은 변수 간 복합적 상호작용을 스스로 학습합니다. 센서 결측값도 자체적으로 처리합니다.</a:t>
            </a:r>
            <a:endParaRPr lang="en-US" sz="120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43402573-C2DF-E6DC-147F-4D3C9B362645}"/>
              </a:ext>
            </a:extLst>
          </p:cNvPr>
          <p:cNvSpPr/>
          <p:nvPr/>
        </p:nvSpPr>
        <p:spPr>
          <a:xfrm>
            <a:off x="502920" y="3227832"/>
            <a:ext cx="11192256" cy="1280160"/>
          </a:xfrm>
          <a:prstGeom prst="roundRect">
            <a:avLst>
              <a:gd name="adj" fmla="val 7143"/>
            </a:avLst>
          </a:prstGeom>
          <a:solidFill>
            <a:srgbClr val="EAF2FC"/>
          </a:solidFill>
          <a:ln/>
          <a:effectLst>
            <a:outerShdw blurRad="88900" dist="25400" dir="5400000" algn="bl" rotWithShape="0">
              <a:srgbClr val="13294B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8398C77A-6711-1419-2106-665A6ECEA9FD}"/>
              </a:ext>
            </a:extLst>
          </p:cNvPr>
          <p:cNvSpPr/>
          <p:nvPr/>
        </p:nvSpPr>
        <p:spPr>
          <a:xfrm>
            <a:off x="777240" y="3584448"/>
            <a:ext cx="566928" cy="566928"/>
          </a:xfrm>
          <a:prstGeom prst="ellipse">
            <a:avLst/>
          </a:prstGeom>
          <a:solidFill>
            <a:srgbClr val="13294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/tmp/pitch_deck/assets/icons/eye_white.png">
            <a:extLst>
              <a:ext uri="{FF2B5EF4-FFF2-40B4-BE49-F238E27FC236}">
                <a16:creationId xmlns:a16="http://schemas.microsoft.com/office/drawing/2014/main" id="{2645D9B4-C3DB-3399-E972-2886E1B054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303" y="3720511"/>
            <a:ext cx="294803" cy="294803"/>
          </a:xfrm>
          <a:prstGeom prst="rect">
            <a:avLst/>
          </a:prstGeom>
        </p:spPr>
      </p:pic>
      <p:sp>
        <p:nvSpPr>
          <p:cNvPr id="13" name="Text 9">
            <a:extLst>
              <a:ext uri="{FF2B5EF4-FFF2-40B4-BE49-F238E27FC236}">
                <a16:creationId xmlns:a16="http://schemas.microsoft.com/office/drawing/2014/main" id="{FDC189A9-3735-14E3-A779-03E8A819E9C0}"/>
              </a:ext>
            </a:extLst>
          </p:cNvPr>
          <p:cNvSpPr/>
          <p:nvPr/>
        </p:nvSpPr>
        <p:spPr>
          <a:xfrm>
            <a:off x="1554480" y="3410712"/>
            <a:ext cx="9692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SHAP로 설명하는가</a:t>
            </a:r>
            <a:endParaRPr lang="en-US" sz="1600" dirty="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FC42EE9C-6FEB-E05C-06E5-EC8C2F673384}"/>
              </a:ext>
            </a:extLst>
          </p:cNvPr>
          <p:cNvSpPr/>
          <p:nvPr/>
        </p:nvSpPr>
        <p:spPr>
          <a:xfrm>
            <a:off x="1554480" y="3776472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22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블랙박스 예측 결과를 현장 언어로 설명합니다. 예) “혼합온도 74℃ 초과 시 불량 확률 급증”처럼 원인 변수와 기준값을 자동으로 제시합니다.</a:t>
            </a:r>
            <a:endParaRPr lang="en-US" sz="1200" dirty="0"/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0EA6BE17-7168-7DF1-8CA8-2AE52BE5A1D1}"/>
              </a:ext>
            </a:extLst>
          </p:cNvPr>
          <p:cNvSpPr/>
          <p:nvPr/>
        </p:nvSpPr>
        <p:spPr>
          <a:xfrm>
            <a:off x="502920" y="4672584"/>
            <a:ext cx="11192256" cy="1280160"/>
          </a:xfrm>
          <a:prstGeom prst="roundRect">
            <a:avLst>
              <a:gd name="adj" fmla="val 7143"/>
            </a:avLst>
          </a:prstGeom>
          <a:solidFill>
            <a:srgbClr val="EAF2FC"/>
          </a:solidFill>
          <a:ln/>
          <a:effectLst>
            <a:outerShdw blurRad="88900" dist="25400" dir="5400000" algn="bl" rotWithShape="0">
              <a:srgbClr val="13294B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F0F64069-D4F4-965A-7258-2567DF1E7B70}"/>
              </a:ext>
            </a:extLst>
          </p:cNvPr>
          <p:cNvSpPr/>
          <p:nvPr/>
        </p:nvSpPr>
        <p:spPr>
          <a:xfrm>
            <a:off x="777240" y="5029200"/>
            <a:ext cx="566928" cy="566928"/>
          </a:xfrm>
          <a:prstGeom prst="ellipse">
            <a:avLst/>
          </a:prstGeom>
          <a:solidFill>
            <a:srgbClr val="13294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2" descr="/tmp/pitch_deck/assets/icons/robot_white.png">
            <a:extLst>
              <a:ext uri="{FF2B5EF4-FFF2-40B4-BE49-F238E27FC236}">
                <a16:creationId xmlns:a16="http://schemas.microsoft.com/office/drawing/2014/main" id="{51BC621C-6CC6-8A1D-5118-CAFAA82CD8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3303" y="5165263"/>
            <a:ext cx="294803" cy="294803"/>
          </a:xfrm>
          <a:prstGeom prst="rect">
            <a:avLst/>
          </a:prstGeom>
        </p:spPr>
      </p:pic>
      <p:sp>
        <p:nvSpPr>
          <p:cNvPr id="18" name="Text 13">
            <a:extLst>
              <a:ext uri="{FF2B5EF4-FFF2-40B4-BE49-F238E27FC236}">
                <a16:creationId xmlns:a16="http://schemas.microsoft.com/office/drawing/2014/main" id="{F5860ECB-48D6-3AB3-77CF-ADA90C2C1542}"/>
              </a:ext>
            </a:extLst>
          </p:cNvPr>
          <p:cNvSpPr/>
          <p:nvPr/>
        </p:nvSpPr>
        <p:spPr>
          <a:xfrm>
            <a:off x="1554480" y="4855464"/>
            <a:ext cx="9692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비지도 학습(이상 감지)인가</a:t>
            </a:r>
            <a:endParaRPr lang="en-US" sz="1600" dirty="0"/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2E41164D-4D5E-316D-7700-14D2BDC8B513}"/>
              </a:ext>
            </a:extLst>
          </p:cNvPr>
          <p:cNvSpPr/>
          <p:nvPr/>
        </p:nvSpPr>
        <p:spPr>
          <a:xfrm>
            <a:off x="1554480" y="5221224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22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고장 이력 데이터가 적은 화장품 제조 현장 특성상, 정상 데이터만으로 학습해 이상 징후를 조기에 감지합니다. (1단계 Isolation Forest 3~6개월 → 2단계 LSTM-AE 고도화 7개월~)</a:t>
            </a:r>
            <a:endParaRPr lang="en-US" sz="1200" dirty="0"/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6B083B5E-2952-8832-E8F0-684540FEEAD1}"/>
              </a:ext>
            </a:extLst>
          </p:cNvPr>
          <p:cNvSpPr/>
          <p:nvPr/>
        </p:nvSpPr>
        <p:spPr>
          <a:xfrm>
            <a:off x="502920" y="6190488"/>
            <a:ext cx="11192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A95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알고리즘 비교표·평가지표 산출 공식 등 세부 기술 내용은 부록(Q&amp;A 백업자료)에서 별도로 확인하실 수 있습니다.</a:t>
            </a:r>
            <a:endParaRPr lang="en-US" sz="1050" dirty="0"/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4EBD9B0B-0CB9-5055-6D54-CA781BDBB1E5}"/>
              </a:ext>
            </a:extLst>
          </p:cNvPr>
          <p:cNvSpPr/>
          <p:nvPr/>
        </p:nvSpPr>
        <p:spPr>
          <a:xfrm>
            <a:off x="50292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5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(주)그립 × (주)세화피앤씨</a:t>
            </a:r>
            <a:endParaRPr lang="en-US" sz="900" dirty="0"/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9C0D8092-2D97-4386-A015-FD16EDBA57C7}"/>
              </a:ext>
            </a:extLst>
          </p:cNvPr>
          <p:cNvSpPr/>
          <p:nvPr/>
        </p:nvSpPr>
        <p:spPr>
          <a:xfrm>
            <a:off x="10774375" y="65196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5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7195667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E86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4계층 시스템 아키텍처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수집 → 처리 → AI 분석 → 서비스, End-to-End 파이프라인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11192256" cy="795528"/>
          </a:xfrm>
          <a:prstGeom prst="roundRect">
            <a:avLst>
              <a:gd name="adj" fmla="val 9195"/>
            </a:avLst>
          </a:prstGeom>
          <a:solidFill>
            <a:srgbClr val="0B193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04088" y="1833372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/tmp/pitch_deck/assets/icons/desktop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1961388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783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FC1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Layer 4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371600" y="202082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서비스층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017520" y="1783080"/>
            <a:ext cx="85039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E4ED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모니터링 대시보드 · 배치 품질예측 결과 표시 · 불량 원인분석 리포트 · 설비 이상 경보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502920" y="2578608"/>
            <a:ext cx="11192256" cy="795528"/>
          </a:xfrm>
          <a:prstGeom prst="roundRect">
            <a:avLst>
              <a:gd name="adj" fmla="val 9195"/>
            </a:avLst>
          </a:prstGeom>
          <a:solidFill>
            <a:srgbClr val="1329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704088" y="2720340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1" descr="/tmp/pitch_deck/assets/icons/robot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" y="2848356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71600" y="26700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FC1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Layer 3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1371600" y="290779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분석층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3017520" y="2670048"/>
            <a:ext cx="85039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E4ED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XGBoost Regressor(품질예측) · ② XGBoost Classifier(불량판정) · ③ SHAP(원인분석) · ④ Isolation Forest/LSTM-AE(이상감지)</a:t>
            </a:r>
            <a:endParaRPr lang="en-US" sz="1080" dirty="0"/>
          </a:p>
        </p:txBody>
      </p:sp>
      <p:sp>
        <p:nvSpPr>
          <p:cNvPr id="17" name="Shape 13"/>
          <p:cNvSpPr/>
          <p:nvPr/>
        </p:nvSpPr>
        <p:spPr>
          <a:xfrm>
            <a:off x="502920" y="3465576"/>
            <a:ext cx="11192256" cy="795528"/>
          </a:xfrm>
          <a:prstGeom prst="roundRect">
            <a:avLst>
              <a:gd name="adj" fmla="val 9195"/>
            </a:avLst>
          </a:prstGeom>
          <a:solidFill>
            <a:srgbClr val="1D4E8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704088" y="3607308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2" descr="/tmp/pitch_deck/assets/icons/cogs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" y="3735324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371600" y="35570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FC1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Layer 2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1371600" y="3794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처리층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3017520" y="3557016"/>
            <a:ext cx="85039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E4ED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배치 단위 피처 엔지니어링 · 이상치·결측값 처리 · 정규화 · 공정-품질 데이터 통합 매칭(배치번호 기준)</a:t>
            </a:r>
            <a:endParaRPr lang="en-US" sz="1080" dirty="0"/>
          </a:p>
        </p:txBody>
      </p:sp>
      <p:sp>
        <p:nvSpPr>
          <p:cNvPr id="23" name="Shape 18"/>
          <p:cNvSpPr/>
          <p:nvPr/>
        </p:nvSpPr>
        <p:spPr>
          <a:xfrm>
            <a:off x="502920" y="4352544"/>
            <a:ext cx="11192256" cy="795528"/>
          </a:xfrm>
          <a:prstGeom prst="roundRect">
            <a:avLst>
              <a:gd name="adj" fmla="val 9195"/>
            </a:avLst>
          </a:prstGeom>
          <a:solidFill>
            <a:srgbClr val="2E86D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19"/>
          <p:cNvSpPr/>
          <p:nvPr/>
        </p:nvSpPr>
        <p:spPr>
          <a:xfrm>
            <a:off x="704088" y="4494276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5" name="Image 3" descr="/tmp/pitch_deck/assets/icons/server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" y="4622292"/>
            <a:ext cx="256032" cy="25603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371600" y="444398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FC1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Layer 1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1371600" y="468172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수집층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3017520" y="4443984"/>
            <a:ext cx="85039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E4ED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유상·수상·혼합 믹서 자동수집(온도·RPM·전류·운전시간) · RS-485→IoT게이트웨이→서버 · InfluxDB+PostgreSQL</a:t>
            </a:r>
            <a:endParaRPr lang="en-US" sz="1080" dirty="0"/>
          </a:p>
        </p:txBody>
      </p:sp>
      <p:sp>
        <p:nvSpPr>
          <p:cNvPr id="29" name="Shape 23"/>
          <p:cNvSpPr/>
          <p:nvPr/>
        </p:nvSpPr>
        <p:spPr>
          <a:xfrm>
            <a:off x="502920" y="5294376"/>
            <a:ext cx="11192256" cy="658368"/>
          </a:xfrm>
          <a:prstGeom prst="roundRect">
            <a:avLst>
              <a:gd name="adj" fmla="val 13889"/>
            </a:avLst>
          </a:prstGeom>
          <a:solidFill>
            <a:srgbClr val="EAF2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4"/>
          <p:cNvSpPr/>
          <p:nvPr/>
        </p:nvSpPr>
        <p:spPr>
          <a:xfrm>
            <a:off x="704088" y="5394960"/>
            <a:ext cx="457200" cy="457200"/>
          </a:xfrm>
          <a:prstGeom prst="ellipse">
            <a:avLst/>
          </a:prstGeom>
          <a:solidFill>
            <a:srgbClr val="2E86D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1" name="Image 4" descr="/tmp/pitch_deck/assets/icons/idBadg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8388" y="5509260"/>
            <a:ext cx="228600" cy="22860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325880" y="5294376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배치번호(Batch ID) = 공정 DB ↔ QC DB를 연결하는 유일한 공통 키  →  AI 학습 데이터 1:1 매핑 자동 달성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50292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5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(주)그립 × (주)세화피앤씨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10774375" y="65196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5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E86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정량적 목표 및 핵심 성과지표 (KPI)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3대 핵심 지표 — 제형 7종(유화4·샴푸2·액상1) 기준 측정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3611880" cy="3383280"/>
          </a:xfrm>
          <a:prstGeom prst="roundRect">
            <a:avLst>
              <a:gd name="adj" fmla="val 2703"/>
            </a:avLst>
          </a:prstGeom>
          <a:solidFill>
            <a:srgbClr val="13294B"/>
          </a:solidFill>
          <a:ln/>
          <a:effectLst>
            <a:outerShdw blurRad="88900" dist="25400" dir="5400000" algn="bl" rotWithShape="0">
              <a:srgbClr val="13294B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77240" y="2011680"/>
            <a:ext cx="566928" cy="566928"/>
          </a:xfrm>
          <a:prstGeom prst="ellipse">
            <a:avLst/>
          </a:prstGeom>
          <a:solidFill>
            <a:srgbClr val="2E86D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/tmp/pitch_deck/assets/icons/serve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303" y="2147743"/>
            <a:ext cx="294803" cy="29480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697480" y="2103120"/>
            <a:ext cx="114300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2697480" y="210312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FD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가중치 40%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77240" y="278892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6대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777240" y="361188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FE0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수집 인프라 구축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777240" y="4069080"/>
            <a:ext cx="3063240" cy="0"/>
          </a:xfrm>
          <a:prstGeom prst="line">
            <a:avLst/>
          </a:prstGeom>
          <a:noFill/>
          <a:ln w="9525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777240" y="418795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AFC6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측정: RS-485 제어판넬 + IoT 게이트웨이 각 6대 설치·정상연동 확인</a:t>
            </a:r>
            <a:endParaRPr lang="en-US" sz="1030" dirty="0"/>
          </a:p>
        </p:txBody>
      </p:sp>
      <p:sp>
        <p:nvSpPr>
          <p:cNvPr id="14" name="Shape 11"/>
          <p:cNvSpPr/>
          <p:nvPr/>
        </p:nvSpPr>
        <p:spPr>
          <a:xfrm>
            <a:off x="4297680" y="1737360"/>
            <a:ext cx="3611880" cy="3383280"/>
          </a:xfrm>
          <a:prstGeom prst="roundRect">
            <a:avLst>
              <a:gd name="adj" fmla="val 2703"/>
            </a:avLst>
          </a:prstGeom>
          <a:solidFill>
            <a:srgbClr val="13294B"/>
          </a:solidFill>
          <a:ln/>
          <a:effectLst>
            <a:outerShdw blurRad="88900" dist="25400" dir="5400000" algn="bl" rotWithShape="0">
              <a:srgbClr val="13294B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4572000" y="2011680"/>
            <a:ext cx="566928" cy="566928"/>
          </a:xfrm>
          <a:prstGeom prst="ellipse">
            <a:avLst/>
          </a:prstGeom>
          <a:solidFill>
            <a:srgbClr val="2E86D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1" descr="/tmp/pitch_deck/assets/icons/checkCircl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8063" y="2147743"/>
            <a:ext cx="294803" cy="294803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6492240" y="2103120"/>
            <a:ext cx="114300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4"/>
          <p:cNvSpPr/>
          <p:nvPr/>
        </p:nvSpPr>
        <p:spPr>
          <a:xfrm>
            <a:off x="6492240" y="210312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FD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가중치 30%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4572000" y="278892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≥ 90%</a:t>
            </a:r>
            <a:endParaRPr lang="en-US" sz="4000" dirty="0"/>
          </a:p>
        </p:txBody>
      </p:sp>
      <p:sp>
        <p:nvSpPr>
          <p:cNvPr id="20" name="Text 16"/>
          <p:cNvSpPr/>
          <p:nvPr/>
        </p:nvSpPr>
        <p:spPr>
          <a:xfrm>
            <a:off x="4572000" y="361188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FE0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불량 판정 재현율 (Recall)</a:t>
            </a:r>
            <a:endParaRPr lang="en-US" sz="1450" dirty="0"/>
          </a:p>
        </p:txBody>
      </p:sp>
      <p:sp>
        <p:nvSpPr>
          <p:cNvPr id="21" name="Shape 17"/>
          <p:cNvSpPr/>
          <p:nvPr/>
        </p:nvSpPr>
        <p:spPr>
          <a:xfrm>
            <a:off x="4572000" y="4069080"/>
            <a:ext cx="3063240" cy="0"/>
          </a:xfrm>
          <a:prstGeom prst="line">
            <a:avLst/>
          </a:prstGeom>
          <a:noFill/>
          <a:ln w="9525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8"/>
          <p:cNvSpPr/>
          <p:nvPr/>
        </p:nvSpPr>
        <p:spPr>
          <a:xfrm>
            <a:off x="4572000" y="418795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AFC6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측정: 시간기반 분할 테스트셋으로 혼동행렬(Recall·Precision) 산출</a:t>
            </a:r>
            <a:endParaRPr lang="en-US" sz="1030" dirty="0"/>
          </a:p>
        </p:txBody>
      </p:sp>
      <p:sp>
        <p:nvSpPr>
          <p:cNvPr id="23" name="Shape 19"/>
          <p:cNvSpPr/>
          <p:nvPr/>
        </p:nvSpPr>
        <p:spPr>
          <a:xfrm>
            <a:off x="8092440" y="1737360"/>
            <a:ext cx="3611880" cy="3383280"/>
          </a:xfrm>
          <a:prstGeom prst="roundRect">
            <a:avLst>
              <a:gd name="adj" fmla="val 2703"/>
            </a:avLst>
          </a:prstGeom>
          <a:solidFill>
            <a:srgbClr val="13294B"/>
          </a:solidFill>
          <a:ln/>
          <a:effectLst>
            <a:outerShdw blurRad="88900" dist="25400" dir="5400000" algn="bl" rotWithShape="0">
              <a:srgbClr val="13294B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0"/>
          <p:cNvSpPr/>
          <p:nvPr/>
        </p:nvSpPr>
        <p:spPr>
          <a:xfrm>
            <a:off x="8366760" y="2011680"/>
            <a:ext cx="566928" cy="566928"/>
          </a:xfrm>
          <a:prstGeom prst="ellipse">
            <a:avLst/>
          </a:prstGeom>
          <a:solidFill>
            <a:srgbClr val="2E86D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5" name="Image 2" descr="/tmp/pitch_deck/assets/icons/gaug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2823" y="2147743"/>
            <a:ext cx="294803" cy="294803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10287000" y="2103120"/>
            <a:ext cx="114300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2"/>
          <p:cNvSpPr/>
          <p:nvPr/>
        </p:nvSpPr>
        <p:spPr>
          <a:xfrm>
            <a:off x="10287000" y="210312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FD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가중치 30%</a:t>
            </a:r>
            <a:endParaRPr lang="en-US" sz="950" dirty="0"/>
          </a:p>
        </p:txBody>
      </p:sp>
      <p:sp>
        <p:nvSpPr>
          <p:cNvPr id="28" name="Text 23"/>
          <p:cNvSpPr/>
          <p:nvPr/>
        </p:nvSpPr>
        <p:spPr>
          <a:xfrm>
            <a:off x="8366760" y="278892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≤ 5%</a:t>
            </a:r>
            <a:endParaRPr lang="en-US" sz="4000" dirty="0"/>
          </a:p>
        </p:txBody>
      </p:sp>
      <p:sp>
        <p:nvSpPr>
          <p:cNvPr id="29" name="Text 24"/>
          <p:cNvSpPr/>
          <p:nvPr/>
        </p:nvSpPr>
        <p:spPr>
          <a:xfrm>
            <a:off x="8366760" y="361188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FE0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 예측 오차 (MAPE)</a:t>
            </a:r>
            <a:endParaRPr lang="en-US" sz="1450" dirty="0"/>
          </a:p>
        </p:txBody>
      </p:sp>
      <p:sp>
        <p:nvSpPr>
          <p:cNvPr id="30" name="Shape 25"/>
          <p:cNvSpPr/>
          <p:nvPr/>
        </p:nvSpPr>
        <p:spPr>
          <a:xfrm>
            <a:off x="8366760" y="4069080"/>
            <a:ext cx="3063240" cy="0"/>
          </a:xfrm>
          <a:prstGeom prst="line">
            <a:avLst/>
          </a:prstGeom>
          <a:noFill/>
          <a:ln w="9525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6"/>
          <p:cNvSpPr/>
          <p:nvPr/>
        </p:nvSpPr>
        <p:spPr>
          <a:xfrm>
            <a:off x="8366760" y="418795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AFC6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측정: 시간기반 테스트셋 기준 산출 (주요 측정 항목: 점도 cP)</a:t>
            </a:r>
            <a:endParaRPr lang="en-US" sz="1030" dirty="0"/>
          </a:p>
        </p:txBody>
      </p:sp>
      <p:sp>
        <p:nvSpPr>
          <p:cNvPr id="32" name="Shape 27"/>
          <p:cNvSpPr/>
          <p:nvPr/>
        </p:nvSpPr>
        <p:spPr>
          <a:xfrm>
            <a:off x="502920" y="5321808"/>
            <a:ext cx="11192256" cy="502920"/>
          </a:xfrm>
          <a:prstGeom prst="roundRect">
            <a:avLst>
              <a:gd name="adj" fmla="val 18182"/>
            </a:avLst>
          </a:prstGeom>
          <a:solidFill>
            <a:srgbClr val="EAF2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28"/>
          <p:cNvSpPr/>
          <p:nvPr/>
        </p:nvSpPr>
        <p:spPr>
          <a:xfrm>
            <a:off x="731520" y="532180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KPI는 TTA(한국정보통신기술협회) 검증을 통해 객관적으로 확인 · 제형 7종 각각 측정 후 결과 제출</a:t>
            </a:r>
            <a:endParaRPr lang="en-US" sz="1150" dirty="0"/>
          </a:p>
        </p:txBody>
      </p:sp>
      <p:sp>
        <p:nvSpPr>
          <p:cNvPr id="34" name="Text 29"/>
          <p:cNvSpPr/>
          <p:nvPr/>
        </p:nvSpPr>
        <p:spPr>
          <a:xfrm>
            <a:off x="50292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5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(주)그립 × (주)세화피앤씨</a:t>
            </a:r>
            <a:endParaRPr lang="en-US" sz="900" dirty="0"/>
          </a:p>
        </p:txBody>
      </p:sp>
      <p:sp>
        <p:nvSpPr>
          <p:cNvPr id="35" name="Text 30"/>
          <p:cNvSpPr/>
          <p:nvPr/>
        </p:nvSpPr>
        <p:spPr>
          <a:xfrm>
            <a:off x="10774375" y="65196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5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E86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STRUCTURE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 추진 체계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운영기관 · 수요기업 · 공급기업 역할 및 상호 연관 체계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113267" y="1682496"/>
            <a:ext cx="5371106" cy="713232"/>
          </a:xfrm>
          <a:prstGeom prst="roundRect">
            <a:avLst>
              <a:gd name="adj" fmla="val 12821"/>
            </a:avLst>
          </a:prstGeom>
          <a:solidFill>
            <a:srgbClr val="13294B"/>
          </a:solidFill>
          <a:ln/>
          <a:effectLst>
            <a:outerShdw blurRad="88900" dist="25400" dir="5400000" algn="bl" rotWithShape="0">
              <a:srgbClr val="13294B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3296147" y="1801368"/>
            <a:ext cx="475488" cy="475488"/>
          </a:xfrm>
          <a:prstGeom prst="ellipse">
            <a:avLst/>
          </a:prstGeom>
          <a:solidFill>
            <a:srgbClr val="2E86D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/tmp/pitch_deck/assets/icons/buildin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5019" y="1920240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890507" y="1682496"/>
            <a:ext cx="441098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운영기관   (재)충북테크노파크  —  사업 총괄 관리 · 감독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02920" y="2606040"/>
            <a:ext cx="5440680" cy="3611880"/>
          </a:xfrm>
          <a:prstGeom prst="roundRect">
            <a:avLst>
              <a:gd name="adj" fmla="val 2532"/>
            </a:avLst>
          </a:prstGeom>
          <a:solidFill>
            <a:srgbClr val="EAF2FC"/>
          </a:solidFill>
          <a:ln/>
          <a:effectLst>
            <a:outerShdw blurRad="88900" dist="25400" dir="5400000" algn="bl" rotWithShape="0">
              <a:srgbClr val="13294B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758952" y="2862072"/>
            <a:ext cx="502920" cy="502920"/>
          </a:xfrm>
          <a:prstGeom prst="ellipse">
            <a:avLst/>
          </a:prstGeom>
          <a:solidFill>
            <a:srgbClr val="13294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/tmp/pitch_deck/assets/icons/userTi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653" y="2982773"/>
            <a:ext cx="261518" cy="26151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99032" y="2834640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수요기업 (주)세화피앤씨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1399032" y="3154680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책임자 박수일 전무  ·  참여인력 5명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777240" y="3593592"/>
            <a:ext cx="237744" cy="237744"/>
          </a:xfrm>
          <a:prstGeom prst="ellipse">
            <a:avLst/>
          </a:prstGeom>
          <a:solidFill>
            <a:srgbClr val="2E86D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1"/>
          <p:cNvSpPr/>
          <p:nvPr/>
        </p:nvSpPr>
        <p:spPr>
          <a:xfrm>
            <a:off x="777240" y="35935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1124712" y="3538728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공장 현장 안내 및 공정·요구사항 설명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777240" y="4110228"/>
            <a:ext cx="237744" cy="237744"/>
          </a:xfrm>
          <a:prstGeom prst="ellipse">
            <a:avLst/>
          </a:prstGeom>
          <a:solidFill>
            <a:srgbClr val="2E86D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4"/>
          <p:cNvSpPr/>
          <p:nvPr/>
        </p:nvSpPr>
        <p:spPr>
          <a:xfrm>
            <a:off x="777240" y="41102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1124712" y="4055364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수집 인프라 구축 시 공정 정보·노하우 제공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777240" y="4626864"/>
            <a:ext cx="237744" cy="237744"/>
          </a:xfrm>
          <a:prstGeom prst="ellipse">
            <a:avLst/>
          </a:prstGeom>
          <a:solidFill>
            <a:srgbClr val="2E86D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7"/>
          <p:cNvSpPr/>
          <p:nvPr/>
        </p:nvSpPr>
        <p:spPr>
          <a:xfrm>
            <a:off x="777240" y="462686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1124712" y="4572000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배치별 반제품 품질(QC) 데이터 제공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777240" y="5143500"/>
            <a:ext cx="237744" cy="237744"/>
          </a:xfrm>
          <a:prstGeom prst="ellipse">
            <a:avLst/>
          </a:prstGeom>
          <a:solidFill>
            <a:srgbClr val="2E86D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0"/>
          <p:cNvSpPr/>
          <p:nvPr/>
        </p:nvSpPr>
        <p:spPr>
          <a:xfrm>
            <a:off x="777240" y="51435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1124712" y="508863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수집 인프라·AI 모델 완료 시 실증 및 검증 참여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777240" y="5660136"/>
            <a:ext cx="237744" cy="237744"/>
          </a:xfrm>
          <a:prstGeom prst="ellipse">
            <a:avLst/>
          </a:prstGeom>
          <a:solidFill>
            <a:srgbClr val="2E86D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3"/>
          <p:cNvSpPr/>
          <p:nvPr/>
        </p:nvSpPr>
        <p:spPr>
          <a:xfrm>
            <a:off x="777240" y="56601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1124712" y="5605272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 측정 및 최종 결과 검토·승인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6254496" y="2606040"/>
            <a:ext cx="5440680" cy="3611880"/>
          </a:xfrm>
          <a:prstGeom prst="roundRect">
            <a:avLst>
              <a:gd name="adj" fmla="val 2532"/>
            </a:avLst>
          </a:prstGeom>
          <a:solidFill>
            <a:srgbClr val="EAF2FC"/>
          </a:solidFill>
          <a:ln/>
          <a:effectLst>
            <a:outerShdw blurRad="88900" dist="25400" dir="5400000" algn="bl" rotWithShape="0">
              <a:srgbClr val="13294B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6"/>
          <p:cNvSpPr/>
          <p:nvPr/>
        </p:nvSpPr>
        <p:spPr>
          <a:xfrm>
            <a:off x="6510528" y="2862072"/>
            <a:ext cx="502920" cy="502920"/>
          </a:xfrm>
          <a:prstGeom prst="ellipse">
            <a:avLst/>
          </a:prstGeom>
          <a:solidFill>
            <a:srgbClr val="13294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1" name="Image 2" descr="/tmp/pitch_deck/assets/icons/handshak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1229" y="2982773"/>
            <a:ext cx="261518" cy="261518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7150608" y="2834640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공급기업 (주)그립</a:t>
            </a:r>
            <a:endParaRPr lang="en-US" sz="1550" dirty="0"/>
          </a:p>
        </p:txBody>
      </p:sp>
      <p:sp>
        <p:nvSpPr>
          <p:cNvPr id="33" name="Text 28"/>
          <p:cNvSpPr/>
          <p:nvPr/>
        </p:nvSpPr>
        <p:spPr>
          <a:xfrm>
            <a:off x="7150608" y="3154680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책임자 최관표 전무  ·  참여인력 7명</a:t>
            </a:r>
            <a:endParaRPr lang="en-US" sz="1050" dirty="0"/>
          </a:p>
        </p:txBody>
      </p:sp>
      <p:sp>
        <p:nvSpPr>
          <p:cNvPr id="34" name="Shape 29"/>
          <p:cNvSpPr/>
          <p:nvPr/>
        </p:nvSpPr>
        <p:spPr>
          <a:xfrm>
            <a:off x="6528816" y="3593592"/>
            <a:ext cx="237744" cy="237744"/>
          </a:xfrm>
          <a:prstGeom prst="ellipse">
            <a:avLst/>
          </a:prstGeom>
          <a:solidFill>
            <a:srgbClr val="2E86D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0"/>
          <p:cNvSpPr/>
          <p:nvPr/>
        </p:nvSpPr>
        <p:spPr>
          <a:xfrm>
            <a:off x="6528816" y="35935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50" dirty="0"/>
          </a:p>
        </p:txBody>
      </p:sp>
      <p:sp>
        <p:nvSpPr>
          <p:cNvPr id="36" name="Text 31"/>
          <p:cNvSpPr/>
          <p:nvPr/>
        </p:nvSpPr>
        <p:spPr>
          <a:xfrm>
            <a:off x="6876288" y="3538728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 분석 및 설계</a:t>
            </a:r>
            <a:endParaRPr lang="en-US" sz="1100" dirty="0"/>
          </a:p>
        </p:txBody>
      </p:sp>
      <p:sp>
        <p:nvSpPr>
          <p:cNvPr id="37" name="Shape 32"/>
          <p:cNvSpPr/>
          <p:nvPr/>
        </p:nvSpPr>
        <p:spPr>
          <a:xfrm>
            <a:off x="6528816" y="4041449"/>
            <a:ext cx="237744" cy="237744"/>
          </a:xfrm>
          <a:prstGeom prst="ellipse">
            <a:avLst/>
          </a:prstGeom>
          <a:solidFill>
            <a:srgbClr val="2E86D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3"/>
          <p:cNvSpPr/>
          <p:nvPr/>
        </p:nvSpPr>
        <p:spPr>
          <a:xfrm>
            <a:off x="6528816" y="4041449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50" dirty="0"/>
          </a:p>
        </p:txBody>
      </p:sp>
      <p:sp>
        <p:nvSpPr>
          <p:cNvPr id="39" name="Text 34"/>
          <p:cNvSpPr/>
          <p:nvPr/>
        </p:nvSpPr>
        <p:spPr>
          <a:xfrm>
            <a:off x="6876288" y="3976288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수집 인프라 구축</a:t>
            </a:r>
            <a:endParaRPr lang="en-US" sz="1100" dirty="0"/>
          </a:p>
        </p:txBody>
      </p:sp>
      <p:sp>
        <p:nvSpPr>
          <p:cNvPr id="40" name="Shape 35"/>
          <p:cNvSpPr/>
          <p:nvPr/>
        </p:nvSpPr>
        <p:spPr>
          <a:xfrm>
            <a:off x="6515140" y="4493280"/>
            <a:ext cx="237744" cy="237744"/>
          </a:xfrm>
          <a:prstGeom prst="ellipse">
            <a:avLst/>
          </a:prstGeom>
          <a:solidFill>
            <a:srgbClr val="2E86D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6"/>
          <p:cNvSpPr/>
          <p:nvPr/>
        </p:nvSpPr>
        <p:spPr>
          <a:xfrm>
            <a:off x="6515140" y="44932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50" dirty="0"/>
          </a:p>
        </p:txBody>
      </p:sp>
      <p:sp>
        <p:nvSpPr>
          <p:cNvPr id="42" name="Text 37"/>
          <p:cNvSpPr/>
          <p:nvPr/>
        </p:nvSpPr>
        <p:spPr>
          <a:xfrm>
            <a:off x="6848856" y="4413848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수집·정제·가공</a:t>
            </a:r>
            <a:endParaRPr lang="en-US" sz="1100" dirty="0"/>
          </a:p>
        </p:txBody>
      </p:sp>
      <p:sp>
        <p:nvSpPr>
          <p:cNvPr id="43" name="Shape 38"/>
          <p:cNvSpPr/>
          <p:nvPr/>
        </p:nvSpPr>
        <p:spPr>
          <a:xfrm>
            <a:off x="6513947" y="4938158"/>
            <a:ext cx="237744" cy="237744"/>
          </a:xfrm>
          <a:prstGeom prst="ellipse">
            <a:avLst/>
          </a:prstGeom>
          <a:solidFill>
            <a:srgbClr val="2E86D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39"/>
          <p:cNvSpPr/>
          <p:nvPr/>
        </p:nvSpPr>
        <p:spPr>
          <a:xfrm>
            <a:off x="6513947" y="493815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50" dirty="0"/>
          </a:p>
        </p:txBody>
      </p:sp>
      <p:sp>
        <p:nvSpPr>
          <p:cNvPr id="45" name="Text 40"/>
          <p:cNvSpPr/>
          <p:nvPr/>
        </p:nvSpPr>
        <p:spPr>
          <a:xfrm>
            <a:off x="6858000" y="4851408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구현 및 학습 / 검증 및 안정화</a:t>
            </a:r>
            <a:endParaRPr lang="en-US" sz="1100" dirty="0"/>
          </a:p>
        </p:txBody>
      </p:sp>
      <p:sp>
        <p:nvSpPr>
          <p:cNvPr id="46" name="Shape 41"/>
          <p:cNvSpPr/>
          <p:nvPr/>
        </p:nvSpPr>
        <p:spPr>
          <a:xfrm>
            <a:off x="6513947" y="5407284"/>
            <a:ext cx="237744" cy="237744"/>
          </a:xfrm>
          <a:prstGeom prst="ellipse">
            <a:avLst/>
          </a:prstGeom>
          <a:solidFill>
            <a:srgbClr val="2E86D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2"/>
          <p:cNvSpPr/>
          <p:nvPr/>
        </p:nvSpPr>
        <p:spPr>
          <a:xfrm>
            <a:off x="6513947" y="540728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50" dirty="0"/>
          </a:p>
        </p:txBody>
      </p:sp>
      <p:sp>
        <p:nvSpPr>
          <p:cNvPr id="48" name="Text 43"/>
          <p:cNvSpPr/>
          <p:nvPr/>
        </p:nvSpPr>
        <p:spPr>
          <a:xfrm>
            <a:off x="6858000" y="5288968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기획·설계·대시보드 구현</a:t>
            </a:r>
            <a:endParaRPr lang="en-US" sz="1100" dirty="0"/>
          </a:p>
        </p:txBody>
      </p:sp>
      <p:sp>
        <p:nvSpPr>
          <p:cNvPr id="49" name="Shape 44"/>
          <p:cNvSpPr/>
          <p:nvPr/>
        </p:nvSpPr>
        <p:spPr>
          <a:xfrm>
            <a:off x="6520547" y="5825121"/>
            <a:ext cx="237744" cy="237744"/>
          </a:xfrm>
          <a:prstGeom prst="ellipse">
            <a:avLst/>
          </a:prstGeom>
          <a:solidFill>
            <a:srgbClr val="2E86D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5"/>
          <p:cNvSpPr/>
          <p:nvPr/>
        </p:nvSpPr>
        <p:spPr>
          <a:xfrm>
            <a:off x="6520547" y="5825121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50" dirty="0"/>
          </a:p>
        </p:txBody>
      </p:sp>
      <p:sp>
        <p:nvSpPr>
          <p:cNvPr id="51" name="Text 46"/>
          <p:cNvSpPr/>
          <p:nvPr/>
        </p:nvSpPr>
        <p:spPr>
          <a:xfrm>
            <a:off x="6848856" y="5726528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단위·통합·기능 테스트</a:t>
            </a:r>
            <a:endParaRPr lang="en-US" sz="1100" dirty="0"/>
          </a:p>
        </p:txBody>
      </p:sp>
      <p:sp>
        <p:nvSpPr>
          <p:cNvPr id="52" name="Text 47"/>
          <p:cNvSpPr/>
          <p:nvPr/>
        </p:nvSpPr>
        <p:spPr>
          <a:xfrm>
            <a:off x="50292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5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(주)그립 × (주)세화피앤씨</a:t>
            </a:r>
            <a:endParaRPr lang="en-US" sz="900" dirty="0"/>
          </a:p>
        </p:txBody>
      </p:sp>
      <p:sp>
        <p:nvSpPr>
          <p:cNvPr id="53" name="Text 48"/>
          <p:cNvSpPr/>
          <p:nvPr/>
        </p:nvSpPr>
        <p:spPr>
          <a:xfrm>
            <a:off x="10774375" y="65196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5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E86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SCHEDULE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추진 일정 계획 (12개월)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3단계 Phase 기반 순차적 구축 — 요구사항 분석부터 제조AX 검증까지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154680" y="1691640"/>
            <a:ext cx="7117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1월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866388" y="1691640"/>
            <a:ext cx="7117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2월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8096" y="1691640"/>
            <a:ext cx="7117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3월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289804" y="1691640"/>
            <a:ext cx="7117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4월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001512" y="1691640"/>
            <a:ext cx="7117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5월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713220" y="1691640"/>
            <a:ext cx="7117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6월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424928" y="1691640"/>
            <a:ext cx="7117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7월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136636" y="1691640"/>
            <a:ext cx="7117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8월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848344" y="1691640"/>
            <a:ext cx="7117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9월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9560052" y="1691640"/>
            <a:ext cx="7117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10월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0271760" y="1691640"/>
            <a:ext cx="7117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11월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0983468" y="1691640"/>
            <a:ext cx="7117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12월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02920" y="1947672"/>
            <a:ext cx="11192256" cy="0"/>
          </a:xfrm>
          <a:prstGeom prst="line">
            <a:avLst/>
          </a:prstGeom>
          <a:noFill/>
          <a:ln w="9525">
            <a:solidFill>
              <a:srgbClr val="D7E3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02920" y="2039112"/>
            <a:ext cx="2148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222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 분석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2651760" y="2039112"/>
            <a:ext cx="457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10%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154680" y="2071116"/>
            <a:ext cx="665988" cy="201168"/>
          </a:xfrm>
          <a:prstGeom prst="roundRect">
            <a:avLst>
              <a:gd name="adj" fmla="val 18182"/>
            </a:avLst>
          </a:prstGeom>
          <a:solidFill>
            <a:srgbClr val="2E86D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02920" y="2345436"/>
            <a:ext cx="2148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222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공정 데이터 수집 인프라 구축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2651760" y="2345436"/>
            <a:ext cx="457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20%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866388" y="2377440"/>
            <a:ext cx="2089404" cy="201168"/>
          </a:xfrm>
          <a:prstGeom prst="roundRect">
            <a:avLst>
              <a:gd name="adj" fmla="val 18182"/>
            </a:avLst>
          </a:prstGeom>
          <a:solidFill>
            <a:srgbClr val="2E86D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502920" y="2651760"/>
            <a:ext cx="2148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222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분석 모델 설계·개발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2651760" y="2651760"/>
            <a:ext cx="457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20%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01512" y="2683764"/>
            <a:ext cx="3512820" cy="201168"/>
          </a:xfrm>
          <a:prstGeom prst="roundRect">
            <a:avLst>
              <a:gd name="adj" fmla="val 18182"/>
            </a:avLst>
          </a:prstGeom>
          <a:solidFill>
            <a:srgbClr val="1D4E8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502920" y="2958084"/>
            <a:ext cx="2148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222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실증 및 테스트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2651760" y="2958084"/>
            <a:ext cx="457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20%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424928" y="2990088"/>
            <a:ext cx="3512820" cy="201168"/>
          </a:xfrm>
          <a:prstGeom prst="roundRect">
            <a:avLst>
              <a:gd name="adj" fmla="val 18182"/>
            </a:avLst>
          </a:prstGeom>
          <a:solidFill>
            <a:srgbClr val="1D4E8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502920" y="3264408"/>
            <a:ext cx="2148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222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적용 완료</a:t>
            </a:r>
            <a:endParaRPr lang="en-US" sz="1080" dirty="0"/>
          </a:p>
        </p:txBody>
      </p:sp>
      <p:sp>
        <p:nvSpPr>
          <p:cNvPr id="31" name="Text 29"/>
          <p:cNvSpPr/>
          <p:nvPr/>
        </p:nvSpPr>
        <p:spPr>
          <a:xfrm>
            <a:off x="2651760" y="3264408"/>
            <a:ext cx="457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10%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848344" y="3296412"/>
            <a:ext cx="1377696" cy="201168"/>
          </a:xfrm>
          <a:prstGeom prst="roundRect">
            <a:avLst>
              <a:gd name="adj" fmla="val 18182"/>
            </a:avLst>
          </a:prstGeom>
          <a:solidFill>
            <a:srgbClr val="1329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502920" y="3570732"/>
            <a:ext cx="2148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222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검증 실시</a:t>
            </a:r>
            <a:endParaRPr lang="en-US" sz="1080" dirty="0"/>
          </a:p>
        </p:txBody>
      </p:sp>
      <p:sp>
        <p:nvSpPr>
          <p:cNvPr id="34" name="Text 32"/>
          <p:cNvSpPr/>
          <p:nvPr/>
        </p:nvSpPr>
        <p:spPr>
          <a:xfrm>
            <a:off x="2651760" y="3570732"/>
            <a:ext cx="457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10%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560052" y="3602736"/>
            <a:ext cx="1377696" cy="201168"/>
          </a:xfrm>
          <a:prstGeom prst="roundRect">
            <a:avLst>
              <a:gd name="adj" fmla="val 18182"/>
            </a:avLst>
          </a:prstGeom>
          <a:solidFill>
            <a:srgbClr val="1329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502920" y="3877056"/>
            <a:ext cx="2148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222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제조 AX 검증</a:t>
            </a:r>
            <a:endParaRPr lang="en-US" sz="1080" dirty="0"/>
          </a:p>
        </p:txBody>
      </p:sp>
      <p:sp>
        <p:nvSpPr>
          <p:cNvPr id="37" name="Text 35"/>
          <p:cNvSpPr/>
          <p:nvPr/>
        </p:nvSpPr>
        <p:spPr>
          <a:xfrm>
            <a:off x="2651760" y="3877056"/>
            <a:ext cx="457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10%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0271760" y="3909060"/>
            <a:ext cx="1377696" cy="201168"/>
          </a:xfrm>
          <a:prstGeom prst="roundRect">
            <a:avLst>
              <a:gd name="adj" fmla="val 18182"/>
            </a:avLst>
          </a:prstGeom>
          <a:solidFill>
            <a:srgbClr val="1329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502920" y="4256532"/>
            <a:ext cx="256032" cy="146304"/>
          </a:xfrm>
          <a:prstGeom prst="roundRect">
            <a:avLst>
              <a:gd name="adj" fmla="val 18750"/>
            </a:avLst>
          </a:prstGeom>
          <a:solidFill>
            <a:srgbClr val="2E86D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822960" y="419252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1: 데이터 수집 인프라 구축 (1~4개월)</a:t>
            </a:r>
            <a:endParaRPr lang="en-US" sz="970" dirty="0"/>
          </a:p>
        </p:txBody>
      </p:sp>
      <p:sp>
        <p:nvSpPr>
          <p:cNvPr id="41" name="Shape 39"/>
          <p:cNvSpPr/>
          <p:nvPr/>
        </p:nvSpPr>
        <p:spPr>
          <a:xfrm>
            <a:off x="4251960" y="4256532"/>
            <a:ext cx="256032" cy="146304"/>
          </a:xfrm>
          <a:prstGeom prst="roundRect">
            <a:avLst>
              <a:gd name="adj" fmla="val 18750"/>
            </a:avLst>
          </a:prstGeom>
          <a:solidFill>
            <a:srgbClr val="1D4E8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4572000" y="419252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2: AI 모델 개발 및 실증 (5~10개월)</a:t>
            </a:r>
            <a:endParaRPr lang="en-US" sz="970" dirty="0"/>
          </a:p>
        </p:txBody>
      </p:sp>
      <p:sp>
        <p:nvSpPr>
          <p:cNvPr id="43" name="Shape 41"/>
          <p:cNvSpPr/>
          <p:nvPr/>
        </p:nvSpPr>
        <p:spPr>
          <a:xfrm>
            <a:off x="8001000" y="4256532"/>
            <a:ext cx="256032" cy="146304"/>
          </a:xfrm>
          <a:prstGeom prst="roundRect">
            <a:avLst>
              <a:gd name="adj" fmla="val 18750"/>
            </a:avLst>
          </a:prstGeom>
          <a:solidFill>
            <a:srgbClr val="1329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8321040" y="419252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3: 검증 및 완료 (9~12개월)</a:t>
            </a:r>
            <a:endParaRPr lang="en-US" sz="970" dirty="0"/>
          </a:p>
        </p:txBody>
      </p:sp>
      <p:sp>
        <p:nvSpPr>
          <p:cNvPr id="45" name="Text 43"/>
          <p:cNvSpPr/>
          <p:nvPr/>
        </p:nvSpPr>
        <p:spPr>
          <a:xfrm>
            <a:off x="502920" y="46405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Phase별 핵심 산출물</a:t>
            </a:r>
            <a:endParaRPr lang="en-US" sz="14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933188"/>
          <a:ext cx="11192256" cy="1316736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490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Phase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 산출물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329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Phase 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1~4개월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요구사항 정의서, 제어판넬-게이트웨이-서버 연동 결과물(DB)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329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Phase 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5~10개월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분석모델 설계서, 현장 적용 결과서 ★필수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329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Phase 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9~12개월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기술 검증 결과서 ★필수, 제조AX 검증 결과서 ★필수(TTA 발행)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7" name="Text 44"/>
          <p:cNvSpPr/>
          <p:nvPr/>
        </p:nvSpPr>
        <p:spPr>
          <a:xfrm>
            <a:off x="50292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5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(주)그립 × (주)세화피앤씨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10774375" y="65196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5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E86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투입 인력 구성 및 역할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공급기업 7명 · 수요기업 5명 — 총 12개월 사업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6916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공급기업 (주)그립  —  투입 인력 7명</a:t>
            </a:r>
            <a:endParaRPr lang="en-US" sz="14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011680"/>
          <a:ext cx="11192256" cy="292608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945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성명</a:t>
                      </a:r>
                      <a:endParaRPr lang="en-US" sz="10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직무</a:t>
                      </a:r>
                      <a:endParaRPr lang="en-US" sz="10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투입기간</a:t>
                      </a:r>
                      <a:endParaRPr lang="en-US" sz="10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주요 역할</a:t>
                      </a:r>
                      <a:endParaRPr lang="en-US" sz="10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329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최관표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IT기획자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3개월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요구사항 분석 및 설계, 데이터 수집 인프라 구축, 시스템 기획</a:t>
                      </a:r>
                      <a:endParaRPr lang="en-US" sz="10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329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정문교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응용SW개발자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3개월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요구사항 분석·설계, 데이터 수집·정제·가공, 모델 구현·학습, 검증·안정화</a:t>
                      </a:r>
                      <a:endParaRPr lang="en-US" sz="10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329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최승욱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응용SW개발자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2개월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 구현 및 학습, 검증 및 안정화, 시스템 기획·설계·대시보드 구현</a:t>
                      </a:r>
                      <a:endParaRPr lang="en-US" sz="10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329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황태규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IT지원기술자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2개월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수집·정제·가공, 검증 및 안정화, 시스템 기획·설계</a:t>
                      </a:r>
                      <a:endParaRPr lang="en-US" sz="10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329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이주연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IT지원기술자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1개월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수집 인프라 구축</a:t>
                      </a:r>
                      <a:endParaRPr lang="en-US" sz="10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329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안택헌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IT지원기술자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2개월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시스템 기획 및 설계, 대시보드 구현</a:t>
                      </a:r>
                      <a:endParaRPr lang="en-US" sz="10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329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권순호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IT테스터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1개월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단위·통합·기능 테스트</a:t>
                      </a:r>
                      <a:endParaRPr lang="en-US" sz="10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5212080"/>
            <a:ext cx="11192256" cy="777240"/>
          </a:xfrm>
          <a:prstGeom prst="roundRect">
            <a:avLst>
              <a:gd name="adj" fmla="val 11765"/>
            </a:avLst>
          </a:prstGeom>
          <a:solidFill>
            <a:srgbClr val="EAF2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731520" y="5340096"/>
            <a:ext cx="512064" cy="512064"/>
          </a:xfrm>
          <a:prstGeom prst="ellipse">
            <a:avLst/>
          </a:prstGeom>
          <a:solidFill>
            <a:srgbClr val="2E86D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/tmp/pitch_deck/assets/icons/userTi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415" y="5462991"/>
            <a:ext cx="266273" cy="26627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533095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수요기업 (주)세화피앤씨  —  참여 인력 5명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417320" y="56052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박수일(전무) · 이선영(부장) · 이용창(과장) · 장효주(과장) · 안기탁(과장)  —  현장 안내 · QC 데이터 제공 · 실증 검증 역할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0292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5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(주)그립 × (주)세화피앤씨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0774375" y="65196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5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E86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BUDGET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예산 계획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사업비 90,800,000원 — H/W 구축비 + S/W 개발비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645920"/>
            <a:ext cx="3611880" cy="1234440"/>
          </a:xfrm>
          <a:prstGeom prst="roundRect">
            <a:avLst>
              <a:gd name="adj" fmla="val 7407"/>
            </a:avLst>
          </a:prstGeom>
          <a:solidFill>
            <a:srgbClr val="5FA8E0"/>
          </a:solidFill>
          <a:ln/>
          <a:effectLst>
            <a:outerShdw blurRad="88900" dist="25400" dir="5400000" algn="bl" rotWithShape="0">
              <a:srgbClr val="13294B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31520" y="17830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/tmp/pitch_deck/assets/icons/cogs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1" y="1903781"/>
            <a:ext cx="261518" cy="26151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75564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10,800,000원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31520" y="2395728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기업부담금 (H/W)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297680" y="1645920"/>
            <a:ext cx="3611880" cy="1234440"/>
          </a:xfrm>
          <a:prstGeom prst="roundRect">
            <a:avLst>
              <a:gd name="adj" fmla="val 7407"/>
            </a:avLst>
          </a:prstGeom>
          <a:solidFill>
            <a:srgbClr val="2E86DE"/>
          </a:solidFill>
          <a:ln/>
          <a:effectLst>
            <a:outerShdw blurRad="88900" dist="25400" dir="5400000" algn="bl" rotWithShape="0">
              <a:srgbClr val="13294B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4526280" y="17830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/tmp/pitch_deck/assets/icons/coins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6981" y="1903781"/>
            <a:ext cx="261518" cy="26151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66360" y="175564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80,000,000원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4526280" y="2395728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지원금 (S/W 개발비)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092440" y="1645920"/>
            <a:ext cx="3611880" cy="1234440"/>
          </a:xfrm>
          <a:prstGeom prst="roundRect">
            <a:avLst>
              <a:gd name="adj" fmla="val 7407"/>
            </a:avLst>
          </a:prstGeom>
          <a:solidFill>
            <a:srgbClr val="13294B"/>
          </a:solidFill>
          <a:ln/>
          <a:effectLst>
            <a:outerShdw blurRad="88900" dist="25400" dir="5400000" algn="bl" rotWithShape="0">
              <a:srgbClr val="13294B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2"/>
          <p:cNvSpPr/>
          <p:nvPr/>
        </p:nvSpPr>
        <p:spPr>
          <a:xfrm>
            <a:off x="8321040" y="17830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2" descr="/tmp/pitch_deck/assets/icons/won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1741" y="1903781"/>
            <a:ext cx="261518" cy="26151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961120" y="175564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90,800,000원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8321040" y="2395728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사업비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02920" y="3063240"/>
            <a:ext cx="11192256" cy="411480"/>
          </a:xfrm>
          <a:prstGeom prst="roundRect">
            <a:avLst>
              <a:gd name="adj" fmla="val 13333"/>
            </a:avLst>
          </a:prstGeom>
          <a:solidFill>
            <a:srgbClr val="EAF2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6"/>
          <p:cNvSpPr/>
          <p:nvPr/>
        </p:nvSpPr>
        <p:spPr>
          <a:xfrm>
            <a:off x="502920" y="3063240"/>
            <a:ext cx="1331237" cy="411480"/>
          </a:xfrm>
          <a:prstGeom prst="roundRect">
            <a:avLst>
              <a:gd name="adj" fmla="val 13333"/>
            </a:avLst>
          </a:prstGeom>
          <a:solidFill>
            <a:srgbClr val="5FA8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7"/>
          <p:cNvSpPr/>
          <p:nvPr/>
        </p:nvSpPr>
        <p:spPr>
          <a:xfrm>
            <a:off x="612648" y="3063240"/>
            <a:ext cx="114835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기업부담금 11.9%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1971317" y="3063240"/>
            <a:ext cx="958669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지원금(S/W개발비) 88.1%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502920" y="36758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H/W 구축비 세부 내역 (기업부담금)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502920" y="3968496"/>
            <a:ext cx="11192256" cy="475488"/>
          </a:xfrm>
          <a:prstGeom prst="roundRect">
            <a:avLst>
              <a:gd name="adj" fmla="val 19231"/>
            </a:avLst>
          </a:prstGeom>
          <a:solidFill>
            <a:srgbClr val="EAF2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1"/>
          <p:cNvSpPr/>
          <p:nvPr/>
        </p:nvSpPr>
        <p:spPr>
          <a:xfrm>
            <a:off x="731520" y="3968496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222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제어판넬(AGI Homo Mixer, RS-485 통신모듈, (주)우원기계)   단가 1,800,000원 × 6대 = 10,800,000원   ※ IoT 게이트웨이 6대는 별도 구매 후 설치 예정</a:t>
            </a:r>
            <a:endParaRPr lang="en-US" sz="1080" dirty="0"/>
          </a:p>
        </p:txBody>
      </p:sp>
      <p:sp>
        <p:nvSpPr>
          <p:cNvPr id="27" name="Text 22"/>
          <p:cNvSpPr/>
          <p:nvPr/>
        </p:nvSpPr>
        <p:spPr>
          <a:xfrm>
            <a:off x="502920" y="45994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S/W 개발비 세부 내역 (지원금)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502920" y="4892040"/>
            <a:ext cx="11192256" cy="384048"/>
          </a:xfrm>
          <a:prstGeom prst="roundRect">
            <a:avLst>
              <a:gd name="adj" fmla="val 14286"/>
            </a:avLst>
          </a:prstGeom>
          <a:solidFill>
            <a:srgbClr val="FBFCFE"/>
          </a:solidFill>
          <a:ln w="9525">
            <a:solidFill>
              <a:srgbClr val="D7E3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4"/>
          <p:cNvSpPr/>
          <p:nvPr/>
        </p:nvSpPr>
        <p:spPr>
          <a:xfrm>
            <a:off x="685800" y="489204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FP 간이법 SW 개발비</a:t>
            </a:r>
            <a:endParaRPr lang="en-US" sz="1080" dirty="0"/>
          </a:p>
        </p:txBody>
      </p:sp>
      <p:sp>
        <p:nvSpPr>
          <p:cNvPr id="30" name="Text 25"/>
          <p:cNvSpPr/>
          <p:nvPr/>
        </p:nvSpPr>
        <p:spPr>
          <a:xfrm>
            <a:off x="3886200" y="489204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2E86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46,872,456원</a:t>
            </a:r>
            <a:endParaRPr lang="en-US" sz="1080" dirty="0"/>
          </a:p>
        </p:txBody>
      </p:sp>
      <p:sp>
        <p:nvSpPr>
          <p:cNvPr id="31" name="Text 26"/>
          <p:cNvSpPr/>
          <p:nvPr/>
        </p:nvSpPr>
        <p:spPr>
          <a:xfrm>
            <a:off x="5623560" y="4892040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기능점수 59.6FP × 기능점수당 단가 605,784원</a:t>
            </a:r>
            <a:endParaRPr lang="en-US" sz="980" dirty="0"/>
          </a:p>
        </p:txBody>
      </p:sp>
      <p:sp>
        <p:nvSpPr>
          <p:cNvPr id="32" name="Shape 27"/>
          <p:cNvSpPr/>
          <p:nvPr/>
        </p:nvSpPr>
        <p:spPr>
          <a:xfrm>
            <a:off x="502920" y="5330952"/>
            <a:ext cx="11192256" cy="384048"/>
          </a:xfrm>
          <a:prstGeom prst="roundRect">
            <a:avLst>
              <a:gd name="adj" fmla="val 14286"/>
            </a:avLst>
          </a:prstGeom>
          <a:solidFill>
            <a:srgbClr val="FBFCFE"/>
          </a:solidFill>
          <a:ln w="9525">
            <a:solidFill>
              <a:srgbClr val="D7E3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28"/>
          <p:cNvSpPr/>
          <p:nvPr/>
        </p:nvSpPr>
        <p:spPr>
          <a:xfrm>
            <a:off x="685800" y="533095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AI 도입 사업비</a:t>
            </a:r>
            <a:endParaRPr lang="en-US" sz="1080" dirty="0"/>
          </a:p>
        </p:txBody>
      </p:sp>
      <p:sp>
        <p:nvSpPr>
          <p:cNvPr id="34" name="Text 29"/>
          <p:cNvSpPr/>
          <p:nvPr/>
        </p:nvSpPr>
        <p:spPr>
          <a:xfrm>
            <a:off x="3886200" y="533095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2E86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49,650,333원</a:t>
            </a:r>
            <a:endParaRPr lang="en-US" sz="1080" dirty="0"/>
          </a:p>
        </p:txBody>
      </p:sp>
      <p:sp>
        <p:nvSpPr>
          <p:cNvPr id="35" name="Text 30"/>
          <p:cNvSpPr/>
          <p:nvPr/>
        </p:nvSpPr>
        <p:spPr>
          <a:xfrm>
            <a:off x="5623560" y="5330952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직접인건비 + 제경비(×144%) + 기술료(×20%)</a:t>
            </a:r>
            <a:endParaRPr lang="en-US" sz="980" dirty="0"/>
          </a:p>
        </p:txBody>
      </p:sp>
      <p:sp>
        <p:nvSpPr>
          <p:cNvPr id="36" name="Text 31"/>
          <p:cNvSpPr/>
          <p:nvPr/>
        </p:nvSpPr>
        <p:spPr>
          <a:xfrm>
            <a:off x="502920" y="5824728"/>
            <a:ext cx="11192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5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할인 적용 후 최종 지원금 80,000,000원 확정 (SW개발비·AI도입비 산정 할인 합계 반영)</a:t>
            </a:r>
            <a:endParaRPr lang="en-US" sz="1000" dirty="0"/>
          </a:p>
        </p:txBody>
      </p:sp>
      <p:sp>
        <p:nvSpPr>
          <p:cNvPr id="37" name="Text 32"/>
          <p:cNvSpPr/>
          <p:nvPr/>
        </p:nvSpPr>
        <p:spPr>
          <a:xfrm>
            <a:off x="50292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5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(주)그립 × (주)세화피앤씨</a:t>
            </a:r>
            <a:endParaRPr lang="en-US" sz="900" dirty="0"/>
          </a:p>
        </p:txBody>
      </p:sp>
      <p:sp>
        <p:nvSpPr>
          <p:cNvPr id="38" name="Text 33"/>
          <p:cNvSpPr/>
          <p:nvPr/>
        </p:nvSpPr>
        <p:spPr>
          <a:xfrm>
            <a:off x="10774375" y="65196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5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E86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리스크 관리 체계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리스크 요인 사전 식별 및 대응방안 수립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5065828"/>
              </p:ext>
            </p:extLst>
          </p:nvPr>
        </p:nvGraphicFramePr>
        <p:xfrm>
          <a:off x="502920" y="1828800"/>
          <a:ext cx="11192256" cy="411480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572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리스크 요인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예상 영향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대응 방안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30" b="1" dirty="0">
                          <a:solidFill>
                            <a:srgbClr val="1329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현장 설비 운전조건 변경</a:t>
                      </a:r>
                      <a:endParaRPr lang="en-US" sz="11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30" dirty="0">
                          <a:solidFill>
                            <a:srgbClr val="222B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Baseline·KPI 측정기준 불일치</a:t>
                      </a:r>
                      <a:endParaRPr lang="en-US" sz="11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30" dirty="0">
                          <a:solidFill>
                            <a:srgbClr val="222B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변경 사항 기록, 발주처·수요·공급 협의로 기준 재조정</a:t>
                      </a:r>
                      <a:endParaRPr lang="en-US" sz="11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30" b="1" dirty="0">
                          <a:solidFill>
                            <a:srgbClr val="1329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이기종 시스템 연계 지연 (MES/POP)</a:t>
                      </a:r>
                      <a:endParaRPr lang="en-US" sz="11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30" dirty="0">
                          <a:solidFill>
                            <a:srgbClr val="222B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파이프라인 구축 일정 지연</a:t>
                      </a:r>
                      <a:endParaRPr lang="en-US" sz="11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30" dirty="0">
                          <a:solidFill>
                            <a:srgbClr val="222B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우선순위 조정 및 수기 입력 등 대체 수집 경로 임시 적용</a:t>
                      </a:r>
                      <a:endParaRPr lang="en-US" sz="11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30" b="1" dirty="0">
                          <a:solidFill>
                            <a:srgbClr val="1329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초기 데이터 부족 → 모델 성능 저하</a:t>
                      </a:r>
                      <a:endParaRPr lang="en-US" sz="11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30" dirty="0">
                          <a:solidFill>
                            <a:srgbClr val="222B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추천 정확도 저하</a:t>
                      </a:r>
                      <a:endParaRPr lang="en-US" sz="11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30" dirty="0">
                          <a:solidFill>
                            <a:srgbClr val="222B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대리모델·통계기법 우선 적용, 데이터 축적에 따른 단계적 고도화</a:t>
                      </a:r>
                      <a:endParaRPr lang="en-US" sz="11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30" b="1" dirty="0">
                          <a:solidFill>
                            <a:srgbClr val="1329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초기 </a:t>
                      </a:r>
                      <a:r>
                        <a:rPr lang="en-US" sz="1130" b="1" dirty="0" err="1">
                          <a:solidFill>
                            <a:srgbClr val="1329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</a:t>
                      </a:r>
                      <a:r>
                        <a:rPr lang="en-US" sz="1130" b="1" dirty="0">
                          <a:solidFill>
                            <a:srgbClr val="1329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ko-KR" altLang="en-US" sz="1130" b="1" dirty="0">
                          <a:solidFill>
                            <a:srgbClr val="1329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품질 미흡</a:t>
                      </a:r>
                      <a:endParaRPr lang="en-US" sz="11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1200" u="none" strike="noStrike" dirty="0" err="1"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결측·이상치</a:t>
                      </a:r>
                      <a:r>
                        <a:rPr lang="ko-KR" altLang="ko-KR" sz="1200" u="none" strike="noStrike" dirty="0"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 다발로 AI 모델 학습 오류 및 예측 신뢰도 저하</a:t>
                      </a:r>
                      <a:endParaRPr lang="ko-KR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1200" u="none" strike="noStrike" dirty="0"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데이터 진단 단계 품질 게이트(</a:t>
                      </a:r>
                      <a:r>
                        <a:rPr lang="ko-KR" altLang="ko-KR" sz="1200" u="none" strike="noStrike" dirty="0" err="1"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결측률·이상치</a:t>
                      </a:r>
                      <a:r>
                        <a:rPr lang="ko-KR" altLang="ko-KR" sz="1200" u="none" strike="noStrike" dirty="0"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 임계치) 우선 적용, 부족 구간은 규칙기반(</a:t>
                      </a:r>
                      <a:r>
                        <a:rPr lang="ko-KR" altLang="ko-KR" sz="1200" u="none" strike="noStrike" dirty="0" err="1"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Rule-based</a:t>
                      </a:r>
                      <a:r>
                        <a:rPr lang="ko-KR" altLang="ko-KR" sz="1200" u="none" strike="noStrike" dirty="0"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) 로직 병행 운영</a:t>
                      </a:r>
                      <a:endParaRPr lang="ko-KR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5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(주)그립 × (주)세화피앤씨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774375" y="65196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5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E86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기대효과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제조 원가 절감과 품질 신뢰성 강화에 집중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5440680" cy="3291840"/>
          </a:xfrm>
          <a:prstGeom prst="roundRect">
            <a:avLst>
              <a:gd name="adj" fmla="val 2778"/>
            </a:avLst>
          </a:prstGeom>
          <a:solidFill>
            <a:srgbClr val="EAF2FC"/>
          </a:solidFill>
          <a:ln/>
          <a:effectLst>
            <a:outerShdw blurRad="88900" dist="25400" dir="5400000" algn="bl" rotWithShape="0">
              <a:srgbClr val="13294B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58952" y="1929384"/>
            <a:ext cx="548640" cy="548640"/>
          </a:xfrm>
          <a:prstGeom prst="ellipse">
            <a:avLst/>
          </a:prstGeom>
          <a:solidFill>
            <a:srgbClr val="13294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/tmp/pitch_deck/assets/icons/chartLin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626" y="2061058"/>
            <a:ext cx="285293" cy="2852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35608" y="1984248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제조 원가 절감 및 생산성 향상</a:t>
            </a:r>
            <a:endParaRPr lang="en-US" sz="1500" dirty="0"/>
          </a:p>
        </p:txBody>
      </p:sp>
      <p:pic>
        <p:nvPicPr>
          <p:cNvPr id="9" name="Image 1" descr="/tmp/pitch_deck/assets/icons/checkCircle_sk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2761488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24712" y="2688336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22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원재료 폐기 비용 30% 이상 절감 (불량 배치 감소)</a:t>
            </a:r>
            <a:endParaRPr lang="en-US" sz="1150" dirty="0"/>
          </a:p>
        </p:txBody>
      </p:sp>
      <p:pic>
        <p:nvPicPr>
          <p:cNvPr id="11" name="Image 2" descr="/tmp/pitch_deck/assets/icons/checkCircle_sk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3310128"/>
            <a:ext cx="219456" cy="2194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24712" y="3236976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22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재생산 배치 30% 이상 감소 → 리드타임 단축</a:t>
            </a:r>
            <a:endParaRPr lang="en-US" sz="1150" dirty="0"/>
          </a:p>
        </p:txBody>
      </p:sp>
      <p:pic>
        <p:nvPicPr>
          <p:cNvPr id="13" name="Image 3" descr="/tmp/pitch_deck/assets/icons/checkCircle_sk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3858768"/>
            <a:ext cx="219456" cy="21945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24712" y="3785616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22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돌발 설비 정지 50% 이상 감소 → 가동률 향상</a:t>
            </a:r>
            <a:endParaRPr lang="en-US" sz="1150" dirty="0"/>
          </a:p>
        </p:txBody>
      </p:sp>
      <p:pic>
        <p:nvPicPr>
          <p:cNvPr id="15" name="Image 4" descr="/tmp/pitch_deck/assets/icons/checkCircle_sk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4407408"/>
            <a:ext cx="219456" cy="21945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124712" y="4334256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22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기반 최적 제어 → 에너지 소비 효율화</a:t>
            </a:r>
            <a:endParaRPr lang="en-US" sz="1150" dirty="0"/>
          </a:p>
        </p:txBody>
      </p:sp>
      <p:sp>
        <p:nvSpPr>
          <p:cNvPr id="17" name="Shape 10"/>
          <p:cNvSpPr/>
          <p:nvPr/>
        </p:nvSpPr>
        <p:spPr>
          <a:xfrm>
            <a:off x="6254496" y="1691640"/>
            <a:ext cx="5440680" cy="3291840"/>
          </a:xfrm>
          <a:prstGeom prst="roundRect">
            <a:avLst>
              <a:gd name="adj" fmla="val 2778"/>
            </a:avLst>
          </a:prstGeom>
          <a:solidFill>
            <a:srgbClr val="EAF2FC"/>
          </a:solidFill>
          <a:ln/>
          <a:effectLst>
            <a:outerShdw blurRad="88900" dist="25400" dir="5400000" algn="bl" rotWithShape="0">
              <a:srgbClr val="13294B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1"/>
          <p:cNvSpPr/>
          <p:nvPr/>
        </p:nvSpPr>
        <p:spPr>
          <a:xfrm>
            <a:off x="6510528" y="1929384"/>
            <a:ext cx="548640" cy="548640"/>
          </a:xfrm>
          <a:prstGeom prst="ellipse">
            <a:avLst/>
          </a:prstGeom>
          <a:solidFill>
            <a:srgbClr val="13294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5" descr="/tmp/pitch_deck/assets/icons/award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2202" y="2061058"/>
            <a:ext cx="285293" cy="285293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7187184" y="1984248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품질 신뢰성 및 경쟁력 강화</a:t>
            </a:r>
            <a:endParaRPr lang="en-US" sz="1500" dirty="0"/>
          </a:p>
        </p:txBody>
      </p:sp>
      <p:pic>
        <p:nvPicPr>
          <p:cNvPr id="21" name="Image 6" descr="/tmp/pitch_deck/assets/icons/checkCircle_sk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7104" y="2761488"/>
            <a:ext cx="219456" cy="219456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6876288" y="2688336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22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배치 간 품질 편차 30% 이상 감소</a:t>
            </a:r>
            <a:endParaRPr lang="en-US" sz="1150" dirty="0"/>
          </a:p>
        </p:txBody>
      </p:sp>
      <p:pic>
        <p:nvPicPr>
          <p:cNvPr id="23" name="Image 7" descr="/tmp/pitch_deck/assets/icons/checkCircle_sk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7104" y="3310128"/>
            <a:ext cx="219456" cy="219456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6876288" y="3236976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22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OEM·ODM 거래처 품질 감사 대응 역량 강화</a:t>
            </a:r>
            <a:endParaRPr lang="en-US" sz="1150" dirty="0"/>
          </a:p>
        </p:txBody>
      </p:sp>
      <p:pic>
        <p:nvPicPr>
          <p:cNvPr id="25" name="Image 8" descr="/tmp/pitch_deck/assets/icons/checkCircle_sk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7104" y="3858768"/>
            <a:ext cx="219456" cy="219456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6876288" y="3785616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22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품질 관리 역량 → 차별화 경쟁 요소 활용</a:t>
            </a:r>
            <a:endParaRPr lang="en-US" sz="1150" dirty="0"/>
          </a:p>
        </p:txBody>
      </p:sp>
      <p:pic>
        <p:nvPicPr>
          <p:cNvPr id="27" name="Image 9" descr="/tmp/pitch_deck/assets/icons/checkCircle_sk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7104" y="4407408"/>
            <a:ext cx="219456" cy="219456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6876288" y="4334256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22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 30억원 증대 기대 (신규 거래처 확보)</a:t>
            </a:r>
            <a:endParaRPr lang="en-US" sz="1150" dirty="0"/>
          </a:p>
        </p:txBody>
      </p:sp>
      <p:sp>
        <p:nvSpPr>
          <p:cNvPr id="29" name="Shape 17"/>
          <p:cNvSpPr/>
          <p:nvPr/>
        </p:nvSpPr>
        <p:spPr>
          <a:xfrm>
            <a:off x="502920" y="5212080"/>
            <a:ext cx="11192256" cy="768096"/>
          </a:xfrm>
          <a:prstGeom prst="roundRect">
            <a:avLst>
              <a:gd name="adj" fmla="val 16667"/>
            </a:avLst>
          </a:prstGeom>
          <a:solidFill>
            <a:srgbClr val="1329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18"/>
          <p:cNvSpPr/>
          <p:nvPr/>
        </p:nvSpPr>
        <p:spPr>
          <a:xfrm>
            <a:off x="731520" y="5212079"/>
            <a:ext cx="10698480" cy="768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alt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</a:t>
            </a:r>
            <a:r>
              <a:rPr lang="ko-KR" alt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기반 공정 최적화를 통해 제조원가와 생산 손실을 절감하고</a:t>
            </a:r>
            <a:r>
              <a:rPr lang="en-US" alt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 신뢰성을 향상하여</a:t>
            </a:r>
            <a:r>
              <a:rPr lang="en-US" alt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</a:p>
          <a:p>
            <a:pPr>
              <a:lnSpc>
                <a:spcPct val="150000"/>
              </a:lnSpc>
            </a:pPr>
            <a:r>
              <a:rPr lang="ko-KR" alt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생산 경쟁력 강화와 신규 거래처 확보 및 매출 </a:t>
            </a:r>
            <a:r>
              <a:rPr lang="en-US" alt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</a:t>
            </a:r>
            <a:r>
              <a:rPr lang="ko-KR" alt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억원 증대를 실현하도록 하겠습니다</a:t>
            </a:r>
            <a:endParaRPr lang="en-US" sz="1300" dirty="0"/>
          </a:p>
        </p:txBody>
      </p:sp>
      <p:sp>
        <p:nvSpPr>
          <p:cNvPr id="31" name="Text 19"/>
          <p:cNvSpPr/>
          <p:nvPr/>
        </p:nvSpPr>
        <p:spPr>
          <a:xfrm>
            <a:off x="50292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5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(주)그립 × (주)세화피앤씨</a:t>
            </a:r>
            <a:endParaRPr lang="en-US" sz="900" dirty="0"/>
          </a:p>
        </p:txBody>
      </p:sp>
      <p:sp>
        <p:nvSpPr>
          <p:cNvPr id="32" name="Text 20"/>
          <p:cNvSpPr/>
          <p:nvPr/>
        </p:nvSpPr>
        <p:spPr>
          <a:xfrm>
            <a:off x="10774375" y="65196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5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E86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TRANSFORMATION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 전·후 비교 (As-Is → To-Be)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솔루션 도입으로 제조 운영 패러다임 전환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64208"/>
          <a:ext cx="11192256" cy="4032504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18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188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60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As-Is (현재)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To-Be (도입 후)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b="1" dirty="0">
                          <a:solidFill>
                            <a:srgbClr val="1329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수집</a:t>
                      </a:r>
                      <a:endParaRPr lang="en-US" sz="10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B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제어판넬 표시만, 저장 없음 · 배치별 이력 추적 완전 불가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B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다변량 시계열 채널 초·분·시간 주기 자동 수집 · 배치번호 기준 100% 디지털 기록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b="1" dirty="0">
                          <a:solidFill>
                            <a:srgbClr val="1329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품질-공정 연계</a:t>
                      </a:r>
                      <a:endParaRPr lang="en-US" sz="10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B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QC 데이터(엑셀)와 공정 데이터 완전 단절 · 불량 원인 규명 불가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B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배치 ID 기준 자동 1:1 매핑 · AI 학습 데이터셋 자동 생성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b="1" dirty="0">
                          <a:solidFill>
                            <a:srgbClr val="1329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불량 원인 분석</a:t>
                      </a:r>
                      <a:endParaRPr lang="en-US" sz="10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B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경험 기반 수동 추정 · 수 시간 이상 소요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B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SHAP 기반 AI 자동 원인 규명 · 수 초 이내 원인 변수 자동 제시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b="1" dirty="0">
                          <a:solidFill>
                            <a:srgbClr val="1329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품질 예측</a:t>
                      </a:r>
                      <a:endParaRPr lang="en-US" sz="10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B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배치 종료 후 QC 시험만 · 불량 사전 예측 불가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B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XGBoost 기반 배치 종료 전 품질 예측 · MAPE ≤ 5%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b="1" dirty="0">
                          <a:solidFill>
                            <a:srgbClr val="1329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설비 관리</a:t>
                      </a:r>
                      <a:endParaRPr lang="en-US" sz="10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B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고장 발생 후 사후 대응 · 돌발 정지 리스크 상존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B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Isolation Forest/LSTM-AE 이상 감지 · 고장 징후 조기 경보(24시간 전)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b="1" dirty="0">
                          <a:solidFill>
                            <a:srgbClr val="1329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제조 표준화</a:t>
                      </a:r>
                      <a:endParaRPr lang="en-US" sz="10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B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숙련 작업자 개인 경험 의존 · 노하우 집중 리스크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B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기반 제품별 최적 조건 DB화 · 신규 인력도 일관된 품질 구현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5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(주)그립 × (주)세화피앤씨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774375" y="65196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5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011680"/>
            <a:ext cx="5486400" cy="5486400"/>
          </a:xfrm>
          <a:prstGeom prst="ellipse">
            <a:avLst/>
          </a:prstGeom>
          <a:solidFill>
            <a:srgbClr val="2E86DE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144000" y="4114800"/>
            <a:ext cx="5029200" cy="5029200"/>
          </a:xfrm>
          <a:prstGeom prst="ellipse">
            <a:avLst/>
          </a:prstGeom>
          <a:solidFill>
            <a:srgbClr val="2E86DE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5FA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 요약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11155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배치형 화장품 제조공정의 시계열 운전데이터 기반</a:t>
            </a:r>
            <a:endParaRPr lang="en-US" sz="2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품질예측 및 불량원인 분석 시스템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02920" y="196596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9C8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(주)세화피앤씨 × (주)그립   |   운영기관: (재)충북테크노파크   |   총 사업비 90,800,000원 (지원금 80,000,000원)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514600"/>
            <a:ext cx="3611880" cy="1691640"/>
          </a:xfrm>
          <a:prstGeom prst="roundRect">
            <a:avLst>
              <a:gd name="adj" fmla="val 5405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3E5B8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731520" y="2715768"/>
            <a:ext cx="512064" cy="512064"/>
          </a:xfrm>
          <a:prstGeom prst="ellipse">
            <a:avLst/>
          </a:prstGeom>
          <a:solidFill>
            <a:srgbClr val="2E86D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/tmp/pitch_deck/assets/icons/databas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415" y="2838663"/>
            <a:ext cx="266273" cy="26627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1520" y="333756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수집 인프라 구축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31520" y="3630168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4D6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3년간 2,231배치 QC 데이터 보유 + 공정 시계열 데이터 추가 수집 → AI 학습 활용 가능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297680" y="2514600"/>
            <a:ext cx="3611880" cy="1691640"/>
          </a:xfrm>
          <a:prstGeom prst="roundRect">
            <a:avLst>
              <a:gd name="adj" fmla="val 5405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3E5B8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526280" y="2715768"/>
            <a:ext cx="512064" cy="512064"/>
          </a:xfrm>
          <a:prstGeom prst="ellipse">
            <a:avLst/>
          </a:prstGeom>
          <a:solidFill>
            <a:srgbClr val="2E86D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/tmp/pitch_deck/assets/icons/robo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9175" y="2838663"/>
            <a:ext cx="266273" cy="26627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526280" y="333756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솔루션 4종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526280" y="3630168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4D6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품질예측 · 불량판정 · 원인분석 · 이상감지  —  XGBoost + SHAP + Isolation Forest/LSTM-AE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8092440" y="2514600"/>
            <a:ext cx="3611880" cy="1691640"/>
          </a:xfrm>
          <a:prstGeom prst="roundRect">
            <a:avLst>
              <a:gd name="adj" fmla="val 5405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3E5B8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8321040" y="2715768"/>
            <a:ext cx="512064" cy="512064"/>
          </a:xfrm>
          <a:prstGeom prst="ellipse">
            <a:avLst/>
          </a:prstGeom>
          <a:solidFill>
            <a:srgbClr val="2E86D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2" descr="/tmp/pitch_deck/assets/icons/bullsey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3935" y="2838663"/>
            <a:ext cx="266273" cy="26627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321040" y="333756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KPI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8321040" y="3630168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4D6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Recall ≥ 90% / MAPE ≤ 5%  —  제형 7종(유화4·샴푸2·액상1) 기준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502920" y="4389120"/>
            <a:ext cx="11192256" cy="914400"/>
          </a:xfrm>
          <a:prstGeom prst="roundRect">
            <a:avLst>
              <a:gd name="adj" fmla="val 10000"/>
            </a:avLst>
          </a:prstGeom>
          <a:solidFill>
            <a:srgbClr val="0F254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3" descr="/tmp/pitch_deck/assets/icons/quoteLeft_sk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4599432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280160" y="4389120"/>
            <a:ext cx="10149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b="1" i="1" dirty="0">
                <a:solidFill>
                  <a:srgbClr val="EAF2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중소 제조기업의 경쟁력을 높이기 위한 현장의 제조데이터를 확보하고, 그 데이터로 품질·설비 개선을 AI로 연결하여 경영성과를 거두기 위함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50292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A0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(주)그립 × (주)세화피앤씨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0774375" y="65196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A0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2011680"/>
            <a:ext cx="5486400" cy="5486400"/>
          </a:xfrm>
          <a:prstGeom prst="ellipse">
            <a:avLst/>
          </a:prstGeom>
          <a:solidFill>
            <a:srgbClr val="2E86DE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502920" y="2377440"/>
            <a:ext cx="914400" cy="914400"/>
          </a:xfrm>
          <a:prstGeom prst="ellipse">
            <a:avLst/>
          </a:prstGeom>
          <a:solidFill>
            <a:srgbClr val="142033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/tmp/pitch_deck/assets/icons/book_sk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60604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3429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5FA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APPENDIX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02920" y="3730752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— Q&amp;A 백업 자료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502920" y="437083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9AAA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KPI 산출 공식 상세 · 3개년 </a:t>
            </a:r>
            <a:r>
              <a:rPr lang="en-US" sz="1300" dirty="0" err="1">
                <a:solidFill>
                  <a:srgbClr val="9AAA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</a:t>
            </a:r>
            <a:r>
              <a:rPr lang="en-US" sz="1300" dirty="0">
                <a:solidFill>
                  <a:srgbClr val="9AAA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300" dirty="0">
                <a:solidFill>
                  <a:srgbClr val="9AAA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대표적 </a:t>
            </a:r>
            <a:r>
              <a:rPr lang="en-US" sz="1300" dirty="0" err="1">
                <a:solidFill>
                  <a:srgbClr val="9AAA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부적합</a:t>
            </a:r>
            <a:r>
              <a:rPr lang="en-US" sz="1300" dirty="0">
                <a:solidFill>
                  <a:srgbClr val="9AAA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00" dirty="0" err="1">
                <a:solidFill>
                  <a:srgbClr val="9AAA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사례</a:t>
            </a:r>
            <a:r>
              <a:rPr lang="en-US" sz="1300" dirty="0">
                <a:solidFill>
                  <a:srgbClr val="9AAA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r>
              <a:rPr lang="ko-KR" altLang="en-US" sz="1300" dirty="0">
                <a:solidFill>
                  <a:srgbClr val="9AAA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제조공정기록서 </a:t>
            </a:r>
            <a:r>
              <a:rPr lang="en-US" altLang="ko-KR" sz="1300" dirty="0">
                <a:solidFill>
                  <a:srgbClr val="9AAA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300" dirty="0">
                <a:solidFill>
                  <a:srgbClr val="9AAA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</a:t>
            </a:r>
            <a:r>
              <a:rPr lang="en-US" altLang="ko-KR" sz="1300" dirty="0">
                <a:solidFill>
                  <a:srgbClr val="9AAA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)·</a:t>
            </a:r>
            <a:r>
              <a:rPr lang="en-US" altLang="ko-KR" sz="1300" dirty="0" err="1">
                <a:solidFill>
                  <a:srgbClr val="9AAA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진천공장</a:t>
            </a:r>
            <a:r>
              <a:rPr lang="en-US" altLang="ko-KR" sz="1300" dirty="0">
                <a:solidFill>
                  <a:srgbClr val="9AAA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300" dirty="0" err="1">
                <a:solidFill>
                  <a:srgbClr val="9AAA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스마트시스템</a:t>
            </a:r>
            <a:r>
              <a:rPr lang="en-US" altLang="ko-KR" sz="1300" dirty="0">
                <a:solidFill>
                  <a:srgbClr val="9AAA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300" dirty="0" err="1">
                <a:solidFill>
                  <a:srgbClr val="9AAA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구축</a:t>
            </a:r>
            <a:r>
              <a:rPr lang="en-US" altLang="ko-KR" sz="1300" dirty="0">
                <a:solidFill>
                  <a:srgbClr val="9AAA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300" dirty="0" err="1">
                <a:solidFill>
                  <a:srgbClr val="9AAA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현황</a:t>
            </a:r>
            <a:r>
              <a:rPr lang="en-US" altLang="ko-KR" sz="1300" dirty="0">
                <a:solidFill>
                  <a:srgbClr val="9AAA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A0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(주)그립 × (주)세화피앤씨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774375" y="65196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A0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E86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APPENDIX · KPI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KPI 측정 방법 및 산출 공식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핵심지표 적절성 — 객관적 산출 기준 명시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627632"/>
            <a:ext cx="11192256" cy="1353312"/>
          </a:xfrm>
          <a:prstGeom prst="roundRect">
            <a:avLst>
              <a:gd name="adj" fmla="val 6757"/>
            </a:avLst>
          </a:prstGeom>
          <a:solidFill>
            <a:srgbClr val="EAF2FC"/>
          </a:solidFill>
          <a:ln/>
          <a:effectLst>
            <a:outerShdw blurRad="88900" dist="25400" dir="5400000" algn="bl" rotWithShape="0">
              <a:srgbClr val="13294B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77240" y="17556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KPI 1 — 데이터 수집 인프라 구축 확인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77240" y="206654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산출공식: RS-485 제어판넬 6대 설치 확인 + IoT 게이트웨이 6대 정상 연동 확인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77240" y="2505456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측정방법: 현장 설치 사진, 통신 연결 테스트 로그, 데이터 수집 DB 레코드 확인</a:t>
            </a:r>
            <a:endParaRPr lang="en-US" sz="970" dirty="0"/>
          </a:p>
        </p:txBody>
      </p:sp>
      <p:sp>
        <p:nvSpPr>
          <p:cNvPr id="9" name="Shape 7"/>
          <p:cNvSpPr/>
          <p:nvPr/>
        </p:nvSpPr>
        <p:spPr>
          <a:xfrm>
            <a:off x="502920" y="3072384"/>
            <a:ext cx="11192256" cy="1353312"/>
          </a:xfrm>
          <a:prstGeom prst="roundRect">
            <a:avLst>
              <a:gd name="adj" fmla="val 6757"/>
            </a:avLst>
          </a:prstGeom>
          <a:solidFill>
            <a:srgbClr val="EAF2FC"/>
          </a:solidFill>
          <a:ln/>
          <a:effectLst>
            <a:outerShdw blurRad="88900" dist="25400" dir="5400000" algn="bl" rotWithShape="0">
              <a:srgbClr val="13294B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77240" y="320040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KPI 2 — 불량 판정 재현율 (Recall)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77240" y="3511296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산출공식: Recall = TP ÷ (TP + FN)   ※ TP: 실제 불량을 올바르게 판정 / FN: 실제 불량을 정상으로 오판정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77240" y="395020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측정방법: 시간기반 분할(Time-based Split) 테스트셋으로 혼동행렬 산출, Threshold 0.3 적용(Recall 우선 설계), 제형 7종 각각 측정 후 평균</a:t>
            </a:r>
            <a:endParaRPr lang="en-US" sz="970" dirty="0"/>
          </a:p>
        </p:txBody>
      </p:sp>
      <p:sp>
        <p:nvSpPr>
          <p:cNvPr id="13" name="Shape 11"/>
          <p:cNvSpPr/>
          <p:nvPr/>
        </p:nvSpPr>
        <p:spPr>
          <a:xfrm>
            <a:off x="502920" y="4517136"/>
            <a:ext cx="11192256" cy="1353312"/>
          </a:xfrm>
          <a:prstGeom prst="roundRect">
            <a:avLst>
              <a:gd name="adj" fmla="val 6757"/>
            </a:avLst>
          </a:prstGeom>
          <a:solidFill>
            <a:srgbClr val="EAF2FC"/>
          </a:solidFill>
          <a:ln/>
          <a:effectLst>
            <a:outerShdw blurRad="88900" dist="25400" dir="5400000" algn="bl" rotWithShape="0">
              <a:srgbClr val="13294B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777240" y="464515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KPI 3 — 품질 예측 오차 (MAPE)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77240" y="495604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산출공식: MAPE = (1/n) × Σ|실제값-예측값| / |실제값| × 100(%)   ※ n: 테스트셋 배치 수, 주요 측정 항목: 점도(cP)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77240" y="539496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측정방법: 시간기반 테스트셋 기준 산출(학습 데이터 이후 배치 대상), 제형 7종 각각 측정 후 평균</a:t>
            </a:r>
            <a:endParaRPr lang="en-US" sz="970" dirty="0"/>
          </a:p>
        </p:txBody>
      </p:sp>
      <p:sp>
        <p:nvSpPr>
          <p:cNvPr id="17" name="Text 15"/>
          <p:cNvSpPr/>
          <p:nvPr/>
        </p:nvSpPr>
        <p:spPr>
          <a:xfrm>
            <a:off x="502920" y="5980176"/>
            <a:ext cx="11192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i="1" dirty="0">
                <a:solidFill>
                  <a:srgbClr val="8A95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모든 KPI는 TTA(한국정보통신기술협회) 검증을 통해 객관적으로 확인 · 제형 7종(유화4·샴푸2·액상1) 각각 측정 후 결과 제출</a:t>
            </a:r>
            <a:endParaRPr lang="en-US" sz="1030" dirty="0"/>
          </a:p>
        </p:txBody>
      </p:sp>
      <p:sp>
        <p:nvSpPr>
          <p:cNvPr id="18" name="Text 16"/>
          <p:cNvSpPr/>
          <p:nvPr/>
        </p:nvSpPr>
        <p:spPr>
          <a:xfrm>
            <a:off x="50292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5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(주)그립 × (주)세화피앤씨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774375" y="65196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5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E86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APPENDIX ·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3개년 </a:t>
            </a:r>
            <a:r>
              <a:rPr lang="en-US" sz="2700" b="1" dirty="0" err="1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</a:t>
            </a:r>
            <a:r>
              <a:rPr lang="en-US" sz="270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270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</a:t>
            </a:r>
            <a:r>
              <a:rPr lang="en-US" sz="2700" b="1" dirty="0" err="1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부적합</a:t>
            </a:r>
            <a:r>
              <a:rPr lang="en-US" sz="270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700" b="1" dirty="0" err="1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사례</a:t>
            </a:r>
            <a:r>
              <a:rPr lang="en-US" sz="270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(2023~2025)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22건 — 대부분 재작업(호모 교반·원료 추가 투입) 후 적합 판정으로 처리</a:t>
            </a:r>
            <a:endParaRPr lang="en-US" sz="13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83080"/>
          <a:ext cx="11192256" cy="3657600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511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발생일자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제품명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부적합 내용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결과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0" b="1" dirty="0">
                          <a:solidFill>
                            <a:srgbClr val="1329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2023</a:t>
                      </a:r>
                      <a:endParaRPr lang="en-US" sz="9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02.17</a:t>
                      </a:r>
                      <a:endParaRPr lang="en-US" sz="9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이지모제모크림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점도 낮음 (12,500cps / 기준 20,000~30,000)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844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재처리 후 적합 (20,950cps)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0" b="1" dirty="0">
                          <a:solidFill>
                            <a:srgbClr val="1329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2023</a:t>
                      </a:r>
                      <a:endParaRPr lang="en-US" sz="9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07.07</a:t>
                      </a:r>
                      <a:endParaRPr lang="en-US" sz="9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프로샤프칼라크림 5지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점도 낮음 (6,600cps / 기준 10,000~20,000)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844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재처리 후 적합 (12,000cps)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0" b="1" dirty="0">
                          <a:solidFill>
                            <a:srgbClr val="1329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2024</a:t>
                      </a:r>
                      <a:endParaRPr lang="en-US" sz="9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01.30</a:t>
                      </a:r>
                      <a:endParaRPr lang="en-US" sz="9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모레모케라틴헤어컬러 애쉬그레이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점도 낮음 (7,000cps / 기준 10,000~20,000)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844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재처리 후 적합 (18,700cps)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0" b="1" dirty="0">
                          <a:solidFill>
                            <a:srgbClr val="1329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2024</a:t>
                      </a:r>
                      <a:endParaRPr lang="en-US" sz="9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07.29</a:t>
                      </a:r>
                      <a:endParaRPr lang="en-US" sz="9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심플리카캐비어쓰리디페이스앤넥리프트업크림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필제 뭉침 현상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844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재교반 후 혼합상태 확인 적합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0" b="1" dirty="0">
                          <a:solidFill>
                            <a:srgbClr val="1329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2025</a:t>
                      </a:r>
                      <a:endParaRPr lang="en-US" sz="9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02.26</a:t>
                      </a:r>
                      <a:endParaRPr lang="en-US" sz="9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글피오핑크퍼퍼플럼퍼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색소 분산 불량 (침전 현상)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844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재교반 후 분산 확인 적합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0" b="1" dirty="0">
                          <a:solidFill>
                            <a:srgbClr val="1329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2025</a:t>
                      </a:r>
                      <a:endParaRPr lang="en-US" sz="9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04.18</a:t>
                      </a:r>
                      <a:endParaRPr lang="en-US" sz="9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모레모 리커버리 밤비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점도 낮음 (Structure XL 투입온도 확인)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844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익일 점도형성 확인 후 적합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0" b="1" dirty="0">
                          <a:solidFill>
                            <a:srgbClr val="1329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2025</a:t>
                      </a:r>
                      <a:endParaRPr lang="en-US" sz="9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09.22</a:t>
                      </a:r>
                      <a:endParaRPr lang="en-US" sz="9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헤나스피디헤어칼라크림 7호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성상 부적합 (매끄럽지 않고 불안정)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844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재유화 2회 진행 후 적합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5605272"/>
            <a:ext cx="11192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연도별 발생 건수   2023년 6건 · 2024년 7건 · 2025년 9건  (총 22건 / 3년 누적 2,231배치 대비 약 1%)   ※ 대표 사례 7건 발췌 표기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0292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5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(주)그립 × (주)세화피앤씨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774375" y="65196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5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91C3D-C648-D800-EE6F-FCE8C690A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4">
            <a:extLst>
              <a:ext uri="{FF2B5EF4-FFF2-40B4-BE49-F238E27FC236}">
                <a16:creationId xmlns:a16="http://schemas.microsoft.com/office/drawing/2014/main" id="{D2FDDBB1-EFD4-8B2C-94B1-AFBB320D93F6}"/>
              </a:ext>
            </a:extLst>
          </p:cNvPr>
          <p:cNvSpPr/>
          <p:nvPr/>
        </p:nvSpPr>
        <p:spPr>
          <a:xfrm>
            <a:off x="50292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5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(주)그립 × (주)세화피앤씨</a:t>
            </a:r>
            <a:endParaRPr lang="en-US" sz="9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E9B18E4A-0CA5-EE90-F9FE-48C4886399E3}"/>
              </a:ext>
            </a:extLst>
          </p:cNvPr>
          <p:cNvSpPr/>
          <p:nvPr/>
        </p:nvSpPr>
        <p:spPr>
          <a:xfrm>
            <a:off x="10774375" y="65196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5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900" dirty="0"/>
          </a:p>
        </p:txBody>
      </p:sp>
      <p:sp>
        <p:nvSpPr>
          <p:cNvPr id="10" name="Text 0">
            <a:extLst>
              <a:ext uri="{FF2B5EF4-FFF2-40B4-BE49-F238E27FC236}">
                <a16:creationId xmlns:a16="http://schemas.microsoft.com/office/drawing/2014/main" id="{00C93BC2-DFD1-83AB-9A94-2C9A10F3C4A7}"/>
              </a:ext>
            </a:extLst>
          </p:cNvPr>
          <p:cNvSpPr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E86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APPENDIX · INFRA</a:t>
            </a:r>
            <a:endParaRPr lang="en-US" sz="1200" dirty="0"/>
          </a:p>
        </p:txBody>
      </p:sp>
      <p:sp>
        <p:nvSpPr>
          <p:cNvPr id="12" name="Text 1">
            <a:extLst>
              <a:ext uri="{FF2B5EF4-FFF2-40B4-BE49-F238E27FC236}">
                <a16:creationId xmlns:a16="http://schemas.microsoft.com/office/drawing/2014/main" id="{D887D88A-4900-2BB6-71BE-1205689C6411}"/>
              </a:ext>
            </a:extLst>
          </p:cNvPr>
          <p:cNvSpPr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세화피앤씨 진천공장 스마트시스템 구축 현황</a:t>
            </a:r>
            <a:endParaRPr lang="en-US" sz="2700" dirty="0"/>
          </a:p>
        </p:txBody>
      </p:sp>
      <p:sp>
        <p:nvSpPr>
          <p:cNvPr id="14" name="Text 2">
            <a:extLst>
              <a:ext uri="{FF2B5EF4-FFF2-40B4-BE49-F238E27FC236}">
                <a16:creationId xmlns:a16="http://schemas.microsoft.com/office/drawing/2014/main" id="{3B4D5A4C-C4B0-7684-1413-35FEE2602EFC}"/>
              </a:ext>
            </a:extLst>
          </p:cNvPr>
          <p:cNvSpPr/>
          <p:nvPr/>
        </p:nvSpPr>
        <p:spPr>
          <a:xfrm>
            <a:off x="502920" y="120700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구축된 시스템과 본 사업 수집 대상 데이터의 관계</a:t>
            </a:r>
            <a:endParaRPr lang="en-US" sz="1300" dirty="0"/>
          </a:p>
        </p:txBody>
      </p:sp>
      <p:graphicFrame>
        <p:nvGraphicFramePr>
          <p:cNvPr id="16" name="Table 0">
            <a:extLst>
              <a:ext uri="{FF2B5EF4-FFF2-40B4-BE49-F238E27FC236}">
                <a16:creationId xmlns:a16="http://schemas.microsoft.com/office/drawing/2014/main" id="{E195255A-7E14-7137-9DF5-038B990238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193325"/>
              </p:ext>
            </p:extLst>
          </p:nvPr>
        </p:nvGraphicFramePr>
        <p:xfrm>
          <a:off x="502920" y="1783080"/>
          <a:ext cx="11192256" cy="3200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17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817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명칭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86D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RWS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원료칭량시스템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B6B8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Raw material Weighing System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86D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MES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제조실행시스템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B6B8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Manufacturing Execution System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86D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ERP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전사적 자원관리시스템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B6B8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Enterprise Resource Planning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86D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WMS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창고관리시스템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B6B8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Warehouse Management System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86D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DSS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재난안전시스템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B6B8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Disaster Safety System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86D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EMP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온라인 물류관리시스템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B6B8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송장출력 분류 배송시스템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" name="Shape 3">
            <a:extLst>
              <a:ext uri="{FF2B5EF4-FFF2-40B4-BE49-F238E27FC236}">
                <a16:creationId xmlns:a16="http://schemas.microsoft.com/office/drawing/2014/main" id="{80FCC959-37AE-F4E8-9E80-4BE879DB8AE2}"/>
              </a:ext>
            </a:extLst>
          </p:cNvPr>
          <p:cNvSpPr/>
          <p:nvPr/>
        </p:nvSpPr>
        <p:spPr>
          <a:xfrm>
            <a:off x="502920" y="5212080"/>
            <a:ext cx="11192256" cy="777240"/>
          </a:xfrm>
          <a:prstGeom prst="roundRect">
            <a:avLst>
              <a:gd name="adj" fmla="val 11765"/>
            </a:avLst>
          </a:prstGeom>
          <a:solidFill>
            <a:srgbClr val="EAF2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4">
            <a:extLst>
              <a:ext uri="{FF2B5EF4-FFF2-40B4-BE49-F238E27FC236}">
                <a16:creationId xmlns:a16="http://schemas.microsoft.com/office/drawing/2014/main" id="{748397C5-ED68-725D-636A-631D33672E8C}"/>
              </a:ext>
            </a:extLst>
          </p:cNvPr>
          <p:cNvSpPr/>
          <p:nvPr/>
        </p:nvSpPr>
        <p:spPr>
          <a:xfrm>
            <a:off x="731520" y="5349240"/>
            <a:ext cx="502920" cy="502920"/>
          </a:xfrm>
          <a:prstGeom prst="ellipse">
            <a:avLst/>
          </a:prstGeom>
          <a:solidFill>
            <a:srgbClr val="2E86D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0" descr="/tmp/pitch_deck/assets/icons/idBadge_white.png">
            <a:extLst>
              <a:ext uri="{FF2B5EF4-FFF2-40B4-BE49-F238E27FC236}">
                <a16:creationId xmlns:a16="http://schemas.microsoft.com/office/drawing/2014/main" id="{34455D30-2A9D-B40F-FBFA-6441B75DB6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1" y="5469941"/>
            <a:ext cx="261518" cy="261518"/>
          </a:xfrm>
          <a:prstGeom prst="rect">
            <a:avLst/>
          </a:prstGeom>
        </p:spPr>
      </p:pic>
      <p:sp>
        <p:nvSpPr>
          <p:cNvPr id="25" name="Text 5">
            <a:extLst>
              <a:ext uri="{FF2B5EF4-FFF2-40B4-BE49-F238E27FC236}">
                <a16:creationId xmlns:a16="http://schemas.microsoft.com/office/drawing/2014/main" id="{E19372CD-A569-4AEE-F166-C18FED5FD680}"/>
              </a:ext>
            </a:extLst>
          </p:cNvPr>
          <p:cNvSpPr/>
          <p:nvPr/>
        </p:nvSpPr>
        <p:spPr>
          <a:xfrm>
            <a:off x="1417320" y="528523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MES·ERP 등은 배치·자재 흐름 관리(생산 실적, 재고, 자재 이동)를 목적으로 하며, 본 사업이 신규 수집하는 유상·수상·혼합 믹서의 실시간 온도·RPM·전류·운전시간 등 설비 공정 파라미터는 기존 시스템의 수집 범위에 포함되어 있지 않습니다.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0117362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4E6D5-AAD1-8F28-FDE7-15E8CED68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FC288B5-1D47-478A-A962-D60D7FF90B9A}"/>
              </a:ext>
            </a:extLst>
          </p:cNvPr>
          <p:cNvSpPr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E86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APPENDIX · DATA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715DAB5-DF2B-31FC-4BC4-A913690CA675}"/>
              </a:ext>
            </a:extLst>
          </p:cNvPr>
          <p:cNvSpPr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70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제조공정기록서 </a:t>
            </a:r>
            <a:r>
              <a:rPr lang="en-US" altLang="ko-KR" sz="270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270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</a:t>
            </a:r>
            <a:r>
              <a:rPr lang="en-US" altLang="ko-KR" sz="270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27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B37D5AE0-76B7-5D09-8D58-C2ED6575F9A1}"/>
              </a:ext>
            </a:extLst>
          </p:cNvPr>
          <p:cNvSpPr/>
          <p:nvPr/>
        </p:nvSpPr>
        <p:spPr>
          <a:xfrm>
            <a:off x="50292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5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(주)그립 × (주)세화피앤씨</a:t>
            </a:r>
            <a:endParaRPr lang="en-US" sz="9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6C7323F1-87F4-D20B-3BE5-03343AB8A3DE}"/>
              </a:ext>
            </a:extLst>
          </p:cNvPr>
          <p:cNvSpPr/>
          <p:nvPr/>
        </p:nvSpPr>
        <p:spPr>
          <a:xfrm>
            <a:off x="10774375" y="65196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5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9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39910D35-5C0F-F2F2-57BC-401DD9E9CD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621" y="1141459"/>
            <a:ext cx="9962758" cy="5332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8440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3328</Words>
  <Application>Microsoft Office PowerPoint</Application>
  <PresentationFormat>와이드스크린</PresentationFormat>
  <Paragraphs>586</Paragraphs>
  <Slides>24</Slides>
  <Notes>24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29" baseType="lpstr">
      <vt:lpstr>KoPubWorld돋움체 Bold</vt:lpstr>
      <vt:lpstr>Malgun Gothic</vt:lpstr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문교 정</cp:lastModifiedBy>
  <cp:revision>7</cp:revision>
  <dcterms:created xsi:type="dcterms:W3CDTF">2026-08-22T12:03:11Z</dcterms:created>
  <dcterms:modified xsi:type="dcterms:W3CDTF">2026-08-24T02:24:21Z</dcterms:modified>
</cp:coreProperties>
</file>