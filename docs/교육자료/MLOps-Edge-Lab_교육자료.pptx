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4672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74320" y="6446520"/>
            <a:ext cx="11612880" cy="13716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0" y="6519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0" i="1" dirty="0">
                <a:solidFill>
                  <a:schemeClr val="accent1">
                    <a:lumMod val="75000"/>
                  </a:schemeClr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Confidential</a:t>
            </a:r>
            <a:endParaRPr lang="en-US" sz="1000" b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96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6464"/>
                </a:solidFill>
                <a:latin typeface="KoPubWorld돋움체 Medium"/>
                <a:ea typeface="KoPubWorld돋움체 Medium"/>
                <a:cs typeface="KoPubWorld돋움체 Medium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682505F-77E2-EE7A-E86B-AD76951F06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" y="6496574"/>
            <a:ext cx="356227" cy="324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5C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96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6464"/>
                </a:solidFill>
                <a:latin typeface="KoPubWorld돋움체 Medium"/>
                <a:ea typeface="KoPubWorld돋움체 Medium"/>
                <a:cs typeface="KoPubWorld돋움체 Medium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nice-sharp-cerf/mnt/Claude Skill/assets/cover-bg-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78745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산업안전 sLLM 파이프라인 — 개발자 아키텍처 &amp; 사업 활용 제안</a:t>
            </a:r>
            <a:r>
              <a:rPr lang="en-US" sz="1600" dirty="0" err="1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/>
            </a:r>
            <a:r>
              <a:rPr lang="en-US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/>
            </a:r>
            <a:r>
              <a:rPr lang="en-US" sz="1600" dirty="0" err="1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/>
            </a:r>
            <a:r>
              <a:rPr lang="en-US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/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57200" y="1425166"/>
            <a:ext cx="344978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MLOps-Edge-Lab</a:t>
            </a:r>
            <a:r>
              <a:rPr lang="ko-KR" altLang="en-US" sz="3600" b="1" dirty="0" err="1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en-US" altLang="ko-KR" sz="36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7006706" y="481215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"LINK Everything, THINK Everyone"</a:t>
            </a:r>
            <a:endParaRPr lang="en-US" sz="16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16AE9AA-3895-F613-1011-A33956C2AE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50846" y="2471707"/>
            <a:ext cx="1803354" cy="180335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3356036-F9EB-FEE6-F68E-01E956DE7DD4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854" y="71064"/>
            <a:ext cx="507681" cy="507681"/>
          </a:xfrm>
          <a:prstGeom prst="rect">
            <a:avLst/>
          </a:prstGeom>
        </p:spPr>
      </p:pic>
      <p:sp>
        <p:nvSpPr>
          <p:cNvPr id="17" name="Text 1">
            <a:extLst>
              <a:ext uri="{FF2B5EF4-FFF2-40B4-BE49-F238E27FC236}">
                <a16:creationId xmlns:a16="http://schemas.microsoft.com/office/drawing/2014/main" id="{F2F00B17-3F5A-98AD-FE53-4CEB8199B220}"/>
              </a:ext>
            </a:extLst>
          </p:cNvPr>
          <p:cNvSpPr/>
          <p:nvPr/>
        </p:nvSpPr>
        <p:spPr>
          <a:xfrm>
            <a:off x="457200" y="5021354"/>
            <a:ext cx="344978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2026년 09월</a:t>
            </a:r>
            <a:r>
              <a:rPr lang="ko-KR" altLang="en-US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/>
            </a:r>
            <a:r>
              <a:rPr lang="en-US" altLang="ko-KR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/>
            </a:r>
            <a:r>
              <a:rPr lang="ko-KR" altLang="en-US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/>
            </a:r>
            <a:endParaRPr lang="en-US" altLang="ko-KR" sz="1600" dirty="0"/>
          </a:p>
          <a:p>
            <a:pPr marL="0" indent="0">
              <a:buNone/>
            </a:pPr>
            <a:endParaRPr lang="en-US" b="1" dirty="0">
              <a:solidFill>
                <a:srgbClr val="FFFFFF"/>
              </a:solidFill>
              <a:latin typeface="KoPubWorld돋움체 Bold" pitchFamily="34" charset="0"/>
              <a:ea typeface="KoPubWorld돋움체 Bold" pitchFamily="34" charset="-122"/>
              <a:cs typeface="KoPubWorld돋움체 Bold" pitchFamily="34" charset="-120"/>
            </a:endParaRPr>
          </a:p>
          <a:p>
            <a:pPr marL="0" indent="0">
              <a:buNone/>
            </a:pPr>
            <a:r>
              <a:rPr lang="en-US" b="1" dirty="0" err="1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주식회사</a:t>
            </a:r>
            <a:r>
              <a:rPr lang="en-US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 그립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365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S.P.N.D. 디지털전환 및 융합 솔루션 전문기업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주식회사 그립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97680" y="2194560"/>
            <a:ext cx="5486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66F9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297680" y="21945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66F9F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Ⅰ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0" y="21945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프로젝트 개요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97680" y="3063240"/>
            <a:ext cx="5486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66F9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297680" y="30632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66F9F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Ⅱ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0" y="30632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개발자 레퍼런스 아키텍처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97680" y="3931920"/>
            <a:ext cx="5486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66F9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297680" y="39319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66F9F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Ⅲ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29200" y="39319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사업 활용 제안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0EC8C7-390D-C1F1-1C7F-91AEB1D4AD8A}"/>
              </a:ext>
            </a:extLst>
          </p:cNvPr>
          <p:cNvSpPr txBox="1"/>
          <p:nvPr/>
        </p:nvSpPr>
        <p:spPr>
          <a:xfrm>
            <a:off x="1258264" y="1449590"/>
            <a:ext cx="276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Contents</a:t>
            </a:r>
            <a:endParaRPr lang="ko-KR" altLang="en-US" sz="3600" b="1" dirty="0">
              <a:solidFill>
                <a:schemeClr val="bg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5CFC66E-4BFE-1B11-B8E2-45F12D6FF684}"/>
              </a:ext>
            </a:extLst>
          </p:cNvPr>
          <p:cNvSpPr/>
          <p:nvPr/>
        </p:nvSpPr>
        <p:spPr>
          <a:xfrm>
            <a:off x="3712040" y="1449590"/>
            <a:ext cx="62180" cy="50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2E7BB8">
              <a:alpha val="55000"/>
            </a:srgbClr>
          </a:solidFill>
          <a:ln/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548640" y="1828800"/>
            <a:ext cx="91440" cy="3200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14400" y="1963271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8" name="Shape 5"/>
          <p:cNvSpPr/>
          <p:nvPr/>
        </p:nvSpPr>
        <p:spPr>
          <a:xfrm>
            <a:off x="914400" y="4754880"/>
            <a:ext cx="10058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(주)그립 (Grib Co., Ltd.)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5349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서울특별시 서초구 효령로 242 서양빌딩 5층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jeffrey@grib.co.kr · github.com/grib-arws-bot/mlops-edge-lab · 02-521-6542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D221DC5-3C6D-0BCD-AEC3-78738031B6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39699" y="3218599"/>
            <a:ext cx="1444842" cy="14448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059936" y="0"/>
            <a:ext cx="4059936" cy="6858000"/>
          </a:xfrm>
          <a:prstGeom prst="rect">
            <a:avLst/>
          </a:prstGeom>
          <a:solidFill>
            <a:srgbClr val="266F9F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19872" y="0"/>
            <a:ext cx="4069080" cy="6858000"/>
          </a:xfrm>
          <a:prstGeom prst="rect">
            <a:avLst/>
          </a:prstGeom>
          <a:solidFill>
            <a:srgbClr val="2E7BB8">
              <a:alpha val="50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0" y="30175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프로젝트 개요</a:t>
            </a:r>
            <a:endParaRPr lang="en-US" sz="4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07E4E87-9576-AD62-62DC-E2F40EB8EA51}"/>
              </a:ext>
            </a:extLst>
          </p:cNvPr>
          <p:cNvSpPr/>
          <p:nvPr/>
        </p:nvSpPr>
        <p:spPr>
          <a:xfrm>
            <a:off x="5815584" y="2554781"/>
            <a:ext cx="548640" cy="50292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Ⅰ</a:t>
            </a:r>
            <a:endParaRPr lang="en-US" sz="2000" dirty="0">
              <a:solidFill>
                <a:schemeClr val="bg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프로젝트 개요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1. 프로젝트 한눈에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2606040" cy="109728"/>
          </a:xfrm>
          <a:prstGeom prst="rect">
            <a:avLst/>
          </a:prstGeom>
          <a:solidFill>
            <a:srgbClr val="2E7BB8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2487168"/>
            <a:ext cx="26060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292608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738건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산업안전 문서 처리 (100%)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2377440"/>
            <a:ext cx="2606040" cy="109728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337560" y="2487168"/>
            <a:ext cx="26060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337560" y="292608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2.3GB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337560" y="4663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양자화 모델 크기 (원본 7.5GB)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377440"/>
            <a:ext cx="2606040" cy="109728"/>
          </a:xfrm>
          <a:prstGeom prst="rect">
            <a:avLst/>
          </a:prstGeom>
          <a:solidFill>
            <a:srgbClr val="266F9F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217920" y="2487168"/>
            <a:ext cx="26060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217920" y="292608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6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3.7배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217920" y="4663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GPU 가속 (CPU 대비)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98280" y="2377440"/>
            <a:ext cx="2606040" cy="109728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098280" y="2487168"/>
            <a:ext cx="26060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098280" y="292608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4종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9098280" y="4663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표준 MLOps 요소 구현</a:t>
            </a:r>
            <a:endParaRPr lang="en-US" sz="11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96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6464"/>
                </a:solidFill>
                <a:latin typeface="KoPubWorld돋움체 Medium"/>
                <a:ea typeface="KoPubWorld돋움체 Medium"/>
                <a:cs typeface="KoPubWorld돋움체 Medium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 프로젝트 한눈에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사내 GPU 서버 하나로 완결하는 온프레미스 sLLM 파이프라인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프로젝트 개요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2. 전체 파이프라인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2. 전체 파이프라인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8단계로 구성된 엔드투엔드 MLOps 파이프라인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2011680"/>
            <a:ext cx="11274552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1~3단계 — 데이터에서 모델까지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① 인프라: uv · MLflow · tmux</a:t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② 데이터 추출: 문서 738건 → 텍스트</a:t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HWP·PDF·이미지·ZIP 폴백 사슬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lang="en-US"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③ 파인튜닝: Qwen3-4B + LoRA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4~6단계 — 경량화에서 서빙까지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④ 양자화: GGUF Q4_K_M (7.5GB→2.3GB)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⑤ RAG: 문서 근거 기반 응답 생성</a:t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⑥ Agent: 규칙(판정) · LLM(문구) 역할 분리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7~8단계 — 엣지 검증 + 표준 MLOps 4요소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프로젝트 개요</a:t>
            </a:r>
            <a:endParaRPr lang="en-US" altLang="ko-KR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3. 왜 온프레미스인가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3. 왜 온프레미스인가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산업 현장의 네트워크·프라이버시 제약이 곧 존재 이유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011680"/>
            <a:ext cx="5454396" cy="91440"/>
          </a:xfrm>
          <a:prstGeom prst="rect">
            <a:avLst/>
          </a:prstGeom>
          <a:solidFill>
            <a:srgbClr val="1F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5C8C"/>
                </a:solidFill>
                <a:latin typeface="KoPubWorld돋움체 Medium"/>
                <a:ea typeface="KoPubWorld돋움체 Medium"/>
              </a:rPr>
              <a:t>산업안전 현장의 제약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현장 네트워크 단절·보안망 다수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클라우드 LLM 사용 불가 구간 존재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엣지 디바이스 사양 다양 (GPU 유무)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실시간 장비 제어 필요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7356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77356" y="2011680"/>
            <a:ext cx="5454396" cy="91440"/>
          </a:xfrm>
          <a:prstGeom prst="rect">
            <a:avLst/>
          </a:prstGeom>
          <a:solidFill>
            <a:srgbClr val="2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51676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BB8"/>
                </a:solidFill>
                <a:latin typeface="KoPubWorld돋움체 Medium"/>
                <a:ea typeface="KoPubWorld돋움체 Medium"/>
              </a:rPr>
              <a:t>온프레미스 sLLM의 강점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51676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완전 로컬 추론, 외부 전송 없음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경량화로 저사양 디바이스 대응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GPU 유무 무관, 동일 파일로 서빙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규칙+LLM 분리로 안전성 확보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059936" y="0"/>
            <a:ext cx="4059936" cy="6858000"/>
          </a:xfrm>
          <a:prstGeom prst="rect">
            <a:avLst/>
          </a:prstGeom>
          <a:solidFill>
            <a:srgbClr val="266F9F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19872" y="0"/>
            <a:ext cx="4069080" cy="6858000"/>
          </a:xfrm>
          <a:prstGeom prst="rect">
            <a:avLst/>
          </a:prstGeom>
          <a:solidFill>
            <a:srgbClr val="2E7BB8">
              <a:alpha val="50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0" y="30175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개발자 레퍼런스 아키텍처</a:t>
            </a:r>
            <a:endParaRPr lang="en-US" sz="4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07E4E87-9576-AD62-62DC-E2F40EB8EA51}"/>
              </a:ext>
            </a:extLst>
          </p:cNvPr>
          <p:cNvSpPr/>
          <p:nvPr/>
        </p:nvSpPr>
        <p:spPr>
          <a:xfrm>
            <a:off x="5815584" y="2554781"/>
            <a:ext cx="548640" cy="50292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Ⅱ</a:t>
            </a:r>
            <a:endParaRPr lang="en-US" sz="2000" dirty="0">
              <a:solidFill>
                <a:schemeClr val="bg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개발자 레퍼런스 아키텍처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1. 베이스 모델 선택 기준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 베이스 모델 선택 기준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상용 가능 오픈웨이트 모델 비교 — Qwen3 채택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모델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라이선스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한국어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크기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비고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Qwen3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Apache 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최상위권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0.6B~32B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채택 — 엣지~서버 한 계열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Gemma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Gemma 라이선스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양호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1B~27B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RAM 효율 최고 (4B=4.2GB)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DeepSeek V4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검증 부족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다양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한국어 품질 불확실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EXAONE 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NC (비상업)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최상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1.2B~32B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한국어 최상, 상업 불가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개발자 레퍼런스 아키텍처</a:t>
            </a:r>
            <a:endParaRPr lang="en-US" altLang="ko-KR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2. 양자화 방식 선택 기준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2. 양자화 방식 선택 기준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Q4_K_M — 엣지 배포용 범용 기본값으로 채택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011680"/>
            <a:ext cx="5454396" cy="91440"/>
          </a:xfrm>
          <a:prstGeom prst="rect">
            <a:avLst/>
          </a:prstGeom>
          <a:solidFill>
            <a:srgbClr val="1F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5C8C"/>
                </a:solidFill>
                <a:latin typeface="KoPubWorld돋움체 Medium"/>
                <a:ea typeface="KoPubWorld돋움체 Medium"/>
              </a:rPr>
              <a:t>후보 비교 (4B 기준)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Q8_0 — 거의 무손실, 4.3GB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Q5_K_M — 품질 우선, 2.7GB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Q4_K_M — 범용 기본값, 2.3GB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Q3_K_M — 초경량, 1.9GB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7356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77356" y="2011680"/>
            <a:ext cx="5454396" cy="91440"/>
          </a:xfrm>
          <a:prstGeom prst="rect">
            <a:avLst/>
          </a:prstGeom>
          <a:solidFill>
            <a:srgbClr val="2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51676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BB8"/>
                </a:solidFill>
                <a:latin typeface="KoPubWorld돋움체 Medium"/>
                <a:ea typeface="KoPubWorld돋움체 Medium"/>
              </a:rPr>
              <a:t>채택 근거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51676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크기 절반 이하, 품질 92~95% 유지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K-quant 계열이 legacy보다 우수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실측상 CPU·GPU 모두 실용 속도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RAM 빠듯하면 Q3_K_M로 대체 가능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개발자 레퍼런스 아키텍처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3. 성능 실측치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2606040" cy="109728"/>
          </a:xfrm>
          <a:prstGeom prst="rect">
            <a:avLst/>
          </a:prstGeom>
          <a:solidFill>
            <a:srgbClr val="2E7BB8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2487168"/>
            <a:ext cx="26060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292608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23.6tok/s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CPU 8스레드 생성 속도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2377440"/>
            <a:ext cx="2606040" cy="109728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337560" y="2487168"/>
            <a:ext cx="26060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337560" y="292608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87.0tok/s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337560" y="4663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GPU RTX4000 Ada 생성 속도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377440"/>
            <a:ext cx="2606040" cy="109728"/>
          </a:xfrm>
          <a:prstGeom prst="rect">
            <a:avLst/>
          </a:prstGeom>
          <a:solidFill>
            <a:srgbClr val="266F9F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217920" y="2487168"/>
            <a:ext cx="26060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217920" y="292608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6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3.7배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217920" y="4663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GPU 가속 배율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98280" y="2377440"/>
            <a:ext cx="2606040" cy="109728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098280" y="2487168"/>
            <a:ext cx="26060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098280" y="292608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7.3tok/s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9098280" y="4663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엣지 에뮬레이션(2코어) 실측</a:t>
            </a:r>
            <a:endParaRPr lang="en-US" sz="11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96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6464"/>
                </a:solidFill>
                <a:latin typeface="KoPubWorld돋움체 Medium"/>
                <a:ea typeface="KoPubWorld돋움체 Medium"/>
                <a:cs typeface="KoPubWorld돋움체 Medium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3. 성능 실측치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같은 GGUF 파일 하나로 CPU·GPU 모두 대응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개발자 레퍼런스 아키텍처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4. 3대 핵심 기술 스택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4. 3대 핵심 기술 스택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파인튜닝 · RAG · Agent — 역할이 다른 세 기술의 조합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3575304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011680"/>
            <a:ext cx="3575304" cy="91440"/>
          </a:xfrm>
          <a:prstGeom prst="rect">
            <a:avLst/>
          </a:prstGeom>
          <a:solidFill>
            <a:srgbClr val="1F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2240280"/>
            <a:ext cx="320954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5C8C"/>
                </a:solidFill>
                <a:latin typeface="KoPubWorld돋움체 Medium"/>
                <a:ea typeface="KoPubWorld돋움체 Medium"/>
              </a:rPr>
              <a:t>sLLM 파인튜닝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2926080"/>
            <a:ext cx="32095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Qwen3-4B + LoRA(r=16)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도메인 문체 학습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판정은 LLM에 안 맡김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06824" y="2011680"/>
            <a:ext cx="3575304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306824" y="2011680"/>
            <a:ext cx="3575304" cy="91440"/>
          </a:xfrm>
          <a:prstGeom prst="rect">
            <a:avLst/>
          </a:prstGeom>
          <a:solidFill>
            <a:srgbClr val="2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89704" y="2240280"/>
            <a:ext cx="320954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7BB8"/>
                </a:solidFill>
                <a:latin typeface="KoPubWorld돋움체 Medium"/>
                <a:ea typeface="KoPubWorld돋움체 Medium"/>
              </a:rPr>
              <a:t>RAG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9704" y="2926080"/>
            <a:ext cx="32095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e5-small 임베딩 + FAISS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안전문서 12,964개 조각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근거 없으면 '모른다'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56448" y="2011680"/>
            <a:ext cx="3575304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56448" y="2011680"/>
            <a:ext cx="3575304" cy="91440"/>
          </a:xfrm>
          <a:prstGeom prst="rect">
            <a:avLst/>
          </a:prstGeom>
          <a:solidFill>
            <a:srgbClr val="26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39328" y="2240280"/>
            <a:ext cx="320954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66F9F"/>
                </a:solidFill>
                <a:latin typeface="KoPubWorld돋움체 Medium"/>
                <a:ea typeface="KoPubWorld돋움체 Medium"/>
              </a:rPr>
              <a:t>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8" y="2926080"/>
            <a:ext cx="32095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규칙: 위험도·장비 제어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LLM: 검색·문구 작성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결정마다 권한 태그 기록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개발자 레퍼런스 아키텍처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5. 설계 원칙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5. 설계 원칙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위험 판정은 항상 규칙, LLM은 언어만 담당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2011680"/>
            <a:ext cx="11274552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원칙 1 — 판정은 규칙, 서술은 LLM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위험도(정상·주의·위험)는 임계값 규칙이 판정</a:t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LLM은 검색 여부·문구 작성만 자율판단</a:t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파인튜닝 평가서 LLM 오판 실제 발견 → 이 원칙으로 해결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lang="en-US"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장비 제어(가스차단기 등)도 규칙이 결정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원칙 2 — 고위험 장비는 자동 실행 금지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저위험(환풍기)만 즉시 자동 실행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고위험(가스차단·소화방출)은 승인 대기만</a:t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모든 결정에 규칙/LLM 권한 태그로 추적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원칙 3 — 표준 MLOps 4요소(레지스트리·모니터링·버저닝·CI/CD) 구현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개발자 레퍼런스 아키텍처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6. 레퍼런스 아키텍처 재현 가이드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6. 레퍼런스 아키텍처 재현 가이드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 저장소 구조를 그대로 따라하면 재현 가능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2011680"/>
            <a:ext cx="11274552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소스 구조 (src/)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extract/ — 문서 추출 폴백 사슬</a:t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train/ — 파인튜닝·재학습·평가</a:t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rag/ — 청킹·임베딩·FAISS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lang="en-US"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agent/ — 규칙+도구호출 오케스트레이션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인프라 (infra/, scripts/, .github/)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monitoring/ — Prometheus + Grafana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deploy.sh — git pull 기반 배포</a:t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CI/CD — GitHub Actions 워크플로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저장소: github.com/grib-arws-bot/mlops-edge-lab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059936" y="0"/>
            <a:ext cx="4059936" cy="6858000"/>
          </a:xfrm>
          <a:prstGeom prst="rect">
            <a:avLst/>
          </a:prstGeom>
          <a:solidFill>
            <a:srgbClr val="266F9F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19872" y="0"/>
            <a:ext cx="4069080" cy="6858000"/>
          </a:xfrm>
          <a:prstGeom prst="rect">
            <a:avLst/>
          </a:prstGeom>
          <a:solidFill>
            <a:srgbClr val="2E7BB8">
              <a:alpha val="50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0" y="30175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사업 활용 제안</a:t>
            </a:r>
            <a:endParaRPr lang="en-US" sz="4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07E4E87-9576-AD62-62DC-E2F40EB8EA51}"/>
              </a:ext>
            </a:extLst>
          </p:cNvPr>
          <p:cNvSpPr/>
          <p:nvPr/>
        </p:nvSpPr>
        <p:spPr>
          <a:xfrm>
            <a:off x="5815584" y="2554781"/>
            <a:ext cx="548640" cy="50292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Ⅲ</a:t>
            </a:r>
            <a:endParaRPr lang="en-US" sz="2000" dirty="0">
              <a:solidFill>
                <a:schemeClr val="bg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사업 활용 제안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1. 시장 기회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2606040" cy="109728"/>
          </a:xfrm>
          <a:prstGeom prst="rect">
            <a:avLst/>
          </a:prstGeom>
          <a:solidFill>
            <a:srgbClr val="2E7BB8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2487168"/>
            <a:ext cx="26060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292608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통신차단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현장 다수가 네트워크 제한 환경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2377440"/>
            <a:ext cx="2606040" cy="109728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337560" y="2487168"/>
            <a:ext cx="26060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337560" y="292608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완전로컬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337560" y="4663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데이터 외부 전송 없는 보안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377440"/>
            <a:ext cx="2606040" cy="109728"/>
          </a:xfrm>
          <a:prstGeom prst="rect">
            <a:avLst/>
          </a:prstGeom>
          <a:solidFill>
            <a:srgbClr val="266F9F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217920" y="2487168"/>
            <a:ext cx="26060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217920" y="292608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6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하드웨어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217920" y="4663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기존 엣지 장비와 결합 가능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98280" y="2377440"/>
            <a:ext cx="2606040" cy="109728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098280" y="2487168"/>
            <a:ext cx="26060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098280" y="292608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신뢰설계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9098280" y="4663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과대판정 방지로 오작동 최소화</a:t>
            </a:r>
            <a:endParaRPr lang="en-US" sz="11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96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6464"/>
                </a:solidFill>
                <a:latin typeface="KoPubWorld돋움체 Medium"/>
                <a:ea typeface="KoPubWorld돋움체 Medium"/>
                <a:cs typeface="KoPubWorld돋움체 Medium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 시장 기회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산업안전관리 시장 — 완전 오프라인이 곧 차별점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사업 활용 제안</a:t>
            </a:r>
            <a:endParaRPr lang="en-US" altLang="ko-KR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2. 경쟁 대비 차별화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2. 경쟁 대비 차별화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클라우드 LLM 기반 솔루션 대비 강점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011680"/>
            <a:ext cx="5454396" cy="91440"/>
          </a:xfrm>
          <a:prstGeom prst="rect">
            <a:avLst/>
          </a:prstGeom>
          <a:solidFill>
            <a:srgbClr val="1F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5C8C"/>
                </a:solidFill>
                <a:latin typeface="KoPubWorld돋움체 Medium"/>
                <a:ea typeface="KoPubWorld돋움체 Medium"/>
              </a:rPr>
              <a:t>일반 클라우드 LLM 솔루션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인터넷 연결 필수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데이터 외부 전송 (보안 우려)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사용량 기반 과금 부담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네트워크 단절 시 서비스 중단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7356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77356" y="2011680"/>
            <a:ext cx="5454396" cy="91440"/>
          </a:xfrm>
          <a:prstGeom prst="rect">
            <a:avLst/>
          </a:prstGeom>
          <a:solidFill>
            <a:srgbClr val="2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51676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BB8"/>
                </a:solidFill>
                <a:latin typeface="KoPubWorld돋움체 Medium"/>
                <a:ea typeface="KoPubWorld돋움체 Medium"/>
              </a:rPr>
              <a:t>우리 온프레미스 sLLM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51676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완전 오프라인 동작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데이터는 현장·사내에만 보관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1회 구축, 종량제 부담 없음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기존 엣지 하드웨어 활용 가능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사업 활용 제안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3. 확장 가능 사업 영역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3. 확장 가능 사업 영역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산업안전에서 스마트교육까지, 같은 기술로 확장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3575304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011680"/>
            <a:ext cx="3575304" cy="91440"/>
          </a:xfrm>
          <a:prstGeom prst="rect">
            <a:avLst/>
          </a:prstGeom>
          <a:solidFill>
            <a:srgbClr val="1F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2240280"/>
            <a:ext cx="320954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5C8C"/>
                </a:solidFill>
                <a:latin typeface="KoPubWorld돋움체 Medium"/>
                <a:ea typeface="KoPubWorld돋움체 Medium"/>
              </a:rPr>
              <a:t>산업안전 (1차)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2926080"/>
            <a:ext cx="32095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CCTV·센서 이상 알림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안전수칙 즉시 검색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장비 자동 제어 연동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06824" y="2011680"/>
            <a:ext cx="3575304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306824" y="2011680"/>
            <a:ext cx="3575304" cy="91440"/>
          </a:xfrm>
          <a:prstGeom prst="rect">
            <a:avLst/>
          </a:prstGeom>
          <a:solidFill>
            <a:srgbClr val="2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89704" y="2240280"/>
            <a:ext cx="320954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7BB8"/>
                </a:solidFill>
                <a:latin typeface="KoPubWorld돋움체 Medium"/>
                <a:ea typeface="KoPubWorld돋움체 Medium"/>
              </a:rPr>
              <a:t>스마트교육 (2차 후보)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9704" y="2926080"/>
            <a:ext cx="32095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오프라인 학습 튜터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AI 토론 배틀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학생 데이터 로컬 보관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56448" y="2011680"/>
            <a:ext cx="3575304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56448" y="2011680"/>
            <a:ext cx="3575304" cy="91440"/>
          </a:xfrm>
          <a:prstGeom prst="rect">
            <a:avLst/>
          </a:prstGeom>
          <a:solidFill>
            <a:srgbClr val="26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39328" y="2240280"/>
            <a:ext cx="320954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66F9F"/>
                </a:solidFill>
                <a:latin typeface="KoPubWorld돋움체 Medium"/>
                <a:ea typeface="KoPubWorld돋움체 Medium"/>
              </a:rPr>
              <a:t>기존 사업 연계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8" y="2926080"/>
            <a:ext cx="32095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산업안전 입찰 다수 추적 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엣지 하드웨어 제품군과 결합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실증 데모로 즉시 활용 가능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사업 활용 제안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4. 도입 로드맵 제안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4. 도입 로드맵 제안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단계별 제품화 로드맵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단계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내용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기간(안)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산출물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비고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현장 안전 PoC 고도화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1~2개월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실증 데모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이번 프로젝트 결과물 기반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실제 센서·임계값 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1개월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정식 기준 반영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현장 안전 담당자 협업 필요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엣지 하드웨어 탑재 검증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1~2개월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엣지 실기 테스트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현재는 자원 에뮬레이션 단계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고객 파일럿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2~3개월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레퍼런스 사례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기존 입찰 추적 대상과 연계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사업 활용 제안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5. 논의가 필요한 지점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5. 논의가 필요한 지점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사업화 전 확인이 필요한 사항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2011680"/>
            <a:ext cx="11274552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기술적 확인사항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실제 센서·임계값 확보 시점</a:t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실제 엣지 하드웨어 사양 확인</a:t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엣지 실기 성능 — 현재는 자원 에뮬레이션뿐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lang="en-US"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장비 제어 매핑, 현장 검증 필요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사업적 확인사항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목표 고객군 — 신규 vs 기존 고객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가격 정책 — 1회성 vs 유지보수</a:t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경쟁 제품 벤치마킹 필요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다음 논의 — 파일럿 고객 1곳 선정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520</Words>
  <Application>Microsoft Office PowerPoint</Application>
  <PresentationFormat>와이드스크린</PresentationFormat>
  <Paragraphs>125</Paragraphs>
  <Slides>11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KoPubWorld돋움체 Bold</vt:lpstr>
      <vt:lpstr>KoPubWorld돋움체 Medium</vt:lpstr>
      <vt:lpstr>KoPub돋움체 Medium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Grib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Grib 표준 PPT 데모 (전체 레이아웃)</dc:title>
  <dc:subject/>
  <dc:creator>(주)그립</dc:creator>
  <cp:lastModifiedBy>Jeffrey Ahn</cp:lastModifiedBy>
  <cp:revision>4</cp:revision>
  <dcterms:created xsi:type="dcterms:W3CDTF">2026-06-15T09:39:04Z</dcterms:created>
  <dcterms:modified xsi:type="dcterms:W3CDTF">2026-06-15T10:50:39Z</dcterms:modified>
</cp:coreProperties>
</file>