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4672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274320" y="6446520"/>
            <a:ext cx="11612880" cy="13716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65196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0" i="1" dirty="0">
                <a:solidFill>
                  <a:schemeClr val="accent1">
                    <a:lumMod val="75000"/>
                  </a:schemeClr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Confidential</a:t>
            </a:r>
            <a:endParaRPr lang="en-US" sz="1000" b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96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6464"/>
                </a:solidFill>
                <a:latin typeface="KoPubWorld돋움체 Medium"/>
                <a:ea typeface="KoPubWorld돋움체 Medium"/>
                <a:cs typeface="KoPubWorld돋움체 Medium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1682505F-77E2-EE7A-E86B-AD76951F063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" y="6496574"/>
            <a:ext cx="356227" cy="3240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5C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96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6464"/>
                </a:solidFill>
                <a:latin typeface="KoPubWorld돋움체 Medium"/>
                <a:ea typeface="KoPubWorld돋움체 Medium"/>
                <a:cs typeface="KoPubWorld돋움체 Medium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nice-sharp-cerf/mnt/Claude Skill/assets/cover-bg-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578745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산업안전 sLLM 파이프라인 — 개발자 아키텍처 &amp; 사업 활용 제안</a:t>
            </a:r>
            <a:r>
              <a:rPr lang="en-US" sz="1600" dirty="0" err="1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/>
            </a:r>
            <a:r>
              <a:rPr lang="en-US" sz="1600" dirty="0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/>
            </a:r>
            <a:r>
              <a:rPr lang="en-US" sz="1600" dirty="0" err="1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/>
            </a:r>
            <a:r>
              <a:rPr lang="en-US" sz="1600" dirty="0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/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1425166"/>
            <a:ext cx="344978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</a:t>
            </a:r>
            <a:r>
              <a:rPr lang="ko-KR" altLang="en-US" sz="3600" b="1" dirty="0" err="1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36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006706" y="481215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"LINK Everything, THINK Everyone"</a:t>
            </a:r>
            <a:endParaRPr lang="en-US" sz="16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16AE9AA-3895-F613-1011-A33956C2AEB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50846" y="2471707"/>
            <a:ext cx="1803354" cy="180335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3356036-F9EB-FEE6-F68E-01E956DE7DD4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3854" y="71064"/>
            <a:ext cx="507681" cy="507681"/>
          </a:xfrm>
          <a:prstGeom prst="rect">
            <a:avLst/>
          </a:prstGeom>
        </p:spPr>
      </p:pic>
      <p:sp>
        <p:nvSpPr>
          <p:cNvPr id="17" name="Text 1">
            <a:extLst>
              <a:ext uri="{FF2B5EF4-FFF2-40B4-BE49-F238E27FC236}">
                <a16:creationId xmlns:a16="http://schemas.microsoft.com/office/drawing/2014/main" id="{F2F00B17-3F5A-98AD-FE53-4CEB8199B220}"/>
              </a:ext>
            </a:extLst>
          </p:cNvPr>
          <p:cNvSpPr/>
          <p:nvPr/>
        </p:nvSpPr>
        <p:spPr>
          <a:xfrm>
            <a:off x="457200" y="5021354"/>
            <a:ext cx="344978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dirty="0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2026년 09월</a:t>
            </a:r>
            <a:r>
              <a:rPr lang="ko-KR" altLang="en-US" sz="1600" dirty="0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/>
            </a:r>
            <a:r>
              <a:rPr lang="en-US" altLang="ko-KR" sz="1600" dirty="0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/>
            </a:r>
            <a:r>
              <a:rPr lang="ko-KR" altLang="en-US" sz="1600" dirty="0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/>
            </a:r>
            <a:endParaRPr lang="en-US" altLang="ko-KR" sz="1600" dirty="0"/>
          </a:p>
          <a:p>
            <a:pPr marL="0" indent="0">
              <a:buNone/>
            </a:pPr>
            <a:endParaRPr lang="en-US" b="1" dirty="0">
              <a:solidFill>
                <a:srgbClr val="FFFFFF"/>
              </a:solidFill>
              <a:latin typeface="KoPubWorld돋움체 Bold" pitchFamily="34" charset="0"/>
              <a:ea typeface="KoPubWorld돋움체 Bold" pitchFamily="34" charset="-122"/>
              <a:cs typeface="KoPubWorld돋움체 Bold" pitchFamily="34" charset="-120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주식회사</a:t>
            </a:r>
            <a:r>
              <a:rPr lang="en-US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 그립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3657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S.P.N.D. 디지털전환 및 융합 솔루션 전문기업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315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주식회사 그립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2194560"/>
            <a:ext cx="5486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266F9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297680" y="21945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66F9F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Ⅰ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5029200" y="21945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22222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프로젝트 개요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297680" y="3063240"/>
            <a:ext cx="5486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266F9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297680" y="30632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66F9F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Ⅱ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029200" y="30632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22222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개발자 레퍼런스 아키텍처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297680" y="3931920"/>
            <a:ext cx="5486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266F9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297680" y="39319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66F9F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Ⅲ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029200" y="39319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22222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사업 활용 제안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0EC8C7-390D-C1F1-1C7F-91AEB1D4AD8A}"/>
              </a:ext>
            </a:extLst>
          </p:cNvPr>
          <p:cNvSpPr txBox="1"/>
          <p:nvPr/>
        </p:nvSpPr>
        <p:spPr>
          <a:xfrm>
            <a:off x="1258264" y="1449590"/>
            <a:ext cx="27641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Contents</a:t>
            </a:r>
            <a:endParaRPr lang="ko-KR" altLang="en-US" sz="3600" b="1" dirty="0">
              <a:solidFill>
                <a:schemeClr val="bg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5CFC66E-4BFE-1B11-B8E2-45F12D6FF684}"/>
              </a:ext>
            </a:extLst>
          </p:cNvPr>
          <p:cNvSpPr/>
          <p:nvPr/>
        </p:nvSpPr>
        <p:spPr>
          <a:xfrm>
            <a:off x="3712040" y="1449590"/>
            <a:ext cx="62180" cy="50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2E7BB8">
              <a:alpha val="55000"/>
            </a:srgbClr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1963271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8" name="Shape 5"/>
          <p:cNvSpPr/>
          <p:nvPr/>
        </p:nvSpPr>
        <p:spPr>
          <a:xfrm>
            <a:off x="914400" y="4754880"/>
            <a:ext cx="1005840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14400" y="4937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(주)그립 (Grib Co., Ltd.)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53492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서울특별시 서초구 효령로 242 서양빌딩 5층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jeffrey@grib.co.kr · github.com/grib-arws-bot/mlops-edge-lab · 02-521-6542</a:t>
            </a:r>
            <a:endParaRPr lang="en-US" sz="12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D221DC5-3C6D-0BCD-AEC3-78738031B6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9699" y="3218599"/>
            <a:ext cx="1444842" cy="14448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059936" y="0"/>
            <a:ext cx="4059936" cy="6858000"/>
          </a:xfrm>
          <a:prstGeom prst="rect">
            <a:avLst/>
          </a:prstGeom>
          <a:solidFill>
            <a:srgbClr val="266F9F">
              <a:alpha val="6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19872" y="0"/>
            <a:ext cx="4069080" cy="6858000"/>
          </a:xfrm>
          <a:prstGeom prst="rect">
            <a:avLst/>
          </a:prstGeom>
          <a:solidFill>
            <a:srgbClr val="2E7BB8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0" y="301752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프로젝트 개요</a:t>
            </a:r>
            <a:endParaRPr lang="en-US" sz="4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07E4E87-9576-AD62-62DC-E2F40EB8EA51}"/>
              </a:ext>
            </a:extLst>
          </p:cNvPr>
          <p:cNvSpPr/>
          <p:nvPr/>
        </p:nvSpPr>
        <p:spPr>
          <a:xfrm>
            <a:off x="5815584" y="2554781"/>
            <a:ext cx="548640" cy="50292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Ⅰ</a:t>
            </a:r>
            <a:endParaRPr lang="en-US" sz="2000" dirty="0">
              <a:solidFill>
                <a:schemeClr val="bg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en-US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프로젝트 한눈에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2606040" cy="109728"/>
          </a:xfrm>
          <a:prstGeom prst="rect">
            <a:avLst/>
          </a:prstGeom>
          <a:solidFill>
            <a:srgbClr val="2E7BB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7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738건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720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산업안전 문서 처리 (100%)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37560" y="2377440"/>
            <a:ext cx="2606040" cy="109728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33756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33756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5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2.3GB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33756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양자화 모델 크기 (원본 7.5GB)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377440"/>
            <a:ext cx="2606040" cy="109728"/>
          </a:xfrm>
          <a:prstGeom prst="rect">
            <a:avLst/>
          </a:prstGeom>
          <a:solidFill>
            <a:srgbClr val="266F9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21792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1792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6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3.7배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21792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GPU 가속 (CPU 대비)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98280" y="2377440"/>
            <a:ext cx="2606040" cy="109728"/>
          </a:xfrm>
          <a:prstGeom prst="rect">
            <a:avLst/>
          </a:prstGeom>
          <a:solidFill>
            <a:srgbClr val="00B050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09828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09828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4종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909828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표준 MLOps 요소 구현</a:t>
            </a:r>
            <a:endParaRPr lang="en-US" sz="11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96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6464"/>
                </a:solidFill>
                <a:latin typeface="KoPubWorld돋움체 Medium"/>
                <a:ea typeface="KoPubWorld돋움체 Medium"/>
                <a:cs typeface="KoPubWorld돋움체 Medium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 프로젝트 한눈에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사내 GPU 서버 하나로 완결하는 온프레미스 sLLM 파이프라인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en-US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전체 파이프라인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2. 전체 파이프라인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8단계로 구성된 엔드투엔드 MLOps 파이프라인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7200" y="2011680"/>
            <a:ext cx="11274552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1~3단계 — 데이터에서 모델까지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① 인프라: uv(venv+lock) · MLflow 3.16(SQLite) · tmux</a:t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② 데이터 추출: 문서 738건 → 텍스트, 형식별 폴백 사슬</a:t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pymupdf(PDF) · pyhwp(HWP) · LibreOffice(레거시) · Tesseract(OCR)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lang="en-US"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③ 파인튜닝: Qwen3-4B-Instruct-2507 + LoRA(r=16, alpha=32)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4~6단계 — 경량화에서 서빙까지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④ 양자화: llama.cpp GGUF Q4_K_M (7.5GB→2.3GB, 3.2배)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⑤ RAG: e5-small 임베딩 + FAISS(IndexFlatIP), 청크 12,964개</a:t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⑥ Agent: 규칙(판정) · LLM(문구·도구호출) 역할 분리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7~8단계 — 엣지 검증(cgroup 2코어 7.32 tok/s) + 표준 MLOps 4요소(레지스트리·모니터링·DVC·CI)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en-US" altLang="ko-KR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프로젝트 개요</a:t>
            </a:r>
            <a:endParaRPr lang="en-US" altLang="ko-KR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3. 왜 온프레미스인가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3. 왜 온프레미스인가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산업 현장의 네트워크·프라이버시 제약이 곧 존재 이유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57200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2011680"/>
            <a:ext cx="5454396" cy="91440"/>
          </a:xfrm>
          <a:prstGeom prst="rect">
            <a:avLst/>
          </a:prstGeom>
          <a:solidFill>
            <a:srgbClr val="1F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5C8C"/>
                </a:solidFill>
                <a:latin typeface="KoPubWorld돋움체 Medium"/>
                <a:ea typeface="KoPubWorld돋움체 Medium"/>
              </a:rPr>
              <a:t>산업안전 현장의 제약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현장 네트워크 단절·보안망 다수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클라우드 LLM 사용 불가 구간 존재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엣지 디바이스 사양 다양 (GPU 유무)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실시간 장비 제어 필요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7356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77356" y="2011680"/>
            <a:ext cx="5454396" cy="91440"/>
          </a:xfrm>
          <a:prstGeom prst="rect">
            <a:avLst/>
          </a:prstGeom>
          <a:solidFill>
            <a:srgbClr val="2E7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51676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BB8"/>
                </a:solidFill>
                <a:latin typeface="KoPubWorld돋움체 Medium"/>
                <a:ea typeface="KoPubWorld돋움체 Medium"/>
              </a:rPr>
              <a:t>온프레미스 sLLM의 강점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51676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완전 로컬 추론, 외부 전송 없음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경량화로 저사양 디바이스 대응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GPU 유무 무관, 동일 파일로 서빙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규칙+LLM 분리로 안전성 확보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059936" y="0"/>
            <a:ext cx="4059936" cy="6858000"/>
          </a:xfrm>
          <a:prstGeom prst="rect">
            <a:avLst/>
          </a:prstGeom>
          <a:solidFill>
            <a:srgbClr val="266F9F">
              <a:alpha val="6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19872" y="0"/>
            <a:ext cx="4069080" cy="6858000"/>
          </a:xfrm>
          <a:prstGeom prst="rect">
            <a:avLst/>
          </a:prstGeom>
          <a:solidFill>
            <a:srgbClr val="2E7BB8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0" y="301752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sz="4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07E4E87-9576-AD62-62DC-E2F40EB8EA51}"/>
              </a:ext>
            </a:extLst>
          </p:cNvPr>
          <p:cNvSpPr/>
          <p:nvPr/>
        </p:nvSpPr>
        <p:spPr>
          <a:xfrm>
            <a:off x="5815584" y="2554781"/>
            <a:ext cx="548640" cy="50292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Ⅱ</a:t>
            </a:r>
            <a:endParaRPr lang="en-US" sz="2000" dirty="0">
              <a:solidFill>
                <a:schemeClr val="bg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altLang="ko-KR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altLang="ko-KR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인프라 스택 선택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 인프라 스택 선택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새 도구 도입보다 재현성에 필요한 최소한만 추가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57200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2011680"/>
            <a:ext cx="5454396" cy="91440"/>
          </a:xfrm>
          <a:prstGeom prst="rect">
            <a:avLst/>
          </a:prstGeom>
          <a:solidFill>
            <a:srgbClr val="1F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5C8C"/>
                </a:solidFill>
                <a:latin typeface="KoPubWorld돋움체 Medium"/>
                <a:ea typeface="KoPubWorld돋움체 Medium"/>
              </a:rPr>
              <a:t>검토했지만 보류한 대안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venv — 가장 단순하지만 lock 파일 없어 재현성 약함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conda — 이 서버 용도엔 무겁고 불필요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파일 기반 실험 기록 — 조건 검색·비교가 불편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systemd user service — 재부팅 생존엔 유리하나 초기 설정 부담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7356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77356" y="2011680"/>
            <a:ext cx="5454396" cy="91440"/>
          </a:xfrm>
          <a:prstGeom prst="rect">
            <a:avLst/>
          </a:prstGeom>
          <a:solidFill>
            <a:srgbClr val="2E7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51676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BB8"/>
                </a:solidFill>
                <a:latin typeface="KoPubWorld돋움체 Medium"/>
                <a:ea typeface="KoPubWorld돋움체 Medium"/>
              </a:rPr>
              <a:t>채택 + 근거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51676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uv — lock 파일로 버전 고정, MLOps 핵심가치인 재현성 확보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MLflow Tracking(SQLite mlflow.db) — 조건 검색 가능하면서 백업은 파일 하나로 간단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tmux 세션 — SSH 끊김에도 프로세스 생존, 재부팅 대응은 필요해지면 systemd로 승격 예정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FastAPI — 신규 채택 아님, MLflow가 이미 써서 venv에 있던 걸 재사용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데이터 추출 설계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2. 데이터 추출 설계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포맷별 폴백 사슬 — 실패해도 조용히 넘어가지 않고 이유를 남긴다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7200" y="2011680"/>
            <a:ext cx="11274552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PDF — pymupdf(fitz) 채택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BidRadar의 pypdf 대신 선택 — 텍스트 추출 품질 우수</a:t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HWP — pyhwp(hwp5txt) 1차, LibreOffice 2차 안전망</a:t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OCR용 페이지→이미지 렌더링이 같은 라이브러리에 있어 poppler 등 외부 도구 불필요(AGPL이지만 사내 학습용이라 허용)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lang="en-US"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BidRadar가 pyhwp만으로 이미 완전 구현·검증해둔 걸 확인 후 재사용 — 더 가볍고 안전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레거시(DOC/XLS) — LibreOffice headless로 PDF 변환 후 PDF 추출기 재사용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포맷별 전용 파서를 안 만들기 위함 — 'OCR 폴백' 로직을 PDF 경로 한 곳에만 두면 포맷이 늘어도 변환 단계만 추가하면 됨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안정성 보강 — 확장자 오표기(매직바이트 PK=zip/CFBF=OLE 재확인)·한글 zip 파일명(CP437→CP949 복원)</a:t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⚠ 실측: 738/738건 처리 — 성공 판정 기준은 비어있지 않음+글자수 임계값뿐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성공 ≠ 정확 — 품질 샘플 검수(사람 대조)는 향후 과제로 명시적으로 남김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altLang="ko-KR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3. 베이스 모델 선택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3. 베이스 모델 선택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선정 기준(상업 라이선스·한국어 품질·엣지~서버 크기 계열) — Qwen3 채택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709025"/>
              </p:ext>
            </p:extLst>
          </p:nvPr>
        </p:nvGraphicFramePr>
        <p:xfrm>
          <a:off x="457200" y="2011680"/>
          <a:ext cx="11274552" cy="2743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모델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라이선스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한국어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크기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비고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Qwen3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Apache 2.0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최상위권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0.6B~32B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채택 — 엣지~서버 한 계열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Gemma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Gemma 라이선스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양호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1B~27B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RAM 효율 최고 (4B=4.2GB)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DeepSeek V4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검증 부족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다양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한국어 품질 불확실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EXAONE 4.0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NC (비상업)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최상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1.2B~32B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한국어 최상, 상업 불가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altLang="ko-KR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altLang="ko-KR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4. 파인튜닝 방법론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4. 파인튜닝 방법론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LoRA(r=16) — 3B~4B급이 20GB VRAM에 여유 있어 QLoRA는 보류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57200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2011680"/>
            <a:ext cx="5454396" cy="91440"/>
          </a:xfrm>
          <a:prstGeom prst="rect">
            <a:avLst/>
          </a:prstGeom>
          <a:solidFill>
            <a:srgbClr val="1F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5C8C"/>
                </a:solidFill>
                <a:latin typeface="KoPubWorld돋움체 Medium"/>
                <a:ea typeface="KoPubWorld돋움체 Medium"/>
              </a:rPr>
              <a:t>검토한 대안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Full Fine-tuning — 전체 파라미터 학습, GPU 메모리·저장공간 부담 큼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QLoRA(4bit) — 더 좁은 VRAM에서 더 큰 모델 학습 시 유리하나 지금은 불필요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Qwen2.5-3B-Instruct — 최초 배관 검증에 사용, 이후 세대 교체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EXAONE·Upstage Solar — 한국어 품질은 좋으나 각각 라이선스(비상업)·크기(엣지 부적합)로 제외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7356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77356" y="2011680"/>
            <a:ext cx="5454396" cy="91440"/>
          </a:xfrm>
          <a:prstGeom prst="rect">
            <a:avLst/>
          </a:prstGeom>
          <a:solidFill>
            <a:srgbClr val="2E7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51676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BB8"/>
                </a:solidFill>
                <a:latin typeface="KoPubWorld돋움체 Medium"/>
                <a:ea typeface="KoPubWorld돋움체 Medium"/>
              </a:rPr>
              <a:t>채택 + 근거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51676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LoRA r=16, alpha=32, target=q/k/v/o_proj, bf16 — transformers+peft+trl(SFTTrainer)+accelerate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Qwen3-4B-Instruct-2507로 교체 — 같은 Apache-2.0 계열 세대업, 코드 변경은 모델명 한 줄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NCCL_P2P_DISABLE=1 NCCL_IB_DISABLE=1 — RTX 4000(NVLink 없음)에서 GPU간 P2P 통신 시도시 죽는 문제 우회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평가는 ROUGE-L 자동 채점 후 MLflow 기록 — 재학습 자동화(auto_retrain.py)의 판정 기준으로 재사용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altLang="ko-KR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altLang="ko-KR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5. 양자화 방식 선택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5. 양자화 방식 선택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K-quant 계열의 Q4_K_M — '범용 기본값'으로 크기 절반 이하, 품질 92~95% 유지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57200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2011680"/>
            <a:ext cx="5454396" cy="91440"/>
          </a:xfrm>
          <a:prstGeom prst="rect">
            <a:avLst/>
          </a:prstGeom>
          <a:solidFill>
            <a:srgbClr val="1F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5C8C"/>
                </a:solidFill>
                <a:latin typeface="KoPubWorld돋움체 Medium"/>
                <a:ea typeface="KoPubWorld돋움체 Medium"/>
              </a:rPr>
              <a:t>검토한 대안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Legacy(Q4_0/Q8_0) — 32개 가중치당 스케일 1개뿐, 같은 크기 기준 K-quant보다 손실 큼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I-quant(IQ4 등) — imatrix 보정 필요, 4비트대에선 이득 작아 보류(2~3비트 갈 때 재고)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Q5_K_M/Q6_K — 품질은 좋지만 절감 폭 작음(2.7~3.3GB)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ONNX/TensorRT — 별도 변환 스택 필요, GPU 특화라 CPU 엣지 대응에 불리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7356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77356" y="2011680"/>
            <a:ext cx="5454396" cy="91440"/>
          </a:xfrm>
          <a:prstGeom prst="rect">
            <a:avLst/>
          </a:prstGeom>
          <a:solidFill>
            <a:srgbClr val="2E7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51676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BB8"/>
                </a:solidFill>
                <a:latin typeface="KoPubWorld돋움체 Medium"/>
                <a:ea typeface="KoPubWorld돋움체 Medium"/>
              </a:rPr>
              <a:t>채택 + 근거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51676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K-quant 계열 — 레이어별 민감도 반영해 섞어 저장, 같은 크기 기준 legacy보다 우수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Q4_K_M 채택 — 7.5GB→2.3GB(3.2배 실측), 범용 기본값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런타임은 llama.cpp(GGUF) — CPU 전용 1차 빌드 후 CUDA 빌드 병행(build/ vs build-cuda/, 같은 소스)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GGUF 변환 의존성이 torch를 CPU빌드로 강제 설치하려 해서 gguf·sentencepiece만 개별 설치해 회피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6. 성능 실측치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2606040" cy="109728"/>
          </a:xfrm>
          <a:prstGeom prst="rect">
            <a:avLst/>
          </a:prstGeom>
          <a:solidFill>
            <a:srgbClr val="2E7BB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7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23.6tok/s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720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CPU(Xeon 8스레드) 생성 tg128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37560" y="2377440"/>
            <a:ext cx="2606040" cy="109728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33756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33756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5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87.0tok/s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33756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GPU(RTX4000 Ada) 생성 tg128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377440"/>
            <a:ext cx="2606040" cy="109728"/>
          </a:xfrm>
          <a:prstGeom prst="rect">
            <a:avLst/>
          </a:prstGeom>
          <a:solidFill>
            <a:srgbClr val="266F9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21792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1792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6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3.7배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21792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GPU 가속 배율 (프롬프트 처리는 18.7배)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98280" y="2377440"/>
            <a:ext cx="2606040" cy="109728"/>
          </a:xfrm>
          <a:prstGeom prst="rect">
            <a:avLst/>
          </a:prstGeom>
          <a:solidFill>
            <a:srgbClr val="00B050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09828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09828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7.3tok/s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909828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엣지 에뮬레이션(2코어) 실측</a:t>
            </a:r>
            <a:endParaRPr lang="en-US" sz="11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96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6464"/>
                </a:solidFill>
                <a:latin typeface="KoPubWorld돋움체 Medium"/>
                <a:ea typeface="KoPubWorld돋움체 Medium"/>
                <a:cs typeface="KoPubWorld돋움체 Medium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6. 성능 실측치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같은 GGUF 파일 하나로 CPU·GPU 모두 대응 (llama-bench, Q4_K_M)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altLang="ko-KR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altLang="ko-KR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7. RAG 설계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7. RAG 설계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'근거 없으면 모른다' — 프롬프트에 명시해 사실 아닌 답변을 막는다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57200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2011680"/>
            <a:ext cx="5454396" cy="91440"/>
          </a:xfrm>
          <a:prstGeom prst="rect">
            <a:avLst/>
          </a:prstGeom>
          <a:solidFill>
            <a:srgbClr val="1F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5C8C"/>
                </a:solidFill>
                <a:latin typeface="KoPubWorld돋움체 Medium"/>
                <a:ea typeface="KoPubWorld돋움체 Medium"/>
              </a:rPr>
              <a:t>검토한 대안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BAAI/bge-m3 — 더 크고 정확하지만 무거움, 검색 품질 부족 시 교체 후보로 남김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Milvus/Chroma/pgvector — 별도 서버 프로세스 필요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문장 단위·고정 길이 청킹 — 문맥이 잘리기 쉬움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재순위화(rerank) 모델 추가 — 정확도는 오르지만 지연시간 증가, 엣지 실시간성과 상충되어 보류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7356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77356" y="2011680"/>
            <a:ext cx="5454396" cy="91440"/>
          </a:xfrm>
          <a:prstGeom prst="rect">
            <a:avLst/>
          </a:prstGeom>
          <a:solidFill>
            <a:srgbClr val="2E7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51676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BB8"/>
                </a:solidFill>
                <a:latin typeface="KoPubWorld돋움체 Medium"/>
                <a:ea typeface="KoPubWorld돋움체 Medium"/>
              </a:rPr>
              <a:t>채택 + 근거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51676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intfloat/multilingual-e5-small(~470MB) — 엣지에서 실시간 질의해야 해서 가벼운 쪽 우선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FAISS IndexFlatIP — 프로세스 내 인메모리, llama-cpp-python과 같은 '서버 프로세스 없이' 철학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문단 슬라이딩 윈도우(700자, 겹침 100자) — 문맥 보존, 실제 738건→청크 12,964개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근거 문서 없으면 '모른다' + 출처 표시를 시스템 프롬프트에 명시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8. Agent 설계 원칙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8. Agent 설계 원칙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위험 판정은 항상 규칙, LLM은 언어(문구·검색)만 담당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7200" y="2011680"/>
            <a:ext cx="11274552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원칙 — 판정은 규칙, 서술은 LLM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위험도(정상·주의·위험, 임계값 1.5배 placeholder)는 rules.py가 판정, LLM 재판정 금지(시스템 프롬프트 명시)</a:t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LLM은 search_guidelines 도구 호출 여부·검색어만 스스로 판단</a:t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파인튜닝 평가서 발견한 'LLM 과대판정' 문제(정상을 초과로 오판)를 이 구조로 해결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lang="en-US"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장비 제어(가스차단기 등)도 규칙이 결정 — LLM에게 안 맡김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실전에서 겪은 버그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llama-cpp-python이 Qwen3 GGUF의 &lt;tool_call&gt; 태그를 구조화 API로 안 넘겨줌 — 정규식(_TOOL_CALL_RE)으로 직접 파싱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위험 사례 근거문서가 상황과 다소 겉도는 RAG 품질 이슈 관찰 — 미해결로 기록만</a:t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검증: 정상=규칙만 즉시 처리(LLM 호출 없음)·주의=도구호출로 검색+조치문·위험=+에스컬레이션·사고리포트 초안 자동생성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3단계 시나리오(정상·주의·위험) 전부 통과 확인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altLang="ko-KR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altLang="ko-KR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9. 장비 제어 안전설계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9. 장비 제어 안전설계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Decision(authority, action, detail) — 모든 결정에 규칙/LLM 권한 태그를 남긴다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57200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2011680"/>
            <a:ext cx="5454396" cy="91440"/>
          </a:xfrm>
          <a:prstGeom prst="rect">
            <a:avLst/>
          </a:prstGeom>
          <a:solidFill>
            <a:srgbClr val="1F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5C8C"/>
                </a:solidFill>
                <a:latin typeface="KoPubWorld돋움체 Medium"/>
                <a:ea typeface="KoPubWorld돋움체 Medium"/>
              </a:rPr>
              <a:t>저위험 — 규칙이 즉시 자동 실행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환풍기 가동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소화설비 대기 전환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오작동 비용이 낮아 자동화 허용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LLM 응답을 기다리지 않고 즉시 실행 (/api/judge 실측 ~14ms)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7356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77356" y="2011680"/>
            <a:ext cx="5454396" cy="91440"/>
          </a:xfrm>
          <a:prstGeom prst="rect">
            <a:avLst/>
          </a:prstGeom>
          <a:solidFill>
            <a:srgbClr val="2E7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51676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BB8"/>
                </a:solidFill>
                <a:latin typeface="KoPubWorld돋움체 Medium"/>
                <a:ea typeface="KoPubWorld돋움체 Medium"/>
              </a:rPr>
              <a:t>고위험 — 자동 실행 금지, 승인 대기만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51676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가스차단기 작동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소화설비 방출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오작동 시 공정 중단·피해가 커서 사람 승인 전제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장비 조치는 LLM이 서술하기 전에 규칙이 먼저 실행 → 결과를 LLM 프롬프트에 '사실'로 주입, LLM이 상태를 지어내지 못하게 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10. 엣지 에뮬레이션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10. 엣지 에뮬레이션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실 하드웨어 없이 cgroup으로 하한선 추정 — 정확한 예측이 아니라는 점을 명시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7200" y="2011680"/>
            <a:ext cx="11274552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할 수 있는 것 vs 못 하는 것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cgroup으로 CPU 코어 수·메모리 상한 제한은 실제로 가능 — 하한선 추정에 유효</a:t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명령어셋(AVX-512 유무)·디스크 I/O·발열 스로틀링은 재현 불가</a:t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즉 '이 정도는 최소한 된다'는 하한선이지 정확한 예측은 아님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lang="en-US"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방법: systemd-run --user --scope -p CPUQuota=N*100% -p MemoryMax=XG -p MemorySwapMax=0 -- taskset -c 코어들 명령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sudo 불필요 — 유저 세션 cgroup으로 동작 확인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실측: 2코어/32GB — tg128 7.32 tok/s (8스레드 23.63 대비 약 3.2배 느림)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알림 문장 1건 생성에 4~5초 — 실용적인 속도로 판단</a:t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함정: 모델(2.32GB)보다 작은 메모리 상한(2GB)+스왑 켜짐 → 조용히 무한 대기(30초 타임아웃까지 무출력)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MemorySwapMax=0으로 스왑 차단 → 즉시 OOM kill(exit 137, 20초 내)로 깔끔한 실패 확보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altLang="ko-KR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11. 표준 MLOps 4요소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11. 표준 MLOps 4요소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새 SaaS 도입 대신, 이미 쓰던 도구(MLflow·GitHub)를 확장하는 쪽을 우선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709025"/>
              </p:ext>
            </p:extLst>
          </p:nvPr>
        </p:nvGraphicFramePr>
        <p:xfrm>
          <a:off x="457200" y="2011680"/>
          <a:ext cx="11274552" cy="2743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요소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도구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상태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핵심 결정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근거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모델 레지스트리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MLflow Model Registry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create_model_version() 직접 호출로 우회 — register_model()이 최신 MLflow에서 Logged Model 요구해 실패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46번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운영 모니터링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Prometheus+Grafana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MLflow와 동일 원칙 — SSH 터널 전용, 8081은 서비스 전용 포트로 아낌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47번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데이터 버저닝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DVC + 로컬 원격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.dvc 포인터만 git 추적, 실 데이터는 dvc push로 ~/dvc-storage에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48번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CI/CD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GitHub 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테스트 완료·배포 대기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자체 호스팅 러너 등록 토큰 발급이 보안 정책상 자동 차단 — 사용자 수동 등록 필요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49번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en-US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개발자 레퍼런스 아키텍처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12. 재현 가이드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12. 재현 가이드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이 저장소 구조를 그대로 따라하면 재현 가능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7200" y="2011680"/>
            <a:ext cx="11274552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소스 구조 (src/)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extract/ — 문서 추출 폴백 사슬</a:t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train/ — 파인튜닝·재학습·평가</a:t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rag/ — 청킹·임베딩·FAISS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lang="en-US"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agent/ — 규칙+도구호출 오케스트레이션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인프라 (infra/, scripts/, .github/)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monitoring/ — Prometheus + Grafana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deploy.sh — git pull 기반 배포</a:t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CI/CD — GitHub Actions 워크플로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저장소: github.com/grib-arws-bot/mlops-edge-lab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059936" y="0"/>
            <a:ext cx="4059936" cy="6858000"/>
          </a:xfrm>
          <a:prstGeom prst="rect">
            <a:avLst/>
          </a:prstGeom>
          <a:solidFill>
            <a:srgbClr val="266F9F">
              <a:alpha val="6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19872" y="0"/>
            <a:ext cx="4069080" cy="6858000"/>
          </a:xfrm>
          <a:prstGeom prst="rect">
            <a:avLst/>
          </a:prstGeom>
          <a:solidFill>
            <a:srgbClr val="2E7BB8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0" y="301752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사업 활용 제안</a:t>
            </a:r>
            <a:endParaRPr lang="en-US" sz="4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07E4E87-9576-AD62-62DC-E2F40EB8EA51}"/>
              </a:ext>
            </a:extLst>
          </p:cNvPr>
          <p:cNvSpPr/>
          <p:nvPr/>
        </p:nvSpPr>
        <p:spPr>
          <a:xfrm>
            <a:off x="5815584" y="2554781"/>
            <a:ext cx="548640" cy="50292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Ⅲ</a:t>
            </a:r>
            <a:endParaRPr lang="en-US" sz="2000" dirty="0">
              <a:solidFill>
                <a:schemeClr val="bg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en-US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사업 활용 제안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시장 기회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2606040" cy="109728"/>
          </a:xfrm>
          <a:prstGeom prst="rect">
            <a:avLst/>
          </a:prstGeom>
          <a:solidFill>
            <a:srgbClr val="2E7BB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7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통신차단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720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현장 다수가 네트워크 제한 환경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37560" y="2377440"/>
            <a:ext cx="2606040" cy="109728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33756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33756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5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완전로컬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33756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데이터 외부 전송 없는 보안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377440"/>
            <a:ext cx="2606040" cy="109728"/>
          </a:xfrm>
          <a:prstGeom prst="rect">
            <a:avLst/>
          </a:prstGeom>
          <a:solidFill>
            <a:srgbClr val="266F9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21792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1792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6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하드웨어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21792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기존 엣지 장비와 결합 가능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98280" y="2377440"/>
            <a:ext cx="2606040" cy="109728"/>
          </a:xfrm>
          <a:prstGeom prst="rect">
            <a:avLst/>
          </a:prstGeom>
          <a:solidFill>
            <a:srgbClr val="00B050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098280" y="2487168"/>
            <a:ext cx="2606040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098280" y="2926080"/>
            <a:ext cx="2606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신뢰설계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9098280" y="466344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KoPubWorld돋움체 Medium" pitchFamily="34" charset="0"/>
                <a:ea typeface="KoPubWorld돋움체 Medium" pitchFamily="34" charset="-122"/>
                <a:cs typeface="KoPubWorld돋움체 Medium" pitchFamily="34" charset="-120"/>
              </a:rPr>
              <a:t>과대판정 방지로 오작동 최소화</a:t>
            </a:r>
            <a:endParaRPr lang="en-US" sz="11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96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6464"/>
                </a:solidFill>
                <a:latin typeface="KoPubWorld돋움체 Medium"/>
                <a:ea typeface="KoPubWorld돋움체 Medium"/>
                <a:cs typeface="KoPubWorld돋움체 Medium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 시장 기회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산업안전관리 시장 — 완전 오프라인이 곧 차별점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en-US" altLang="ko-KR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사업 활용 제안</a:t>
            </a:r>
            <a:endParaRPr lang="en-US" altLang="ko-KR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경쟁 대비 차별화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2. 경쟁 대비 차별화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클라우드 LLM 기반 솔루션 대비 강점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57200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2011680"/>
            <a:ext cx="5454396" cy="91440"/>
          </a:xfrm>
          <a:prstGeom prst="rect">
            <a:avLst/>
          </a:prstGeom>
          <a:solidFill>
            <a:srgbClr val="1F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F5C8C"/>
                </a:solidFill>
                <a:latin typeface="KoPubWorld돋움체 Medium"/>
                <a:ea typeface="KoPubWorld돋움체 Medium"/>
              </a:rPr>
              <a:t>일반 클라우드 LLM 솔루션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인터넷 연결 필수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데이터 외부 전송 (보안 우려)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사용량 기반 과금 부담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네트워크 단절 시 서비스 중단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7356" y="2011680"/>
            <a:ext cx="5454396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77356" y="2011680"/>
            <a:ext cx="5454396" cy="91440"/>
          </a:xfrm>
          <a:prstGeom prst="rect">
            <a:avLst/>
          </a:prstGeom>
          <a:solidFill>
            <a:srgbClr val="2E7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51676" y="2240280"/>
            <a:ext cx="490575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BB8"/>
                </a:solidFill>
                <a:latin typeface="KoPubWorld돋움체 Medium"/>
                <a:ea typeface="KoPubWorld돋움체 Medium"/>
              </a:rPr>
              <a:t>우리 온프레미스 sLLM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51676" y="2926080"/>
            <a:ext cx="49057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완전 오프라인 동작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데이터는 현장·사내에만 보관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1회 구축, 종량제 부담 없음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기존 엣지 하드웨어 활용 가능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en-US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사업 활용 제안</a:t>
            </a:r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3. 확장 가능 사업 영역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3. 확장 가능 사업 영역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산업안전에서 스마트교육까지, 같은 기술로 확장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57200" y="2011680"/>
            <a:ext cx="3575304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2011680"/>
            <a:ext cx="3575304" cy="91440"/>
          </a:xfrm>
          <a:prstGeom prst="rect">
            <a:avLst/>
          </a:prstGeom>
          <a:solidFill>
            <a:srgbClr val="1F5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2240280"/>
            <a:ext cx="3209544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F5C8C"/>
                </a:solidFill>
                <a:latin typeface="KoPubWorld돋움체 Medium"/>
                <a:ea typeface="KoPubWorld돋움체 Medium"/>
              </a:rPr>
              <a:t>산업안전 (1차)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2926080"/>
            <a:ext cx="32095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CCTV·센서 이상 알림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안전수칙 즉시 검색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장비 자동 제어 연동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06824" y="2011680"/>
            <a:ext cx="3575304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306824" y="2011680"/>
            <a:ext cx="3575304" cy="91440"/>
          </a:xfrm>
          <a:prstGeom prst="rect">
            <a:avLst/>
          </a:prstGeom>
          <a:solidFill>
            <a:srgbClr val="2E7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89704" y="2240280"/>
            <a:ext cx="3209544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E7BB8"/>
                </a:solidFill>
                <a:latin typeface="KoPubWorld돋움체 Medium"/>
                <a:ea typeface="KoPubWorld돋움체 Medium"/>
              </a:rPr>
              <a:t>스마트교육 (2차 후보)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2926080"/>
            <a:ext cx="32095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오프라인 학습 튜터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AI 토론 배틀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학생 데이터 로컬 보관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56448" y="2011680"/>
            <a:ext cx="3575304" cy="4297680"/>
          </a:xfrm>
          <a:prstGeom prst="rect">
            <a:avLst/>
          </a:prstGeom>
          <a:solidFill>
            <a:srgbClr val="F0F3F5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156448" y="2011680"/>
            <a:ext cx="3575304" cy="91440"/>
          </a:xfrm>
          <a:prstGeom prst="rect">
            <a:avLst/>
          </a:prstGeom>
          <a:solidFill>
            <a:srgbClr val="266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39328" y="2240280"/>
            <a:ext cx="3209544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66F9F"/>
                </a:solidFill>
                <a:latin typeface="KoPubWorld돋움체 Medium"/>
                <a:ea typeface="KoPubWorld돋움체 Medium"/>
              </a:rPr>
              <a:t>기존 사업 연계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8" y="2926080"/>
            <a:ext cx="32095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산업안전 입찰 다수 추적 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엣지 하드웨어 제품군과 결합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● 실증 데모로 즉시 활용 가능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en-US" altLang="ko-KR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사업 활용 제안</a:t>
            </a:r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4. 도입 로드맵 제안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4. 도입 로드맵 제안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단계별 제품화 로드맵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709025"/>
              </p:ext>
            </p:extLst>
          </p:nvPr>
        </p:nvGraphicFramePr>
        <p:xfrm>
          <a:off x="457200" y="2011680"/>
          <a:ext cx="11274552" cy="2743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단계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내용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기간(안)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산출물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비고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/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현장 안전 PoC 고도화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1~2개월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실증 데모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이번 프로젝트 결과물 기반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실제 센서·임계값 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1개월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정식 기준 반영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현장 안전 담당자 협업 필요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엣지 하드웨어 탑재 검증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1~2개월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엣지 실기 테스트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현재는 자원 에뮬레이션 단계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고객 파일럿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2~3개월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레퍼런스 사례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기존 입찰 추적 대상과 연계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F0F3F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274320" cy="640080"/>
          </a:xfrm>
          <a:prstGeom prst="rtTriangle">
            <a:avLst/>
          </a:prstGeom>
          <a:solidFill>
            <a:srgbClr val="1F5C8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en-US" sz="22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80160" y="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사업 활용 제안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724900" y="935019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5. 논의가 필요한 지점</a:t>
            </a:r>
            <a:endParaRPr lang="en-US" sz="1400" dirty="0"/>
          </a:p>
        </p:txBody>
      </p:sp>
      <p:sp>
        <p:nvSpPr>
          <p:cNvPr id="31" name="사각형: 잘린 위쪽 모서리 30">
            <a:extLst>
              <a:ext uri="{FF2B5EF4-FFF2-40B4-BE49-F238E27FC236}">
                <a16:creationId xmlns:a16="http://schemas.microsoft.com/office/drawing/2014/main" id="{BBB0A8EA-37AD-05AC-50EA-383844BF9905}"/>
              </a:ext>
            </a:extLst>
          </p:cNvPr>
          <p:cNvSpPr/>
          <p:nvPr/>
        </p:nvSpPr>
        <p:spPr>
          <a:xfrm>
            <a:off x="9234732" y="248710"/>
            <a:ext cx="2468692" cy="345650"/>
          </a:xfrm>
          <a:prstGeom prst="snip2Same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5. 논의가 필요한 지점</a:t>
            </a:r>
            <a:r>
              <a:rPr lang="ko-KR" altLang="en-US" sz="16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3" name="모서리가 둥근 직사각형 67">
            <a:extLst>
              <a:ext uri="{FF2B5EF4-FFF2-40B4-BE49-F238E27FC236}">
                <a16:creationId xmlns:a16="http://schemas.microsoft.com/office/drawing/2014/main" id="{AA5D1AFF-0972-980F-6B8D-92D815481D3E}"/>
              </a:ext>
            </a:extLst>
          </p:cNvPr>
          <p:cNvSpPr/>
          <p:nvPr/>
        </p:nvSpPr>
        <p:spPr>
          <a:xfrm>
            <a:off x="457200" y="900686"/>
            <a:ext cx="11247120" cy="548640"/>
          </a:xfrm>
          <a:prstGeom prst="round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사업화 전 확인이 필요한 사항</a:t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b="1" spc="-100" dirty="0">
                <a:solidFill>
                  <a:srgbClr val="FFFF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x-none" altLang="en-US" b="1" spc="-100" dirty="0">
              <a:solidFill>
                <a:srgbClr val="FFFF00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7200" y="2011680"/>
            <a:ext cx="11274552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기술적 확인사항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실제 센서·임계값 확보 시점</a:t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lang="ko-KR" altLang="en-US" sz="1400" b="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실제 엣지 하드웨어 사양 확인</a:t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b="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엣지 실기 성능 — 현재는 자원 에뮬레이션뿐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lang="en-US"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장비 제어 매핑, 현장 검증 필요</a:t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b="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b="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사업적 확인사항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목표 고객군 — 신규 vs 기존 고객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709613" lvl="2" indent="-171450"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>가격 정책 — 1회성 vs 유지보수</a:t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r>
              <a:rPr sz="1200" dirty="0" err="1">
                <a:solidFill>
                  <a:srgbClr val="646464"/>
                </a:solidFill>
                <a:latin typeface="KoPubWorld돋움체 Medium"/>
                <a:ea typeface="KoPubWorld돋움체 Medium"/>
              </a:rPr>
              <a:t/>
            </a:r>
            <a:endParaRPr sz="1200" dirty="0">
              <a:solidFill>
                <a:srgbClr val="646464"/>
              </a:solidFill>
              <a:latin typeface="KoPubWorld돋움체 Medium"/>
              <a:ea typeface="KoPubWorld돋움체 Medium"/>
            </a:endParaRPr>
          </a:p>
          <a:p>
            <a:pPr marL="554038" lvl="1" indent="-285750">
              <a:spcAft>
                <a:spcPts val="400"/>
              </a:spcAft>
              <a:buFont typeface="Wingdings" panose="05000000000000000000" pitchFamily="2" charset="2"/>
              <a:buChar char="l"/>
            </a:pP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>경쟁 제품 벤치마킹 필요</a:t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r>
              <a:rPr sz="1400" dirty="0" err="1">
                <a:solidFill>
                  <a:srgbClr val="222222"/>
                </a:solidFill>
                <a:latin typeface="KoPubWorld돋움체 Medium"/>
                <a:ea typeface="KoPubWorld돋움체 Medium"/>
              </a:rPr>
              <a:t/>
            </a:r>
            <a:endParaRPr sz="1400" dirty="0">
              <a:solidFill>
                <a:srgbClr val="222222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endParaRPr lang="en-US"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  <a:p>
            <a:pPr marL="285750" indent="-28575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>다음 논의 — 파일럿 고객 1곳 선정</a:t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r>
              <a:rPr sz="1600" b="1" dirty="0" err="1">
                <a:solidFill>
                  <a:srgbClr val="1F5C8C"/>
                </a:solidFill>
                <a:latin typeface="KoPubWorld돋움체 Medium"/>
                <a:ea typeface="KoPubWorld돋움체 Medium"/>
              </a:rPr>
              <a:t/>
            </a:r>
            <a:endParaRPr sz="1600" b="1" dirty="0">
              <a:solidFill>
                <a:srgbClr val="1F5C8C"/>
              </a:solidFill>
              <a:latin typeface="KoPubWorld돋움체 Medium"/>
              <a:ea typeface="KoPubWorld돋움체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520</Words>
  <Application>Microsoft Office PowerPoint</Application>
  <PresentationFormat>와이드스크린</PresentationFormat>
  <Paragraphs>125</Paragraphs>
  <Slides>11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8" baseType="lpstr">
      <vt:lpstr>KoPubWorld돋움체 Bold</vt:lpstr>
      <vt:lpstr>KoPubWorld돋움체 Medium</vt:lpstr>
      <vt:lpstr>KoPub돋움체 Medium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Grib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Grib 표준 PPT 데모 (전체 레이아웃)</dc:title>
  <dc:subject/>
  <dc:creator>(주)그립</dc:creator>
  <cp:lastModifiedBy>Jeffrey Ahn</cp:lastModifiedBy>
  <cp:revision>4</cp:revision>
  <dcterms:created xsi:type="dcterms:W3CDTF">2026-06-15T09:39:04Z</dcterms:created>
  <dcterms:modified xsi:type="dcterms:W3CDTF">2026-06-15T10:50:39Z</dcterms:modified>
</cp:coreProperties>
</file>