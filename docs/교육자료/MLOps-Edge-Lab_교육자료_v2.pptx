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9" r:id="rId3"/>
    <p:sldId id="2147472757" r:id="rId32"/>
    <p:sldId id="2147472758" r:id="rId33"/>
    <p:sldId id="2147472759" r:id="rId34"/>
    <p:sldId id="2147472760" r:id="rId35"/>
    <p:sldId id="2147472761" r:id="rId36"/>
    <p:sldId id="2147472762" r:id="rId37"/>
    <p:sldId id="2147472763" r:id="rId38"/>
    <p:sldId id="2147472764" r:id="rId39"/>
    <p:sldId id="2147472765" r:id="rId40"/>
    <p:sldId id="2147472766" r:id="rId41"/>
    <p:sldId id="2147472767" r:id="rId42"/>
    <p:sldId id="2147472768" r:id="rId43"/>
    <p:sldId id="2147472769" r:id="rId44"/>
    <p:sldId id="2147472770" r:id="rId45"/>
    <p:sldId id="2147472771" r:id="rId46"/>
    <p:sldId id="2147472772" r:id="rId47"/>
    <p:sldId id="2147472773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AC9"/>
    <a:srgbClr val="0B111F"/>
    <a:srgbClr val="8490E8"/>
    <a:srgbClr val="0070C0"/>
    <a:srgbClr val="1571FF"/>
    <a:srgbClr val="3293FF"/>
    <a:srgbClr val="F6F8FD"/>
    <a:srgbClr val="FFFFFF"/>
    <a:srgbClr val="45108D"/>
    <a:srgbClr val="015B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4" autoAdjust="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79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315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hyperlink" Target="http://www.grib.co.kr/" TargetMode="External"/><Relationship Id="rId5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AF86F43-A9D4-FF5E-C153-FF01BCFA9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640080" y="2027127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4400" dirty="0">
                <a:solidFill>
                  <a:srgbClr val="1A233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</a:t>
            </a:r>
            <a:r>
              <a:rPr lang="ko-KR" altLang="en-US" sz="4400" dirty="0" err="1">
                <a:solidFill>
                  <a:srgbClr val="1A233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4400" dirty="0">
                <a:solidFill>
                  <a:srgbClr val="1A233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endParaRPr lang="ko-KR" altLang="en-US" sz="4400" dirty="0">
              <a:solidFill>
                <a:srgbClr val="1A2332"/>
              </a:solidFill>
              <a:latin typeface="KoPubWorld돋움체 Bold" pitchFamily="34" charset="0"/>
              <a:ea typeface="KoPubWorld돋움체 Bold" pitchFamily="34" charset="-122"/>
              <a:cs typeface="KoPubWorld돋움체 Bold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4400" dirty="0">
                <a:solidFill>
                  <a:srgbClr val="1A233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개인 학습 프로젝트 · 사내 교육자료</a:t>
            </a:r>
          </a:p>
          <a:p>
            <a:pPr marL="0" indent="0">
              <a:buNone/>
            </a:pPr>
            <a:r>
              <a:rPr lang="ko-KR" altLang="en-US" sz="4400" dirty="0">
                <a:solidFill>
                  <a:srgbClr val="1A233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 파이프라인 · 엣지 sLLM 구축기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FAEF137-5A54-EE2D-09DC-786079390B78}"/>
              </a:ext>
            </a:extLst>
          </p:cNvPr>
          <p:cNvSpPr/>
          <p:nvPr/>
        </p:nvSpPr>
        <p:spPr>
          <a:xfrm>
            <a:off x="702984" y="4591717"/>
            <a:ext cx="1981200" cy="320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2026. 09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9C573AC-BCCA-DDDB-72D7-56B7EB094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7023" y="5806352"/>
            <a:ext cx="773682" cy="7736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9CCDB36-4B3E-E2BF-48E7-0DF8DC41EBF9}"/>
              </a:ext>
            </a:extLst>
          </p:cNvPr>
          <p:cNvSpPr txBox="1"/>
          <p:nvPr/>
        </p:nvSpPr>
        <p:spPr>
          <a:xfrm>
            <a:off x="702984" y="6008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490E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온프레미스 sLLM으로 산업안전 Agent와 AI튜터를 함께 구축하며 기록한 결정들</a:t>
            </a:r>
            <a:r>
              <a:rPr lang="ko-KR" altLang="en-US" dirty="0">
                <a:solidFill>
                  <a:srgbClr val="8490E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51910A2-4EA9-0C89-6F7D-1036FF5BA9D5}"/>
              </a:ext>
            </a:extLst>
          </p:cNvPr>
          <p:cNvSpPr txBox="1"/>
          <p:nvPr/>
        </p:nvSpPr>
        <p:spPr>
          <a:xfrm>
            <a:off x="488974" y="344092"/>
            <a:ext cx="3499104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 err="1">
                <a:solidFill>
                  <a:srgbClr val="1A233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MLOps-Edge-Lab 교육자료</a:t>
            </a:r>
            <a:r>
              <a:rPr lang="ko-KR" altLang="en-US" sz="1400" dirty="0">
                <a:solidFill>
                  <a:srgbClr val="1A233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102" name="Text 0">
            <a:extLst>
              <a:ext uri="{FF2B5EF4-FFF2-40B4-BE49-F238E27FC236}">
                <a16:creationId xmlns:a16="http://schemas.microsoft.com/office/drawing/2014/main" id="{0150E003-8837-33AA-CA19-8D10BAAFDA2D}"/>
              </a:ext>
            </a:extLst>
          </p:cNvPr>
          <p:cNvSpPr/>
          <p:nvPr/>
        </p:nvSpPr>
        <p:spPr>
          <a:xfrm>
            <a:off x="1444179" y="1859766"/>
            <a:ext cx="1080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kern="0" spc="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목차</a:t>
            </a:r>
            <a:endParaRPr lang="en-US" sz="2400" kern="0" spc="1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3" name="Text 9">
            <a:extLst>
              <a:ext uri="{FF2B5EF4-FFF2-40B4-BE49-F238E27FC236}">
                <a16:creationId xmlns:a16="http://schemas.microsoft.com/office/drawing/2014/main" id="{325E533E-3A3B-7748-254D-025C25ACD175}"/>
              </a:ext>
            </a:extLst>
          </p:cNvPr>
          <p:cNvSpPr/>
          <p:nvPr/>
        </p:nvSpPr>
        <p:spPr>
          <a:xfrm>
            <a:off x="1544133" y="2435192"/>
            <a:ext cx="4207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함초롬바탕" panose="02030604000101010101" pitchFamily="18" charset="-127"/>
              </a:rPr>
              <a:t>Ⅰ</a:t>
            </a:r>
          </a:p>
        </p:txBody>
      </p:sp>
      <p:sp>
        <p:nvSpPr>
          <p:cNvPr id="104" name="Text 10">
            <a:extLst>
              <a:ext uri="{FF2B5EF4-FFF2-40B4-BE49-F238E27FC236}">
                <a16:creationId xmlns:a16="http://schemas.microsoft.com/office/drawing/2014/main" id="{13CD57FA-A5A5-C7CE-F91A-DBA02B2FFA8A}"/>
              </a:ext>
            </a:extLst>
          </p:cNvPr>
          <p:cNvSpPr/>
          <p:nvPr/>
        </p:nvSpPr>
        <p:spPr>
          <a:xfrm>
            <a:off x="1964857" y="2530488"/>
            <a:ext cx="3499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프로젝트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05" name="직선 연결선[R] 4">
            <a:extLst>
              <a:ext uri="{FF2B5EF4-FFF2-40B4-BE49-F238E27FC236}">
                <a16:creationId xmlns:a16="http://schemas.microsoft.com/office/drawing/2014/main" id="{31ECA638-AABB-4B84-8C0D-AC7262CA399D}"/>
              </a:ext>
            </a:extLst>
          </p:cNvPr>
          <p:cNvCxnSpPr>
            <a:cxnSpLocks/>
          </p:cNvCxnSpPr>
          <p:nvPr/>
        </p:nvCxnSpPr>
        <p:spPr>
          <a:xfrm>
            <a:off x="3377426" y="2690508"/>
            <a:ext cx="2873489" cy="0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 9">
            <a:extLst>
              <a:ext uri="{FF2B5EF4-FFF2-40B4-BE49-F238E27FC236}">
                <a16:creationId xmlns:a16="http://schemas.microsoft.com/office/drawing/2014/main" id="{1426F8FB-2B2D-AF9C-3F63-126315D8D8B7}"/>
              </a:ext>
            </a:extLst>
          </p:cNvPr>
          <p:cNvSpPr/>
          <p:nvPr/>
        </p:nvSpPr>
        <p:spPr>
          <a:xfrm>
            <a:off x="6395827" y="2471052"/>
            <a:ext cx="69566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3p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7" name="Text 9">
            <a:extLst>
              <a:ext uri="{FF2B5EF4-FFF2-40B4-BE49-F238E27FC236}">
                <a16:creationId xmlns:a16="http://schemas.microsoft.com/office/drawing/2014/main" id="{94BD4AEC-303D-75C4-C5DF-01BD423EA2AC}"/>
              </a:ext>
            </a:extLst>
          </p:cNvPr>
          <p:cNvSpPr/>
          <p:nvPr/>
        </p:nvSpPr>
        <p:spPr>
          <a:xfrm>
            <a:off x="1544133" y="3080948"/>
            <a:ext cx="4207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4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함초롬바탕" panose="02030604000101010101" pitchFamily="18" charset="-127"/>
              </a:rPr>
              <a:t>Ⅱ</a:t>
            </a:r>
            <a:endParaRPr lang="en-US" sz="24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108" name="Text 10">
            <a:extLst>
              <a:ext uri="{FF2B5EF4-FFF2-40B4-BE49-F238E27FC236}">
                <a16:creationId xmlns:a16="http://schemas.microsoft.com/office/drawing/2014/main" id="{7E4A05DF-50E3-7F7A-BEC6-26BA215ED638}"/>
              </a:ext>
            </a:extLst>
          </p:cNvPr>
          <p:cNvSpPr/>
          <p:nvPr/>
        </p:nvSpPr>
        <p:spPr>
          <a:xfrm>
            <a:off x="1964857" y="3173426"/>
            <a:ext cx="3499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설계원칙</a:t>
            </a:r>
          </a:p>
        </p:txBody>
      </p:sp>
      <p:cxnSp>
        <p:nvCxnSpPr>
          <p:cNvPr id="109" name="직선 연결선[R] 46">
            <a:extLst>
              <a:ext uri="{FF2B5EF4-FFF2-40B4-BE49-F238E27FC236}">
                <a16:creationId xmlns:a16="http://schemas.microsoft.com/office/drawing/2014/main" id="{2941F46D-F3B1-17EF-897F-8449272BD2D6}"/>
              </a:ext>
            </a:extLst>
          </p:cNvPr>
          <p:cNvCxnSpPr>
            <a:cxnSpLocks/>
          </p:cNvCxnSpPr>
          <p:nvPr/>
        </p:nvCxnSpPr>
        <p:spPr>
          <a:xfrm>
            <a:off x="3377426" y="3333446"/>
            <a:ext cx="2873489" cy="0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 9">
            <a:extLst>
              <a:ext uri="{FF2B5EF4-FFF2-40B4-BE49-F238E27FC236}">
                <a16:creationId xmlns:a16="http://schemas.microsoft.com/office/drawing/2014/main" id="{9DFACA28-FA01-67F4-4A7C-D410E6551925}"/>
              </a:ext>
            </a:extLst>
          </p:cNvPr>
          <p:cNvSpPr/>
          <p:nvPr/>
        </p:nvSpPr>
        <p:spPr>
          <a:xfrm>
            <a:off x="6395827" y="3113990"/>
            <a:ext cx="69566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7p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11" name="Text 9">
            <a:extLst>
              <a:ext uri="{FF2B5EF4-FFF2-40B4-BE49-F238E27FC236}">
                <a16:creationId xmlns:a16="http://schemas.microsoft.com/office/drawing/2014/main" id="{C7F749CF-F615-31B7-CF12-B6FBD67D3550}"/>
              </a:ext>
            </a:extLst>
          </p:cNvPr>
          <p:cNvSpPr/>
          <p:nvPr/>
        </p:nvSpPr>
        <p:spPr>
          <a:xfrm>
            <a:off x="1544133" y="3789459"/>
            <a:ext cx="4207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4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함초롬바탕" panose="02030604000101010101" pitchFamily="18" charset="-127"/>
              </a:rPr>
              <a:t>Ⅲ</a:t>
            </a:r>
            <a:endParaRPr lang="en-US" sz="24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112" name="Text 10">
            <a:extLst>
              <a:ext uri="{FF2B5EF4-FFF2-40B4-BE49-F238E27FC236}">
                <a16:creationId xmlns:a16="http://schemas.microsoft.com/office/drawing/2014/main" id="{82666F03-F58D-DFEF-BE87-511A0FF303F2}"/>
              </a:ext>
            </a:extLst>
          </p:cNvPr>
          <p:cNvSpPr/>
          <p:nvPr/>
        </p:nvSpPr>
        <p:spPr>
          <a:xfrm>
            <a:off x="1964857" y="3873513"/>
            <a:ext cx="3499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아키텍처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13" name="직선 연결선[R] 62">
            <a:extLst>
              <a:ext uri="{FF2B5EF4-FFF2-40B4-BE49-F238E27FC236}">
                <a16:creationId xmlns:a16="http://schemas.microsoft.com/office/drawing/2014/main" id="{72F9606C-8C88-C6DC-A153-632B7B900B0A}"/>
              </a:ext>
            </a:extLst>
          </p:cNvPr>
          <p:cNvCxnSpPr>
            <a:cxnSpLocks/>
          </p:cNvCxnSpPr>
          <p:nvPr/>
        </p:nvCxnSpPr>
        <p:spPr>
          <a:xfrm>
            <a:off x="3377426" y="4033533"/>
            <a:ext cx="2873489" cy="0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 9">
            <a:extLst>
              <a:ext uri="{FF2B5EF4-FFF2-40B4-BE49-F238E27FC236}">
                <a16:creationId xmlns:a16="http://schemas.microsoft.com/office/drawing/2014/main" id="{38454F25-32B5-553C-4E5A-6637F7870B7D}"/>
              </a:ext>
            </a:extLst>
          </p:cNvPr>
          <p:cNvSpPr/>
          <p:nvPr/>
        </p:nvSpPr>
        <p:spPr>
          <a:xfrm>
            <a:off x="6395827" y="3814077"/>
            <a:ext cx="69566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10p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15" name="Text 9">
            <a:extLst>
              <a:ext uri="{FF2B5EF4-FFF2-40B4-BE49-F238E27FC236}">
                <a16:creationId xmlns:a16="http://schemas.microsoft.com/office/drawing/2014/main" id="{9BFDF1EB-792F-18BA-7625-EBB0FE79F72F}"/>
              </a:ext>
            </a:extLst>
          </p:cNvPr>
          <p:cNvSpPr/>
          <p:nvPr/>
        </p:nvSpPr>
        <p:spPr>
          <a:xfrm>
            <a:off x="1544133" y="4417285"/>
            <a:ext cx="4207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4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함초롬바탕" panose="02030604000101010101" pitchFamily="18" charset="-127"/>
              </a:rPr>
              <a:t>Ⅳ</a:t>
            </a:r>
            <a:endParaRPr lang="en-US" sz="24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116" name="Text 10">
            <a:extLst>
              <a:ext uri="{FF2B5EF4-FFF2-40B4-BE49-F238E27FC236}">
                <a16:creationId xmlns:a16="http://schemas.microsoft.com/office/drawing/2014/main" id="{8D44491A-4FC7-F83D-D2F4-7090FC04516D}"/>
              </a:ext>
            </a:extLst>
          </p:cNvPr>
          <p:cNvSpPr/>
          <p:nvPr/>
        </p:nvSpPr>
        <p:spPr>
          <a:xfrm>
            <a:off x="1964857" y="4512040"/>
            <a:ext cx="3499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확장전략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17" name="직선 연결선[R] 46">
            <a:extLst>
              <a:ext uri="{FF2B5EF4-FFF2-40B4-BE49-F238E27FC236}">
                <a16:creationId xmlns:a16="http://schemas.microsoft.com/office/drawing/2014/main" id="{42B80301-9F2D-E6A4-4702-539F4EEFFA3D}"/>
              </a:ext>
            </a:extLst>
          </p:cNvPr>
          <p:cNvCxnSpPr>
            <a:cxnSpLocks/>
          </p:cNvCxnSpPr>
          <p:nvPr/>
        </p:nvCxnSpPr>
        <p:spPr>
          <a:xfrm>
            <a:off x="3377426" y="4672060"/>
            <a:ext cx="2873489" cy="0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 9">
            <a:extLst>
              <a:ext uri="{FF2B5EF4-FFF2-40B4-BE49-F238E27FC236}">
                <a16:creationId xmlns:a16="http://schemas.microsoft.com/office/drawing/2014/main" id="{0C46A07C-1C77-2915-2A1C-EF2510D2ADB9}"/>
              </a:ext>
            </a:extLst>
          </p:cNvPr>
          <p:cNvSpPr/>
          <p:nvPr/>
        </p:nvSpPr>
        <p:spPr>
          <a:xfrm>
            <a:off x="6395827" y="4452604"/>
            <a:ext cx="69566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16p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9B251E5-5547-F2F1-8281-949D10544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7023" y="5806352"/>
            <a:ext cx="773682" cy="77368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그림 2">
            <a:extLst>
              <a:ext uri="{FF2B5EF4-FFF2-40B4-BE49-F238E27FC236}">
                <a16:creationId xmlns:a16="http://schemas.microsoft.com/office/drawing/2014/main" id="{73F0FFE8-821D-1F03-28B7-B987F7DD5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6D5855-FFDD-CA46-3408-6C352CFD48D9}"/>
              </a:ext>
            </a:extLst>
          </p:cNvPr>
          <p:cNvSpPr txBox="1"/>
          <p:nvPr/>
        </p:nvSpPr>
        <p:spPr>
          <a:xfrm>
            <a:off x="648820" y="1574214"/>
            <a:ext cx="51623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fontAlgn="base" latinLnBrk="0"/>
            <a:r>
              <a:rPr lang="en-US" altLang="ko-KR" sz="6000" b="1" kern="0" spc="85" dirty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Ⅰ</a:t>
            </a:r>
            <a:endParaRPr lang="ko-KR" altLang="en-US" sz="6000" b="1" kern="0" dirty="0">
              <a:latin typeface="KoPubWorld돋움체 Medium" panose="000006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84A86-BCEC-0C66-E649-40F84AB83DBC}"/>
              </a:ext>
            </a:extLst>
          </p:cNvPr>
          <p:cNvSpPr txBox="1"/>
          <p:nvPr/>
        </p:nvSpPr>
        <p:spPr>
          <a:xfrm>
            <a:off x="630188" y="2514565"/>
            <a:ext cx="3071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프로젝트</a:t>
            </a:r>
            <a:endParaRPr lang="ko-KR" altLang="en-US" sz="8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B805DB-9BDD-ABA1-0976-DD9DE7FA8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7023" y="5806352"/>
            <a:ext cx="773682" cy="77368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 3"/>
          <p:cNvSpPr/>
          <p:nvPr/>
        </p:nvSpPr>
        <p:spPr>
          <a:xfrm>
            <a:off x="463296" y="1511808"/>
            <a:ext cx="11460480" cy="536448"/>
          </a:xfrm>
          <a:prstGeom prst="roundRect">
            <a:avLst>
              <a:gd name="adj" fmla="val 15909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6" name="Text 4"/>
          <p:cNvSpPr txBox="1"/>
          <p:nvPr/>
        </p:nvSpPr>
        <p:spPr>
          <a:xfrm>
            <a:off x="633984" y="1572768"/>
            <a:ext cx="109728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개발 · 온프레미스 GPU 서버 1대(개발+운영 겸용) · 2026-09-17 시작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3296" y="2243328"/>
            <a:ext cx="365760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8" name="Shape 6"/>
          <p:cNvSpPr/>
          <p:nvPr/>
        </p:nvSpPr>
        <p:spPr>
          <a:xfrm>
            <a:off x="609600" y="238963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9" name="Text 7"/>
          <p:cNvSpPr txBox="1"/>
          <p:nvPr/>
        </p:nvSpPr>
        <p:spPr>
          <a:xfrm>
            <a:off x="609600" y="238963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67" dirty="0"/>
          </a:p>
        </p:txBody>
      </p:sp>
      <p:sp>
        <p:nvSpPr>
          <p:cNvPr id="10" name="Text 8"/>
          <p:cNvSpPr txBox="1"/>
          <p:nvPr/>
        </p:nvSpPr>
        <p:spPr>
          <a:xfrm>
            <a:off x="1194816" y="2414016"/>
            <a:ext cx="263347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94816" y="2517648"/>
            <a:ext cx="33649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MLOps 파이프라인 구축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 → 학습 → 양자화 → RAG → Agent → 배포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4364736" y="2243328"/>
            <a:ext cx="365760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3" name="Shape 11"/>
          <p:cNvSpPr/>
          <p:nvPr/>
        </p:nvSpPr>
        <p:spPr>
          <a:xfrm>
            <a:off x="4511040" y="238963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4" name="Text 12"/>
          <p:cNvSpPr txBox="1"/>
          <p:nvPr/>
        </p:nvSpPr>
        <p:spPr>
          <a:xfrm>
            <a:off x="4511040" y="238963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67" dirty="0"/>
          </a:p>
        </p:txBody>
      </p:sp>
      <p:sp>
        <p:nvSpPr>
          <p:cNvPr id="15" name="Text 13"/>
          <p:cNvSpPr txBox="1"/>
          <p:nvPr/>
        </p:nvSpPr>
        <p:spPr>
          <a:xfrm>
            <a:off x="5096256" y="2414016"/>
            <a:ext cx="263347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96256" y="2621280"/>
            <a:ext cx="33649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엣지 배포용 sLLM 구축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 파인튜닝 → GGUF 양자화</a:t>
            </a:r>
            <a:r>
              <a:rPr lang="en-US" sz="1133" dirty="0" err="1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r>
              <a:rPr lang="en-US" sz="1133" dirty="0" err="1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133" dirty="0"/>
          </a:p>
        </p:txBody>
      </p:sp>
      <p:sp>
        <p:nvSpPr>
          <p:cNvPr id="17" name="Shape 15"/>
          <p:cNvSpPr/>
          <p:nvPr/>
        </p:nvSpPr>
        <p:spPr>
          <a:xfrm>
            <a:off x="8266176" y="2243328"/>
            <a:ext cx="365760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Shape 16"/>
          <p:cNvSpPr/>
          <p:nvPr/>
        </p:nvSpPr>
        <p:spPr>
          <a:xfrm>
            <a:off x="8412480" y="238963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9" name="Text 17"/>
          <p:cNvSpPr txBox="1"/>
          <p:nvPr/>
        </p:nvSpPr>
        <p:spPr>
          <a:xfrm>
            <a:off x="8412480" y="238963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467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2414016"/>
            <a:ext cx="263347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2517648"/>
            <a:ext cx="33649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 GPU 서버 1대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개발과 운영(서빙) 겸용</a:t>
            </a:r>
            <a:endParaRPr lang="en-US" sz="1133" dirty="0"/>
          </a:p>
        </p:txBody>
      </p:sp>
      <p:sp>
        <p:nvSpPr>
          <p:cNvPr id="22" name="Shape 20"/>
          <p:cNvSpPr/>
          <p:nvPr/>
        </p:nvSpPr>
        <p:spPr>
          <a:xfrm>
            <a:off x="463296" y="4315968"/>
            <a:ext cx="560832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Shape 21"/>
          <p:cNvSpPr/>
          <p:nvPr/>
        </p:nvSpPr>
        <p:spPr>
          <a:xfrm>
            <a:off x="609600" y="446227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4" name="Text 22"/>
          <p:cNvSpPr txBox="1"/>
          <p:nvPr/>
        </p:nvSpPr>
        <p:spPr>
          <a:xfrm>
            <a:off x="609600" y="446227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467" dirty="0"/>
          </a:p>
        </p:txBody>
      </p:sp>
      <p:sp>
        <p:nvSpPr>
          <p:cNvPr id="25" name="Text 23"/>
          <p:cNvSpPr txBox="1"/>
          <p:nvPr/>
        </p:nvSpPr>
        <p:spPr>
          <a:xfrm>
            <a:off x="1194816" y="4486656"/>
            <a:ext cx="458419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성격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94816" y="4590288"/>
            <a:ext cx="53157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학습 프로젝트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후 사내 교육자료로 정리</a:t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6315456" y="4315968"/>
            <a:ext cx="560832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8" name="Shape 26"/>
          <p:cNvSpPr/>
          <p:nvPr/>
        </p:nvSpPr>
        <p:spPr>
          <a:xfrm>
            <a:off x="6461760" y="446227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9" name="Text 27"/>
          <p:cNvSpPr txBox="1"/>
          <p:nvPr/>
        </p:nvSpPr>
        <p:spPr>
          <a:xfrm>
            <a:off x="6461760" y="446227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467" dirty="0"/>
          </a:p>
        </p:txBody>
      </p:sp>
      <p:sp>
        <p:nvSpPr>
          <p:cNvPr id="30" name="Text 28"/>
          <p:cNvSpPr txBox="1"/>
          <p:nvPr/>
        </p:nvSpPr>
        <p:spPr>
          <a:xfrm>
            <a:off x="7046976" y="4486656"/>
            <a:ext cx="458419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스택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46976" y="4590288"/>
            <a:ext cx="53157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· uv · MLflow · FastAPI · llama.cpp · FAISS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2개: 산업안전 · AI튜터</a:t>
            </a:r>
            <a:endParaRPr lang="en-US" sz="1133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FFA5FD78-E581-E464-87EA-DB3844AB456B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프로젝트 개요</a:t>
            </a:r>
            <a:r>
              <a:rPr lang="ko-KR" altLang="en-US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DE3A30E2-D8D7-C38D-9118-D336E12CC964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0841DFDE-6098-E048-0D7E-45AC4574FEEF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900" dirty="0">
                <a:solidFill>
                  <a:srgbClr val="5B6672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4</a:t>
            </a:r>
            <a:endParaRPr lang="en-US" sz="9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8EB809E3-6C91-4B75-90F7-28C588A13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906" y="3044953"/>
            <a:ext cx="908302" cy="908302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C58AE54-64CD-854B-FB62-8A11C5A15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951" y="3143685"/>
            <a:ext cx="845894" cy="845894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4397E4DA-88EB-9122-077C-4078D68A2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8861" y="3125008"/>
            <a:ext cx="800816" cy="800816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928F3B82-E9C6-5F96-E1D8-986DAD66E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5165743"/>
            <a:ext cx="835152" cy="835152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23EB6B4-8B05-FACB-9BD7-F774616672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6498" y="5193175"/>
            <a:ext cx="877823" cy="877823"/>
          </a:xfrm>
          <a:prstGeom prst="rect">
            <a:avLst/>
          </a:prstGeom>
        </p:spPr>
      </p:pic>
      <p:sp>
        <p:nvSpPr>
          <p:cNvPr id="59" name="Text 19">
            <a:extLst>
              <a:ext uri="{FF2B5EF4-FFF2-40B4-BE49-F238E27FC236}">
                <a16:creationId xmlns:a16="http://schemas.microsoft.com/office/drawing/2014/main" id="{20F71D98-2271-D242-5C1F-030C2D85C9F2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A2FAC0A-EF78-8308-6DAE-99AA038A558D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 파이프라인 구축과 엣지 sLLM 구축, 두 가지 목표의 개인 학습 프로젝트</a:t>
            </a:r>
            <a:r>
              <a:rPr lang="ko-KR" alt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7C076D-EF94-9723-83E4-F899CCEB972B}"/>
              </a:ext>
            </a:extLst>
          </p:cNvPr>
          <p:cNvSpPr txBox="1"/>
          <p:nvPr/>
        </p:nvSpPr>
        <p:spPr>
          <a:xfrm>
            <a:off x="11187838" y="368233"/>
            <a:ext cx="295720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6E1AA26B-8766-3722-BE7E-6D055CAEA869}"/>
              </a:ext>
            </a:extLst>
          </p:cNvPr>
          <p:cNvCxnSpPr>
            <a:cxnSpLocks/>
          </p:cNvCxnSpPr>
          <p:nvPr/>
        </p:nvCxnSpPr>
        <p:spPr>
          <a:xfrm>
            <a:off x="11538961" y="402343"/>
            <a:ext cx="0" cy="20878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CB8CCE0-38A0-53B4-D458-7A45F73362E9}"/>
              </a:ext>
            </a:extLst>
          </p:cNvPr>
          <p:cNvSpPr txBox="1"/>
          <p:nvPr/>
        </p:nvSpPr>
        <p:spPr>
          <a:xfrm>
            <a:off x="11575163" y="368233"/>
            <a:ext cx="402014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3" name="사각형: 잘린 한쪽 모서리 62">
            <a:extLst>
              <a:ext uri="{FF2B5EF4-FFF2-40B4-BE49-F238E27FC236}">
                <a16:creationId xmlns:a16="http://schemas.microsoft.com/office/drawing/2014/main" id="{7D8EFFFC-1767-12F0-7778-B0EB5CD48962}"/>
              </a:ext>
            </a:extLst>
          </p:cNvPr>
          <p:cNvSpPr/>
          <p:nvPr/>
        </p:nvSpPr>
        <p:spPr>
          <a:xfrm rot="10800000">
            <a:off x="10260651" y="378499"/>
            <a:ext cx="893082" cy="266733"/>
          </a:xfrm>
          <a:prstGeom prst="snip1Rect">
            <a:avLst>
              <a:gd name="adj" fmla="val 46697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E6B58E-407E-5316-6ECD-5CB3120E897A}"/>
              </a:ext>
            </a:extLst>
          </p:cNvPr>
          <p:cNvSpPr txBox="1"/>
          <p:nvPr/>
        </p:nvSpPr>
        <p:spPr>
          <a:xfrm>
            <a:off x="10249630" y="378499"/>
            <a:ext cx="95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함초롬바탕" panose="02030604000101010101" pitchFamily="18" charset="-127"/>
              </a:rPr>
              <a:t>Ⅰ 프로젝트</a:t>
            </a:r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/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79BB59-EB5D-25EB-C58B-62A4F6C11A86}"/>
              </a:ext>
            </a:extLst>
          </p:cNvPr>
          <p:cNvSpPr txBox="1"/>
          <p:nvPr/>
        </p:nvSpPr>
        <p:spPr>
          <a:xfrm>
            <a:off x="9836860" y="379844"/>
            <a:ext cx="321165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9256C92-CF17-D55C-FCD6-484C3F0AC2A9}"/>
              </a:ext>
            </a:extLst>
          </p:cNvPr>
          <p:cNvCxnSpPr>
            <a:cxnSpLocks/>
          </p:cNvCxnSpPr>
          <p:nvPr/>
        </p:nvCxnSpPr>
        <p:spPr>
          <a:xfrm>
            <a:off x="10158025" y="402343"/>
            <a:ext cx="0" cy="20878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 3"/>
          <p:cNvSpPr/>
          <p:nvPr/>
        </p:nvSpPr>
        <p:spPr>
          <a:xfrm>
            <a:off x="463296" y="1511808"/>
            <a:ext cx="11460480" cy="536448"/>
          </a:xfrm>
          <a:prstGeom prst="roundRect">
            <a:avLst>
              <a:gd name="adj" fmla="val 15909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6" name="Text 4"/>
          <p:cNvSpPr txBox="1"/>
          <p:nvPr/>
        </p:nvSpPr>
        <p:spPr>
          <a:xfrm>
            <a:off x="633984" y="1572768"/>
            <a:ext cx="109728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온프레미스·오프라인 우선 — 완전 폐쇄망에서도 동작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3296" y="2243328"/>
            <a:ext cx="365760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8" name="Shape 6"/>
          <p:cNvSpPr/>
          <p:nvPr/>
        </p:nvSpPr>
        <p:spPr>
          <a:xfrm>
            <a:off x="609600" y="238963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9" name="Text 7"/>
          <p:cNvSpPr txBox="1"/>
          <p:nvPr/>
        </p:nvSpPr>
        <p:spPr>
          <a:xfrm>
            <a:off x="609600" y="238963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67" dirty="0"/>
          </a:p>
        </p:txBody>
      </p:sp>
      <p:sp>
        <p:nvSpPr>
          <p:cNvPr id="10" name="Text 8"/>
          <p:cNvSpPr txBox="1"/>
          <p:nvPr/>
        </p:nvSpPr>
        <p:spPr>
          <a:xfrm>
            <a:off x="1194816" y="2414016"/>
            <a:ext cx="263347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94816" y="2517648"/>
            <a:ext cx="33649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단절 환경에서도 전 기능 동작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유무 모두 대응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4364736" y="2243328"/>
            <a:ext cx="365760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3" name="Shape 11"/>
          <p:cNvSpPr/>
          <p:nvPr/>
        </p:nvSpPr>
        <p:spPr>
          <a:xfrm>
            <a:off x="4511040" y="238963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4" name="Text 12"/>
          <p:cNvSpPr txBox="1"/>
          <p:nvPr/>
        </p:nvSpPr>
        <p:spPr>
          <a:xfrm>
            <a:off x="4511040" y="238963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67" dirty="0"/>
          </a:p>
        </p:txBody>
      </p:sp>
      <p:sp>
        <p:nvSpPr>
          <p:cNvPr id="15" name="Text 13"/>
          <p:cNvSpPr txBox="1"/>
          <p:nvPr/>
        </p:nvSpPr>
        <p:spPr>
          <a:xfrm>
            <a:off x="5096256" y="2414016"/>
            <a:ext cx="263347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판정=규칙, 서술=LLM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96256" y="2621280"/>
            <a:ext cx="33649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결정에 확률모델 배제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판정·장비제어는 규칙, LLM은 서술·검색만</a:t>
            </a:r>
            <a:r>
              <a:rPr lang="en-US" sz="1133" dirty="0" err="1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r>
              <a:rPr lang="en-US" sz="1133" dirty="0" err="1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133" dirty="0"/>
          </a:p>
        </p:txBody>
      </p:sp>
      <p:sp>
        <p:nvSpPr>
          <p:cNvPr id="17" name="Shape 15"/>
          <p:cNvSpPr/>
          <p:nvPr/>
        </p:nvSpPr>
        <p:spPr>
          <a:xfrm>
            <a:off x="8266176" y="2243328"/>
            <a:ext cx="365760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Shape 16"/>
          <p:cNvSpPr/>
          <p:nvPr/>
        </p:nvSpPr>
        <p:spPr>
          <a:xfrm>
            <a:off x="8412480" y="238963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9" name="Text 17"/>
          <p:cNvSpPr txBox="1"/>
          <p:nvPr/>
        </p:nvSpPr>
        <p:spPr>
          <a:xfrm>
            <a:off x="8412480" y="238963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467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2414016"/>
            <a:ext cx="263347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양자화 겸용 서빙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2517648"/>
            <a:ext cx="33649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GGUF 1개 파일로 CPU/GPU 겸용 서빙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파일로 이기종 대응</a:t>
            </a:r>
            <a:endParaRPr lang="en-US" sz="1133" dirty="0"/>
          </a:p>
        </p:txBody>
      </p:sp>
      <p:sp>
        <p:nvSpPr>
          <p:cNvPr id="22" name="Shape 20"/>
          <p:cNvSpPr/>
          <p:nvPr/>
        </p:nvSpPr>
        <p:spPr>
          <a:xfrm>
            <a:off x="463296" y="4315968"/>
            <a:ext cx="560832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Shape 21"/>
          <p:cNvSpPr/>
          <p:nvPr/>
        </p:nvSpPr>
        <p:spPr>
          <a:xfrm>
            <a:off x="609600" y="446227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4" name="Text 22"/>
          <p:cNvSpPr txBox="1"/>
          <p:nvPr/>
        </p:nvSpPr>
        <p:spPr>
          <a:xfrm>
            <a:off x="609600" y="446227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467" dirty="0"/>
          </a:p>
        </p:txBody>
      </p:sp>
      <p:sp>
        <p:nvSpPr>
          <p:cNvPr id="25" name="Text 23"/>
          <p:cNvSpPr txBox="1"/>
          <p:nvPr/>
        </p:nvSpPr>
        <p:spPr>
          <a:xfrm>
            <a:off x="1194816" y="4486656"/>
            <a:ext cx="458419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실서비스로 검증됨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94816" y="4590288"/>
            <a:ext cx="53157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모두 /control-room 실서비스에서 검증됨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6315456" y="4315968"/>
            <a:ext cx="560832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8" name="Shape 26"/>
          <p:cNvSpPr/>
          <p:nvPr/>
        </p:nvSpPr>
        <p:spPr>
          <a:xfrm>
            <a:off x="6461760" y="446227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9" name="Text 27"/>
          <p:cNvSpPr txBox="1"/>
          <p:nvPr/>
        </p:nvSpPr>
        <p:spPr>
          <a:xfrm>
            <a:off x="6461760" y="446227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467" dirty="0"/>
          </a:p>
        </p:txBody>
      </p:sp>
      <p:sp>
        <p:nvSpPr>
          <p:cNvPr id="30" name="Text 28"/>
          <p:cNvSpPr txBox="1"/>
          <p:nvPr/>
        </p:nvSpPr>
        <p:spPr>
          <a:xfrm>
            <a:off x="7046976" y="4486656"/>
            <a:ext cx="458419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도메인 재사용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46976" y="4590288"/>
            <a:ext cx="53157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산업안전 Agent + AI튜터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스택, 두 도메인</a:t>
            </a:r>
            <a:endParaRPr lang="en-US" sz="1133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FFA5FD78-E581-E464-87EA-DB3844AB456B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핵심 설계 강점</a:t>
            </a:r>
            <a:r>
              <a:rPr lang="ko-KR" altLang="en-US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DE3A30E2-D8D7-C38D-9118-D336E12CC964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0841DFDE-6098-E048-0D7E-45AC4574FEEF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900" dirty="0">
                <a:solidFill>
                  <a:srgbClr val="5B6672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5</a:t>
            </a:r>
            <a:endParaRPr lang="en-US" sz="9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20F71D98-2271-D242-5C1F-030C2D85C9F2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A2FAC0A-EF78-8308-6DAE-99AA038A558D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온프레미스·오프라인 우선 설계 — 실제 서비스로 검증한 5가지 강점</a:t>
            </a:r>
            <a:r>
              <a:rPr lang="ko-KR" alt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7C076D-EF94-9723-83E4-F899CCEB972B}"/>
              </a:ext>
            </a:extLst>
          </p:cNvPr>
          <p:cNvSpPr txBox="1"/>
          <p:nvPr/>
        </p:nvSpPr>
        <p:spPr>
          <a:xfrm>
            <a:off x="11187838" y="368233"/>
            <a:ext cx="295720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6E1AA26B-8766-3722-BE7E-6D055CAEA869}"/>
              </a:ext>
            </a:extLst>
          </p:cNvPr>
          <p:cNvCxnSpPr>
            <a:cxnSpLocks/>
          </p:cNvCxnSpPr>
          <p:nvPr/>
        </p:nvCxnSpPr>
        <p:spPr>
          <a:xfrm>
            <a:off x="11538961" y="402343"/>
            <a:ext cx="0" cy="20878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CB8CCE0-38A0-53B4-D458-7A45F73362E9}"/>
              </a:ext>
            </a:extLst>
          </p:cNvPr>
          <p:cNvSpPr txBox="1"/>
          <p:nvPr/>
        </p:nvSpPr>
        <p:spPr>
          <a:xfrm>
            <a:off x="11575163" y="368233"/>
            <a:ext cx="402014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3" name="사각형: 잘린 한쪽 모서리 62">
            <a:extLst>
              <a:ext uri="{FF2B5EF4-FFF2-40B4-BE49-F238E27FC236}">
                <a16:creationId xmlns:a16="http://schemas.microsoft.com/office/drawing/2014/main" id="{7D8EFFFC-1767-12F0-7778-B0EB5CD48962}"/>
              </a:ext>
            </a:extLst>
          </p:cNvPr>
          <p:cNvSpPr/>
          <p:nvPr/>
        </p:nvSpPr>
        <p:spPr>
          <a:xfrm rot="10800000">
            <a:off x="10260651" y="378499"/>
            <a:ext cx="893082" cy="266733"/>
          </a:xfrm>
          <a:prstGeom prst="snip1Rect">
            <a:avLst>
              <a:gd name="adj" fmla="val 46697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E6B58E-407E-5316-6ECD-5CB3120E897A}"/>
              </a:ext>
            </a:extLst>
          </p:cNvPr>
          <p:cNvSpPr txBox="1"/>
          <p:nvPr/>
        </p:nvSpPr>
        <p:spPr>
          <a:xfrm>
            <a:off x="10249630" y="378499"/>
            <a:ext cx="95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함초롬바탕" panose="02030604000101010101" pitchFamily="18" charset="-127"/>
              </a:rPr>
              <a:t>Ⅰ 프로젝트</a:t>
            </a:r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/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79BB59-EB5D-25EB-C58B-62A4F6C11A86}"/>
              </a:ext>
            </a:extLst>
          </p:cNvPr>
          <p:cNvSpPr txBox="1"/>
          <p:nvPr/>
        </p:nvSpPr>
        <p:spPr>
          <a:xfrm>
            <a:off x="9836860" y="379844"/>
            <a:ext cx="321165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9256C92-CF17-D55C-FCD6-484C3F0AC2A9}"/>
              </a:ext>
            </a:extLst>
          </p:cNvPr>
          <p:cNvCxnSpPr>
            <a:cxnSpLocks/>
          </p:cNvCxnSpPr>
          <p:nvPr/>
        </p:nvCxnSpPr>
        <p:spPr>
          <a:xfrm>
            <a:off x="10158025" y="402343"/>
            <a:ext cx="0" cy="20878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Shape 4"/>
          <p:cNvSpPr/>
          <p:nvPr/>
        </p:nvSpPr>
        <p:spPr>
          <a:xfrm>
            <a:off x="463296" y="1682496"/>
            <a:ext cx="3657600" cy="442803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/>
          <a:lstStyle/>
          <a:p>
            <a:endParaRPr lang="ko-KR" altLang="en-US" sz="3200"/>
          </a:p>
        </p:txBody>
      </p:sp>
      <p:sp>
        <p:nvSpPr>
          <p:cNvPr id="7" name="Shape 5"/>
          <p:cNvSpPr/>
          <p:nvPr/>
        </p:nvSpPr>
        <p:spPr>
          <a:xfrm>
            <a:off x="609600" y="1828800"/>
            <a:ext cx="3364992" cy="414528"/>
          </a:xfrm>
          <a:prstGeom prst="roundRect">
            <a:avLst>
              <a:gd name="adj" fmla="val 14706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8" name="Text 6"/>
          <p:cNvSpPr txBox="1"/>
          <p:nvPr/>
        </p:nvSpPr>
        <p:spPr>
          <a:xfrm>
            <a:off x="763928" y="1828800"/>
            <a:ext cx="3210663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처리량</a:t>
            </a:r>
            <a:endParaRPr lang="en-US" sz="1267" dirty="0"/>
          </a:p>
        </p:txBody>
      </p:sp>
      <p:sp>
        <p:nvSpPr>
          <p:cNvPr id="9" name="Text 7"/>
          <p:cNvSpPr txBox="1"/>
          <p:nvPr/>
        </p:nvSpPr>
        <p:spPr>
          <a:xfrm>
            <a:off x="646176" y="207838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문서 추출 738/738건(안전 문서, 성공률 99.9%)</a:t>
            </a:r>
            <a:endParaRPr lang="en-US" sz="1133" dirty="0"/>
          </a:p>
        </p:txBody>
      </p:sp>
      <p:sp>
        <p:nvSpPr>
          <p:cNvPr id="10" name="Text 8"/>
          <p:cNvSpPr txBox="1"/>
          <p:nvPr/>
        </p:nvSpPr>
        <p:spPr>
          <a:xfrm>
            <a:off x="646176" y="231682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안전 RAG 청크 12,964개(FAISS 인덱스)</a:t>
            </a:r>
            <a:endParaRPr lang="en-US" sz="1133" dirty="0"/>
          </a:p>
        </p:txBody>
      </p:sp>
      <p:sp>
        <p:nvSpPr>
          <p:cNvPr id="11" name="Text 9"/>
          <p:cNvSpPr txBox="1"/>
          <p:nvPr/>
        </p:nvSpPr>
        <p:spPr>
          <a:xfrm>
            <a:off x="646176" y="2568109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AI튜터 RAG 청크 2,679개(수집 42건)</a:t>
            </a:r>
            <a:endParaRPr lang="en-US" sz="1133" dirty="0"/>
          </a:p>
        </p:txBody>
      </p:sp>
      <p:sp>
        <p:nvSpPr>
          <p:cNvPr id="12" name="Text 10"/>
          <p:cNvSpPr txBox="1"/>
          <p:nvPr/>
        </p:nvSpPr>
        <p:spPr>
          <a:xfrm>
            <a:off x="646176" y="2801113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하이브리드(BM25+dense) 검색</a:t>
            </a:r>
            <a:endParaRPr lang="en-US" sz="1133" dirty="0"/>
          </a:p>
        </p:txBody>
      </p:sp>
      <p:sp>
        <p:nvSpPr>
          <p:cNvPr id="13" name="Shape 11"/>
          <p:cNvSpPr/>
          <p:nvPr/>
        </p:nvSpPr>
        <p:spPr>
          <a:xfrm>
            <a:off x="4389120" y="1682496"/>
            <a:ext cx="3657600" cy="442803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/>
          <a:lstStyle/>
          <a:p>
            <a:endParaRPr lang="ko-KR" altLang="en-US" sz="3200"/>
          </a:p>
        </p:txBody>
      </p:sp>
      <p:sp>
        <p:nvSpPr>
          <p:cNvPr id="14" name="Shape 12"/>
          <p:cNvSpPr/>
          <p:nvPr/>
        </p:nvSpPr>
        <p:spPr>
          <a:xfrm>
            <a:off x="4535424" y="1828800"/>
            <a:ext cx="3364992" cy="414528"/>
          </a:xfrm>
          <a:prstGeom prst="roundRect">
            <a:avLst>
              <a:gd name="adj" fmla="val 14706"/>
            </a:avLst>
          </a:prstGeom>
          <a:solidFill>
            <a:srgbClr val="4A7CC7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5" name="Text 13"/>
          <p:cNvSpPr txBox="1"/>
          <p:nvPr/>
        </p:nvSpPr>
        <p:spPr>
          <a:xfrm>
            <a:off x="4535424" y="1828800"/>
            <a:ext cx="3364992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양자화 압축률</a:t>
            </a:r>
            <a:endParaRPr lang="en-US" sz="1267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07838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GGUF 7,678MB → 2,382MB(Q4_K_M)</a:t>
            </a:r>
            <a:endParaRPr lang="en-US" sz="1133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31682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약 3.2배 압축</a:t>
            </a:r>
            <a:endParaRPr lang="en-US" sz="1133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568109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GPU 가속 tg128 87.0 tok/s</a:t>
            </a:r>
            <a:endParaRPr lang="en-US" sz="1133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801113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CPU 23.6 tok/s 대비 약 3.7배(25번)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8314944" y="1682496"/>
            <a:ext cx="3657600" cy="442803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/>
          <a:lstStyle/>
          <a:p>
            <a:endParaRPr lang="ko-KR" altLang="en-US" sz="3200"/>
          </a:p>
        </p:txBody>
      </p:sp>
      <p:sp>
        <p:nvSpPr>
          <p:cNvPr id="21" name="Shape 19"/>
          <p:cNvSpPr/>
          <p:nvPr/>
        </p:nvSpPr>
        <p:spPr>
          <a:xfrm>
            <a:off x="8461248" y="1828800"/>
            <a:ext cx="3364992" cy="414528"/>
          </a:xfrm>
          <a:prstGeom prst="roundRect">
            <a:avLst>
              <a:gd name="adj" fmla="val 14706"/>
            </a:avLst>
          </a:prstGeom>
          <a:solidFill>
            <a:srgbClr val="1C2B4A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Text 20"/>
          <p:cNvSpPr txBox="1"/>
          <p:nvPr/>
        </p:nvSpPr>
        <p:spPr>
          <a:xfrm>
            <a:off x="8461248" y="1828800"/>
            <a:ext cx="3364992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안정성</a:t>
            </a:r>
            <a:endParaRPr lang="en-US" sz="1267" dirty="0"/>
          </a:p>
        </p:txBody>
      </p:sp>
      <p:sp>
        <p:nvSpPr>
          <p:cNvPr id="23" name="Text 21"/>
          <p:cNvSpPr txBox="1"/>
          <p:nvPr/>
        </p:nvSpPr>
        <p:spPr>
          <a:xfrm>
            <a:off x="8497824" y="207838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8개 서비스 systemd 상시 운영(68번)</a:t>
            </a:r>
            <a:endParaRPr lang="en-US" sz="1133" dirty="0"/>
          </a:p>
        </p:txBody>
      </p:sp>
      <p:sp>
        <p:nvSpPr>
          <p:cNvPr id="24" name="Text 22"/>
          <p:cNvSpPr txBox="1"/>
          <p:nvPr/>
        </p:nvSpPr>
        <p:spPr>
          <a:xfrm>
            <a:off x="8497824" y="231682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웹·MLflow·Prometheus·Grafana 등</a:t>
            </a:r>
            <a:endParaRPr lang="en-US" sz="1133" dirty="0"/>
          </a:p>
        </p:txBody>
      </p:sp>
      <p:sp>
        <p:nvSpPr>
          <p:cNvPr id="25" name="Text 23"/>
          <p:cNvSpPr txBox="1"/>
          <p:nvPr/>
        </p:nvSpPr>
        <p:spPr>
          <a:xfrm>
            <a:off x="8497824" y="2568109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CI/CD 테스트→배포 27초(self-hosted)</a:t>
            </a:r>
            <a:endParaRPr lang="en-US" sz="1133" dirty="0"/>
          </a:p>
        </p:txBody>
      </p:sp>
      <p:sp>
        <p:nvSpPr>
          <p:cNvPr id="26" name="Text 24"/>
          <p:cNvSpPr txBox="1"/>
          <p:nvPr/>
        </p:nvSpPr>
        <p:spPr>
          <a:xfrm>
            <a:off x="8497824" y="2801113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"판정은 규칙, 서술은 LLM" 전 구간 검증</a:t>
            </a:r>
            <a:endParaRPr lang="en-US" sz="1133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8B9FB889-9482-022F-67D9-22251C8A7C49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핵심 지표</a:t>
            </a:r>
            <a:r>
              <a:rPr lang="ko-KR" altLang="en-US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F4078427-8F2B-BE28-F798-B24298BFF890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FA9352B7-C8D9-B407-6056-37D8E2CC10B9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실제 데이터·실측치로 검증한 파이프라인 — 숫자로 보는 현재 상태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endParaRPr lang="ko-KR" altLang="en-US" sz="2400" b="1" dirty="0">
              <a:solidFill>
                <a:srgbClr val="0070C0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8070AE10-80D9-2A23-D9BC-DF0F66B35CA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900" dirty="0">
                <a:solidFill>
                  <a:srgbClr val="5B6672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6</a:t>
            </a:r>
            <a:endParaRPr lang="en-US" sz="9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F7A9F5EF-FF8F-B47E-6047-671FCA521DBF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09F30E5-2A78-6E72-67C1-8F8E659BB175}"/>
              </a:ext>
            </a:extLst>
          </p:cNvPr>
          <p:cNvGrpSpPr/>
          <p:nvPr/>
        </p:nvGrpSpPr>
        <p:grpSpPr>
          <a:xfrm>
            <a:off x="9774310" y="362934"/>
            <a:ext cx="2179564" cy="295434"/>
            <a:chOff x="8336310" y="1506379"/>
            <a:chExt cx="2179564" cy="29543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89FA63C-C3AC-1376-B05B-3CC7601BE0BC}"/>
                </a:ext>
              </a:extLst>
            </p:cNvPr>
            <p:cNvGrpSpPr/>
            <p:nvPr/>
          </p:nvGrpSpPr>
          <p:grpSpPr>
            <a:xfrm>
              <a:off x="9560948" y="1524814"/>
              <a:ext cx="954926" cy="276999"/>
              <a:chOff x="9975479" y="1218128"/>
              <a:chExt cx="954926" cy="276999"/>
            </a:xfrm>
          </p:grpSpPr>
          <p:sp>
            <p:nvSpPr>
              <p:cNvPr id="48" name="사각형: 잘린 한쪽 모서리 13">
                <a:extLst>
                  <a:ext uri="{FF2B5EF4-FFF2-40B4-BE49-F238E27FC236}">
                    <a16:creationId xmlns:a16="http://schemas.microsoft.com/office/drawing/2014/main" id="{A983D92E-7383-3F7C-9A59-2C182D37E3D6}"/>
                  </a:ext>
                </a:extLst>
              </p:cNvPr>
              <p:cNvSpPr/>
              <p:nvPr/>
            </p:nvSpPr>
            <p:spPr>
              <a:xfrm rot="10800000">
                <a:off x="9986500" y="1218128"/>
                <a:ext cx="893082" cy="266733"/>
              </a:xfrm>
              <a:prstGeom prst="snip1Rect">
                <a:avLst>
                  <a:gd name="adj" fmla="val 46697"/>
                </a:avLst>
              </a:prstGeom>
              <a:solidFill>
                <a:srgbClr val="1A2332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CF133C2-3D2C-B370-4560-863464CA3492}"/>
                  </a:ext>
                </a:extLst>
              </p:cNvPr>
              <p:cNvSpPr txBox="1"/>
              <p:nvPr/>
            </p:nvSpPr>
            <p:spPr>
              <a:xfrm>
                <a:off x="9975479" y="1218128"/>
                <a:ext cx="9549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함초롬바탕" panose="02030604000101010101" pitchFamily="18" charset="-127"/>
                  </a:rPr>
                  <a:t>Ⅰ 프로젝트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/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C25659-32FE-9BC0-25FD-165B0FBE2D95}"/>
                </a:ext>
              </a:extLst>
            </p:cNvPr>
            <p:cNvSpPr txBox="1"/>
            <p:nvPr/>
          </p:nvSpPr>
          <p:spPr>
            <a:xfrm>
              <a:off x="8336310" y="1506379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Ⅰ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5" name="직선 연결선 7">
              <a:extLst>
                <a:ext uri="{FF2B5EF4-FFF2-40B4-BE49-F238E27FC236}">
                  <a16:creationId xmlns:a16="http://schemas.microsoft.com/office/drawing/2014/main" id="{1B67C181-A18B-0F02-22EA-314D4F4F8103}"/>
                </a:ext>
              </a:extLst>
            </p:cNvPr>
            <p:cNvCxnSpPr>
              <a:cxnSpLocks/>
            </p:cNvCxnSpPr>
            <p:nvPr/>
          </p:nvCxnSpPr>
          <p:spPr>
            <a:xfrm>
              <a:off x="8657475" y="1548658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744808-3098-B6BB-9290-F40A07215807}"/>
                </a:ext>
              </a:extLst>
            </p:cNvPr>
            <p:cNvSpPr txBox="1"/>
            <p:nvPr/>
          </p:nvSpPr>
          <p:spPr>
            <a:xfrm>
              <a:off x="8713892" y="1510126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Ⅱ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28" name="직선 연결선 9">
              <a:extLst>
                <a:ext uri="{FF2B5EF4-FFF2-40B4-BE49-F238E27FC236}">
                  <a16:creationId xmlns:a16="http://schemas.microsoft.com/office/drawing/2014/main" id="{EF7E16FA-FD02-1565-33CA-904E0128316F}"/>
                </a:ext>
              </a:extLst>
            </p:cNvPr>
            <p:cNvCxnSpPr>
              <a:cxnSpLocks/>
            </p:cNvCxnSpPr>
            <p:nvPr/>
          </p:nvCxnSpPr>
          <p:spPr>
            <a:xfrm>
              <a:off x="9106624" y="1548658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55552C-4113-7A0A-DCA2-5DB43DD34D43}"/>
                </a:ext>
              </a:extLst>
            </p:cNvPr>
            <p:cNvSpPr txBox="1"/>
            <p:nvPr/>
          </p:nvSpPr>
          <p:spPr>
            <a:xfrm>
              <a:off x="9178948" y="1516942"/>
              <a:ext cx="295720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Ⅲ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그림 2">
            <a:extLst>
              <a:ext uri="{FF2B5EF4-FFF2-40B4-BE49-F238E27FC236}">
                <a16:creationId xmlns:a16="http://schemas.microsoft.com/office/drawing/2014/main" id="{73F0FFE8-821D-1F03-28B7-B987F7DD5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6D5855-FFDD-CA46-3408-6C352CFD48D9}"/>
              </a:ext>
            </a:extLst>
          </p:cNvPr>
          <p:cNvSpPr txBox="1"/>
          <p:nvPr/>
        </p:nvSpPr>
        <p:spPr>
          <a:xfrm>
            <a:off x="648820" y="1574214"/>
            <a:ext cx="51623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fontAlgn="base" latinLnBrk="0"/>
            <a:r>
              <a:rPr lang="en-US" altLang="ko-KR" sz="6000" b="1" kern="0" spc="85" dirty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Ⅱ</a:t>
            </a:r>
            <a:endParaRPr lang="ko-KR" altLang="en-US" sz="6000" b="1" kern="0" dirty="0">
              <a:latin typeface="KoPubWorld돋움체 Medium" panose="000006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84A86-BCEC-0C66-E649-40F84AB83DBC}"/>
              </a:ext>
            </a:extLst>
          </p:cNvPr>
          <p:cNvSpPr txBox="1"/>
          <p:nvPr/>
        </p:nvSpPr>
        <p:spPr>
          <a:xfrm>
            <a:off x="630188" y="2514565"/>
            <a:ext cx="3071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설계원칙</a:t>
            </a:r>
            <a:endParaRPr lang="ko-KR" altLang="en-US" sz="8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B805DB-9BDD-ABA1-0976-DD9DE7FA8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7023" y="5806352"/>
            <a:ext cx="773682" cy="77368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004EFB40-E29A-8B16-1BDF-53BC4E029D33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6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온프레미스가 필요한 이유</a:t>
            </a:r>
            <a:r>
              <a:rPr lang="ko-KR" altLang="en-US" sz="16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CE9F04-6155-2570-492F-2645D5EEF71F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460D4962-439F-7739-CE9A-EBF6838BBBE6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62D0290A-406E-A49A-3959-383904999242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8</a:t>
            </a:r>
            <a:endParaRPr lang="en-US" sz="900" dirty="0"/>
          </a:p>
        </p:txBody>
      </p:sp>
      <p:sp>
        <p:nvSpPr>
          <p:cNvPr id="139" name="Text 2">
            <a:extLst>
              <a:ext uri="{FF2B5EF4-FFF2-40B4-BE49-F238E27FC236}">
                <a16:creationId xmlns:a16="http://schemas.microsoft.com/office/drawing/2014/main" id="{10A181F9-ECEB-05CA-311D-D18A723A0037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산업 현장의 네트워크·보안·하드웨어 제약이 온프레미스 sLLM을 요구한다</a:t>
            </a:r>
            <a:endParaRPr lang="en-US" altLang="ko-KR" sz="2400" dirty="0">
              <a:latin typeface="KoPubWorld돋움체 Bold" pitchFamily="34" charset="0"/>
              <a:ea typeface="KoPubWorld돋움체 Bold" pitchFamily="34" charset="-122"/>
              <a:cs typeface="KoPubWorld돋움체 Bold" pitchFamily="34" charset="-12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992B9E-D09E-B962-4726-AF2A14197E67}"/>
              </a:ext>
            </a:extLst>
          </p:cNvPr>
          <p:cNvSpPr txBox="1"/>
          <p:nvPr/>
        </p:nvSpPr>
        <p:spPr>
          <a:xfrm>
            <a:off x="11187838" y="368233"/>
            <a:ext cx="295720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AE86873-E0E4-C654-F3D2-9D962C8B1C89}"/>
              </a:ext>
            </a:extLst>
          </p:cNvPr>
          <p:cNvCxnSpPr>
            <a:cxnSpLocks/>
          </p:cNvCxnSpPr>
          <p:nvPr/>
        </p:nvCxnSpPr>
        <p:spPr>
          <a:xfrm>
            <a:off x="11538961" y="402343"/>
            <a:ext cx="0" cy="20878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F909CC1-E42E-A2EF-59C6-949D8CB59E6A}"/>
              </a:ext>
            </a:extLst>
          </p:cNvPr>
          <p:cNvSpPr txBox="1"/>
          <p:nvPr/>
        </p:nvSpPr>
        <p:spPr>
          <a:xfrm>
            <a:off x="11575163" y="368233"/>
            <a:ext cx="402014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3" name="사각형: 잘린 한쪽 모서리 32">
            <a:extLst>
              <a:ext uri="{FF2B5EF4-FFF2-40B4-BE49-F238E27FC236}">
                <a16:creationId xmlns:a16="http://schemas.microsoft.com/office/drawing/2014/main" id="{CEEAF497-3C08-A862-4F2A-1CCD581C3DA9}"/>
              </a:ext>
            </a:extLst>
          </p:cNvPr>
          <p:cNvSpPr/>
          <p:nvPr/>
        </p:nvSpPr>
        <p:spPr>
          <a:xfrm rot="10800000">
            <a:off x="10260651" y="378499"/>
            <a:ext cx="893082" cy="266733"/>
          </a:xfrm>
          <a:prstGeom prst="snip1Rect">
            <a:avLst>
              <a:gd name="adj" fmla="val 46697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A59EC4-BA5C-0F8E-C767-FC2E1904BB90}"/>
              </a:ext>
            </a:extLst>
          </p:cNvPr>
          <p:cNvSpPr txBox="1"/>
          <p:nvPr/>
        </p:nvSpPr>
        <p:spPr>
          <a:xfrm>
            <a:off x="10249630" y="378499"/>
            <a:ext cx="95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함초롬바탕" panose="02030604000101010101" pitchFamily="18" charset="-127"/>
              </a:rPr>
              <a:t>Ⅱ 설계원칙</a:t>
            </a:r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/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F03885-B18C-5129-4069-B9E3FA9399D0}"/>
              </a:ext>
            </a:extLst>
          </p:cNvPr>
          <p:cNvSpPr txBox="1"/>
          <p:nvPr/>
        </p:nvSpPr>
        <p:spPr>
          <a:xfrm>
            <a:off x="9836860" y="379844"/>
            <a:ext cx="321165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8A67B0-7C56-0651-D500-10744B2845D1}"/>
              </a:ext>
            </a:extLst>
          </p:cNvPr>
          <p:cNvCxnSpPr>
            <a:cxnSpLocks/>
          </p:cNvCxnSpPr>
          <p:nvPr/>
        </p:nvCxnSpPr>
        <p:spPr>
          <a:xfrm>
            <a:off x="10158025" y="402343"/>
            <a:ext cx="0" cy="20878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hape 4">
            <a:extLst>
              <a:ext uri="{FF2B5EF4-FFF2-40B4-BE49-F238E27FC236}">
                <a16:creationId xmlns:a16="http://schemas.microsoft.com/office/drawing/2014/main" id="{28C1AE61-0565-FC9D-C219-B66254EC2D00}"/>
              </a:ext>
            </a:extLst>
          </p:cNvPr>
          <p:cNvSpPr/>
          <p:nvPr/>
        </p:nvSpPr>
        <p:spPr>
          <a:xfrm>
            <a:off x="745786" y="1706880"/>
            <a:ext cx="5337036" cy="1859928"/>
          </a:xfrm>
          <a:prstGeom prst="roundRect">
            <a:avLst>
              <a:gd name="adj" fmla="val 5618"/>
            </a:avLst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276370" dist="38100" dir="2700000" algn="tl" rotWithShape="0">
              <a:srgbClr val="408DE5">
                <a:alpha val="2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lt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1E81596A-FC5A-FF87-061E-43247D00DF8C}"/>
              </a:ext>
            </a:extLst>
          </p:cNvPr>
          <p:cNvSpPr/>
          <p:nvPr/>
        </p:nvSpPr>
        <p:spPr>
          <a:xfrm>
            <a:off x="911092" y="1877568"/>
            <a:ext cx="448689" cy="463296"/>
          </a:xfrm>
          <a:prstGeom prst="roundRect">
            <a:avLst>
              <a:gd name="adj" fmla="val 26316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1C33577-1067-924B-16F7-08C9C0FF6DFB}"/>
              </a:ext>
            </a:extLst>
          </p:cNvPr>
          <p:cNvSpPr txBox="1"/>
          <p:nvPr/>
        </p:nvSpPr>
        <p:spPr>
          <a:xfrm>
            <a:off x="911092" y="1877568"/>
            <a:ext cx="448689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867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A1B52174-E773-3700-53CB-8D95B841A421}"/>
              </a:ext>
            </a:extLst>
          </p:cNvPr>
          <p:cNvSpPr txBox="1"/>
          <p:nvPr/>
        </p:nvSpPr>
        <p:spPr>
          <a:xfrm>
            <a:off x="1477857" y="1926336"/>
            <a:ext cx="4439659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단절</a:t>
            </a:r>
            <a:endParaRPr lang="en-US" sz="1467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988D719-C85F-2817-6F45-E4090FB82039}"/>
              </a:ext>
            </a:extLst>
          </p:cNvPr>
          <p:cNvSpPr txBox="1"/>
          <p:nvPr/>
        </p:nvSpPr>
        <p:spPr>
          <a:xfrm>
            <a:off x="911092" y="2389632"/>
            <a:ext cx="50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현장 네트워크가 자주 끊김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LLM 자체가 사용 불가</a:t>
            </a:r>
            <a:endParaRPr lang="en-US" sz="1133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9301D50A-D803-9ADB-78CE-D3D47BAF7B20}"/>
              </a:ext>
            </a:extLst>
          </p:cNvPr>
          <p:cNvSpPr/>
          <p:nvPr/>
        </p:nvSpPr>
        <p:spPr>
          <a:xfrm>
            <a:off x="6318975" y="1706880"/>
            <a:ext cx="5337036" cy="1859928"/>
          </a:xfrm>
          <a:prstGeom prst="roundRect">
            <a:avLst>
              <a:gd name="adj" fmla="val 5618"/>
            </a:avLst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276370" dist="38100" dir="2700000" algn="tl" rotWithShape="0">
              <a:srgbClr val="408DE5">
                <a:alpha val="2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lt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2410F633-2B3B-07AF-921D-B24020C67EA9}"/>
              </a:ext>
            </a:extLst>
          </p:cNvPr>
          <p:cNvSpPr/>
          <p:nvPr/>
        </p:nvSpPr>
        <p:spPr>
          <a:xfrm>
            <a:off x="6484281" y="1877568"/>
            <a:ext cx="448689" cy="463296"/>
          </a:xfrm>
          <a:prstGeom prst="roundRect">
            <a:avLst>
              <a:gd name="adj" fmla="val 26316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F0953FDE-600D-F3E9-5596-79219B692EE3}"/>
              </a:ext>
            </a:extLst>
          </p:cNvPr>
          <p:cNvSpPr txBox="1"/>
          <p:nvPr/>
        </p:nvSpPr>
        <p:spPr>
          <a:xfrm>
            <a:off x="6484281" y="1877568"/>
            <a:ext cx="448689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867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11B8B048-CC4F-EA7C-8299-FA9F53D285DA}"/>
              </a:ext>
            </a:extLst>
          </p:cNvPr>
          <p:cNvSpPr txBox="1"/>
          <p:nvPr/>
        </p:nvSpPr>
        <p:spPr>
          <a:xfrm>
            <a:off x="7051046" y="1926336"/>
            <a:ext cx="4439659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보안구역 제약</a:t>
            </a:r>
            <a:endParaRPr lang="en-US" sz="1467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DCA2461F-4501-ECBB-2752-B0E7418B9407}"/>
              </a:ext>
            </a:extLst>
          </p:cNvPr>
          <p:cNvSpPr txBox="1"/>
          <p:nvPr/>
        </p:nvSpPr>
        <p:spPr>
          <a:xfrm>
            <a:off x="6484281" y="2389632"/>
            <a:ext cx="50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구역·격리망은 외부 API 호출 금지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 sLLM만이 유일한 선택지</a:t>
            </a:r>
            <a:endParaRPr lang="en-US" sz="1133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F4B7666E-3B5E-AC6A-915D-2CAA0E503C50}"/>
              </a:ext>
            </a:extLst>
          </p:cNvPr>
          <p:cNvSpPr/>
          <p:nvPr/>
        </p:nvSpPr>
        <p:spPr>
          <a:xfrm>
            <a:off x="745786" y="4145280"/>
            <a:ext cx="5337036" cy="1859928"/>
          </a:xfrm>
          <a:prstGeom prst="roundRect">
            <a:avLst>
              <a:gd name="adj" fmla="val 5618"/>
            </a:avLst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276370" dist="38100" dir="2700000" algn="tl" rotWithShape="0">
              <a:srgbClr val="408DE5">
                <a:alpha val="2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lt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710C6949-514C-891C-0C2D-A91329D6CB8B}"/>
              </a:ext>
            </a:extLst>
          </p:cNvPr>
          <p:cNvSpPr/>
          <p:nvPr/>
        </p:nvSpPr>
        <p:spPr>
          <a:xfrm>
            <a:off x="911092" y="4315968"/>
            <a:ext cx="448689" cy="463296"/>
          </a:xfrm>
          <a:prstGeom prst="roundRect">
            <a:avLst>
              <a:gd name="adj" fmla="val 26316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B5B3756E-3741-978B-632E-6FA352A0375C}"/>
              </a:ext>
            </a:extLst>
          </p:cNvPr>
          <p:cNvSpPr txBox="1"/>
          <p:nvPr/>
        </p:nvSpPr>
        <p:spPr>
          <a:xfrm>
            <a:off x="911092" y="4315968"/>
            <a:ext cx="448689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867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FBFC3A87-F38C-3C6C-9D82-A75FE533E3AD}"/>
              </a:ext>
            </a:extLst>
          </p:cNvPr>
          <p:cNvSpPr txBox="1"/>
          <p:nvPr/>
        </p:nvSpPr>
        <p:spPr>
          <a:xfrm>
            <a:off x="1477857" y="4364736"/>
            <a:ext cx="4439659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엣지 하드웨어 다양성</a:t>
            </a:r>
            <a:endParaRPr lang="en-US" sz="1467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DBB1BF43-ED64-456C-67C9-4DF55364E50A}"/>
              </a:ext>
            </a:extLst>
          </p:cNvPr>
          <p:cNvSpPr txBox="1"/>
          <p:nvPr/>
        </p:nvSpPr>
        <p:spPr>
          <a:xfrm>
            <a:off x="911092" y="4828032"/>
            <a:ext cx="50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엣지 디바이스마다 GPU 유무·사양 제각각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GGUF 파일로 CPU/GPU 모두 대응</a:t>
            </a:r>
            <a:endParaRPr lang="en-US" sz="1133" dirty="0"/>
          </a:p>
        </p:txBody>
      </p:sp>
      <p:sp>
        <p:nvSpPr>
          <p:cNvPr id="128" name="Shape 19">
            <a:extLst>
              <a:ext uri="{FF2B5EF4-FFF2-40B4-BE49-F238E27FC236}">
                <a16:creationId xmlns:a16="http://schemas.microsoft.com/office/drawing/2014/main" id="{AE704F87-344E-EF2D-47A2-1DA86347D937}"/>
              </a:ext>
            </a:extLst>
          </p:cNvPr>
          <p:cNvSpPr/>
          <p:nvPr/>
        </p:nvSpPr>
        <p:spPr>
          <a:xfrm>
            <a:off x="6318975" y="4145280"/>
            <a:ext cx="5337036" cy="1859928"/>
          </a:xfrm>
          <a:prstGeom prst="roundRect">
            <a:avLst>
              <a:gd name="adj" fmla="val 5618"/>
            </a:avLst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276370" dist="38100" dir="2700000" algn="tl" rotWithShape="0">
              <a:srgbClr val="408DE5">
                <a:alpha val="2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lt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2" name="Shape 20">
            <a:extLst>
              <a:ext uri="{FF2B5EF4-FFF2-40B4-BE49-F238E27FC236}">
                <a16:creationId xmlns:a16="http://schemas.microsoft.com/office/drawing/2014/main" id="{1CBEB996-9FC4-188B-1058-5FFD0565B023}"/>
              </a:ext>
            </a:extLst>
          </p:cNvPr>
          <p:cNvSpPr/>
          <p:nvPr/>
        </p:nvSpPr>
        <p:spPr>
          <a:xfrm>
            <a:off x="6484281" y="4315968"/>
            <a:ext cx="448689" cy="463296"/>
          </a:xfrm>
          <a:prstGeom prst="roundRect">
            <a:avLst>
              <a:gd name="adj" fmla="val 26316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36" name="Text 21">
            <a:extLst>
              <a:ext uri="{FF2B5EF4-FFF2-40B4-BE49-F238E27FC236}">
                <a16:creationId xmlns:a16="http://schemas.microsoft.com/office/drawing/2014/main" id="{8B29DCAE-85D8-4262-2215-0BE5F65D6494}"/>
              </a:ext>
            </a:extLst>
          </p:cNvPr>
          <p:cNvSpPr txBox="1"/>
          <p:nvPr/>
        </p:nvSpPr>
        <p:spPr>
          <a:xfrm>
            <a:off x="6484281" y="4315968"/>
            <a:ext cx="448689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867" dirty="0"/>
          </a:p>
        </p:txBody>
      </p:sp>
      <p:sp>
        <p:nvSpPr>
          <p:cNvPr id="141" name="Text 22">
            <a:extLst>
              <a:ext uri="{FF2B5EF4-FFF2-40B4-BE49-F238E27FC236}">
                <a16:creationId xmlns:a16="http://schemas.microsoft.com/office/drawing/2014/main" id="{13B412B8-24BC-1A99-50C1-120D635DA5A8}"/>
              </a:ext>
            </a:extLst>
          </p:cNvPr>
          <p:cNvSpPr txBox="1"/>
          <p:nvPr/>
        </p:nvSpPr>
        <p:spPr>
          <a:xfrm>
            <a:off x="7051046" y="4364736"/>
            <a:ext cx="4439659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장비 제어</a:t>
            </a:r>
            <a:endParaRPr lang="en-US" sz="1467" dirty="0"/>
          </a:p>
        </p:txBody>
      </p:sp>
      <p:sp>
        <p:nvSpPr>
          <p:cNvPr id="143" name="Text 23">
            <a:extLst>
              <a:ext uri="{FF2B5EF4-FFF2-40B4-BE49-F238E27FC236}">
                <a16:creationId xmlns:a16="http://schemas.microsoft.com/office/drawing/2014/main" id="{2A1AB1E3-87CA-151F-F343-B0658C12F364}"/>
              </a:ext>
            </a:extLst>
          </p:cNvPr>
          <p:cNvSpPr txBox="1"/>
          <p:nvPr/>
        </p:nvSpPr>
        <p:spPr>
          <a:xfrm>
            <a:off x="6484281" y="4828032"/>
            <a:ext cx="50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환풍기·가스차단기 등 장비 제어는 지연 불가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판정은 로컬 규칙이 즉시 처리(LLM 대기 없음)</a:t>
            </a:r>
            <a:endParaRPr lang="en-US" sz="1133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 3"/>
          <p:cNvSpPr/>
          <p:nvPr/>
        </p:nvSpPr>
        <p:spPr>
          <a:xfrm>
            <a:off x="463296" y="1511808"/>
            <a:ext cx="11460480" cy="536448"/>
          </a:xfrm>
          <a:prstGeom prst="roundRect">
            <a:avLst>
              <a:gd name="adj" fmla="val 15909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6" name="Text 4"/>
          <p:cNvSpPr txBox="1"/>
          <p:nvPr/>
        </p:nvSpPr>
        <p:spPr>
          <a:xfrm>
            <a:off x="633984" y="1572768"/>
            <a:ext cx="109728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우선순위 · 근거 기반 · 하이브리드 검색 · 라이선스 통제 · 공유자원 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3296" y="2243328"/>
            <a:ext cx="365760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8" name="Shape 6"/>
          <p:cNvSpPr/>
          <p:nvPr/>
        </p:nvSpPr>
        <p:spPr>
          <a:xfrm>
            <a:off x="609600" y="238963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9" name="Text 7"/>
          <p:cNvSpPr txBox="1"/>
          <p:nvPr/>
        </p:nvSpPr>
        <p:spPr>
          <a:xfrm>
            <a:off x="609600" y="238963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67" dirty="0"/>
          </a:p>
        </p:txBody>
      </p:sp>
      <p:sp>
        <p:nvSpPr>
          <p:cNvPr id="10" name="Text 8"/>
          <p:cNvSpPr txBox="1"/>
          <p:nvPr/>
        </p:nvSpPr>
        <p:spPr>
          <a:xfrm>
            <a:off x="1194816" y="2414016"/>
            <a:ext cx="263347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규칙-LLM 역할 분리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94816" y="2517648"/>
            <a:ext cx="33649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판정·장비제어는 규칙(rules.py)이 결정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서술·검색만 담당(Decision 권한 추적)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4364736" y="2243328"/>
            <a:ext cx="365760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3" name="Shape 11"/>
          <p:cNvSpPr/>
          <p:nvPr/>
        </p:nvSpPr>
        <p:spPr>
          <a:xfrm>
            <a:off x="4511040" y="238963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4" name="Text 12"/>
          <p:cNvSpPr txBox="1"/>
          <p:nvPr/>
        </p:nvSpPr>
        <p:spPr>
          <a:xfrm>
            <a:off x="4511040" y="238963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67" dirty="0"/>
          </a:p>
        </p:txBody>
      </p:sp>
      <p:sp>
        <p:nvSpPr>
          <p:cNvPr id="15" name="Text 13"/>
          <p:cNvSpPr txBox="1"/>
          <p:nvPr/>
        </p:nvSpPr>
        <p:spPr>
          <a:xfrm>
            <a:off x="5096256" y="2414016"/>
            <a:ext cx="263347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없으면 모른다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96256" y="2621280"/>
            <a:ext cx="33649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RAG는 근거 문서 없이는 답변 보류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인용까지 포함해 검증 가능하게 응답</a:t>
            </a:r>
            <a:r>
              <a:rPr lang="en-US" sz="1133" dirty="0" err="1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r>
              <a:rPr lang="en-US" sz="1133" dirty="0" err="1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133" dirty="0"/>
          </a:p>
        </p:txBody>
      </p:sp>
      <p:sp>
        <p:nvSpPr>
          <p:cNvPr id="17" name="Shape 15"/>
          <p:cNvSpPr/>
          <p:nvPr/>
        </p:nvSpPr>
        <p:spPr>
          <a:xfrm>
            <a:off x="8266176" y="2243328"/>
            <a:ext cx="365760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Shape 16"/>
          <p:cNvSpPr/>
          <p:nvPr/>
        </p:nvSpPr>
        <p:spPr>
          <a:xfrm>
            <a:off x="8412480" y="238963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9" name="Text 17"/>
          <p:cNvSpPr txBox="1"/>
          <p:nvPr/>
        </p:nvSpPr>
        <p:spPr>
          <a:xfrm>
            <a:off x="8412480" y="238963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467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2414016"/>
            <a:ext cx="263347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검색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2517648"/>
            <a:ext cx="33649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BM25(형태소 내용어)+임베딩 RRF 결합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 인구 질의 1/4→4/4 정확도로 개선</a:t>
            </a:r>
            <a:endParaRPr lang="en-US" sz="1133" dirty="0"/>
          </a:p>
        </p:txBody>
      </p:sp>
      <p:sp>
        <p:nvSpPr>
          <p:cNvPr id="22" name="Shape 20"/>
          <p:cNvSpPr/>
          <p:nvPr/>
        </p:nvSpPr>
        <p:spPr>
          <a:xfrm>
            <a:off x="463296" y="4315968"/>
            <a:ext cx="560832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Shape 21"/>
          <p:cNvSpPr/>
          <p:nvPr/>
        </p:nvSpPr>
        <p:spPr>
          <a:xfrm>
            <a:off x="609600" y="446227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4" name="Text 22"/>
          <p:cNvSpPr txBox="1"/>
          <p:nvPr/>
        </p:nvSpPr>
        <p:spPr>
          <a:xfrm>
            <a:off x="609600" y="446227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467" dirty="0"/>
          </a:p>
        </p:txBody>
      </p:sp>
      <p:sp>
        <p:nvSpPr>
          <p:cNvPr id="25" name="Text 23"/>
          <p:cNvSpPr txBox="1"/>
          <p:nvPr/>
        </p:nvSpPr>
        <p:spPr>
          <a:xfrm>
            <a:off x="1194816" y="4486656"/>
            <a:ext cx="458419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소스별 라이선스 자동 통제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94816" y="4590288"/>
            <a:ext cx="53157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allows_modification 플래그를 수집 시점에 기록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변경금지 소스는 서버가 재검증해 거부</a:t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6315456" y="4315968"/>
            <a:ext cx="5608320" cy="1853184"/>
          </a:xfrm>
          <a:prstGeom prst="roundRect">
            <a:avLst>
              <a:gd name="adj" fmla="val 6579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8" name="Shape 26"/>
          <p:cNvSpPr/>
          <p:nvPr/>
        </p:nvSpPr>
        <p:spPr>
          <a:xfrm>
            <a:off x="6461760" y="4462272"/>
            <a:ext cx="463296" cy="463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9" name="Text 27"/>
          <p:cNvSpPr txBox="1"/>
          <p:nvPr/>
        </p:nvSpPr>
        <p:spPr>
          <a:xfrm>
            <a:off x="6461760" y="4462272"/>
            <a:ext cx="46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467" dirty="0"/>
          </a:p>
        </p:txBody>
      </p:sp>
      <p:sp>
        <p:nvSpPr>
          <p:cNvPr id="30" name="Text 28"/>
          <p:cNvSpPr txBox="1"/>
          <p:nvPr/>
        </p:nvSpPr>
        <p:spPr>
          <a:xfrm>
            <a:off x="7046976" y="4486656"/>
            <a:ext cx="458419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자원엔 명시적 락 필요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46976" y="4590288"/>
            <a:ext cx="53157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통합관제·AI튜터가 같은 LLM 인스턴스 공유</a:t>
            </a:r>
            <a:endParaRPr lang="en-US" sz="1133" dirty="0"/>
          </a:p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SIGSEGV 실사고 이후 _llm_lock 재사용으로 해결</a:t>
            </a:r>
            <a:endParaRPr lang="en-US" sz="1133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FFA5FD78-E581-E464-87EA-DB3844AB456B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검증된 설계 원칙 5가지</a:t>
            </a:r>
            <a:r>
              <a:rPr lang="ko-KR" altLang="en-US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DE3A30E2-D8D7-C38D-9118-D336E12CC964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0841DFDE-6098-E048-0D7E-45AC4574FEEF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900" dirty="0">
                <a:solidFill>
                  <a:srgbClr val="5B6672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9</a:t>
            </a:r>
            <a:endParaRPr lang="en-US" sz="9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20F71D98-2271-D242-5C1F-030C2D85C9F2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A2FAC0A-EF78-8308-6DAE-99AA038A558D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다섯 가지 원칙 모두 실제 운영 중 문제로부터 검증되었다</a:t>
            </a:r>
            <a:r>
              <a:rPr lang="ko-KR" alt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7C076D-EF94-9723-83E4-F899CCEB972B}"/>
              </a:ext>
            </a:extLst>
          </p:cNvPr>
          <p:cNvSpPr txBox="1"/>
          <p:nvPr/>
        </p:nvSpPr>
        <p:spPr>
          <a:xfrm>
            <a:off x="11187838" y="368233"/>
            <a:ext cx="295720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6E1AA26B-8766-3722-BE7E-6D055CAEA869}"/>
              </a:ext>
            </a:extLst>
          </p:cNvPr>
          <p:cNvCxnSpPr>
            <a:cxnSpLocks/>
          </p:cNvCxnSpPr>
          <p:nvPr/>
        </p:nvCxnSpPr>
        <p:spPr>
          <a:xfrm>
            <a:off x="11538961" y="402343"/>
            <a:ext cx="0" cy="20878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CB8CCE0-38A0-53B4-D458-7A45F73362E9}"/>
              </a:ext>
            </a:extLst>
          </p:cNvPr>
          <p:cNvSpPr txBox="1"/>
          <p:nvPr/>
        </p:nvSpPr>
        <p:spPr>
          <a:xfrm>
            <a:off x="11575163" y="368233"/>
            <a:ext cx="402014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3" name="사각형: 잘린 한쪽 모서리 62">
            <a:extLst>
              <a:ext uri="{FF2B5EF4-FFF2-40B4-BE49-F238E27FC236}">
                <a16:creationId xmlns:a16="http://schemas.microsoft.com/office/drawing/2014/main" id="{7D8EFFFC-1767-12F0-7778-B0EB5CD48962}"/>
              </a:ext>
            </a:extLst>
          </p:cNvPr>
          <p:cNvSpPr/>
          <p:nvPr/>
        </p:nvSpPr>
        <p:spPr>
          <a:xfrm rot="10800000">
            <a:off x="10260651" y="378499"/>
            <a:ext cx="893082" cy="266733"/>
          </a:xfrm>
          <a:prstGeom prst="snip1Rect">
            <a:avLst>
              <a:gd name="adj" fmla="val 46697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E6B58E-407E-5316-6ECD-5CB3120E897A}"/>
              </a:ext>
            </a:extLst>
          </p:cNvPr>
          <p:cNvSpPr txBox="1"/>
          <p:nvPr/>
        </p:nvSpPr>
        <p:spPr>
          <a:xfrm>
            <a:off x="10249630" y="378499"/>
            <a:ext cx="95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함초롬바탕" panose="02030604000101010101" pitchFamily="18" charset="-127"/>
              </a:rPr>
              <a:t>Ⅱ 설계원칙</a:t>
            </a:r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/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79BB59-EB5D-25EB-C58B-62A4F6C11A86}"/>
              </a:ext>
            </a:extLst>
          </p:cNvPr>
          <p:cNvSpPr txBox="1"/>
          <p:nvPr/>
        </p:nvSpPr>
        <p:spPr>
          <a:xfrm>
            <a:off x="9836860" y="379844"/>
            <a:ext cx="321165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9256C92-CF17-D55C-FCD6-484C3F0AC2A9}"/>
              </a:ext>
            </a:extLst>
          </p:cNvPr>
          <p:cNvCxnSpPr>
            <a:cxnSpLocks/>
          </p:cNvCxnSpPr>
          <p:nvPr/>
        </p:nvCxnSpPr>
        <p:spPr>
          <a:xfrm>
            <a:off x="10158025" y="402343"/>
            <a:ext cx="0" cy="20878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그림 2">
            <a:extLst>
              <a:ext uri="{FF2B5EF4-FFF2-40B4-BE49-F238E27FC236}">
                <a16:creationId xmlns:a16="http://schemas.microsoft.com/office/drawing/2014/main" id="{73F0FFE8-821D-1F03-28B7-B987F7DD5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6D5855-FFDD-CA46-3408-6C352CFD48D9}"/>
              </a:ext>
            </a:extLst>
          </p:cNvPr>
          <p:cNvSpPr txBox="1"/>
          <p:nvPr/>
        </p:nvSpPr>
        <p:spPr>
          <a:xfrm>
            <a:off x="648820" y="1574214"/>
            <a:ext cx="51623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fontAlgn="base" latinLnBrk="0"/>
            <a:r>
              <a:rPr lang="en-US" altLang="ko-KR" sz="6000" b="1" kern="0" spc="85" dirty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Ⅲ</a:t>
            </a:r>
            <a:endParaRPr lang="ko-KR" altLang="en-US" sz="6000" b="1" kern="0" dirty="0">
              <a:latin typeface="KoPubWorld돋움체 Medium" panose="000006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84A86-BCEC-0C66-E649-40F84AB83DBC}"/>
              </a:ext>
            </a:extLst>
          </p:cNvPr>
          <p:cNvSpPr txBox="1"/>
          <p:nvPr/>
        </p:nvSpPr>
        <p:spPr>
          <a:xfrm>
            <a:off x="630188" y="2514565"/>
            <a:ext cx="3071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아키텍처</a:t>
            </a:r>
            <a:endParaRPr lang="ko-KR" altLang="en-US" sz="8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B805DB-9BDD-ABA1-0976-DD9DE7FA8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7023" y="5806352"/>
            <a:ext cx="773682" cy="77368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 3"/>
          <p:cNvSpPr/>
          <p:nvPr/>
        </p:nvSpPr>
        <p:spPr>
          <a:xfrm>
            <a:off x="463296" y="1511808"/>
            <a:ext cx="11265408" cy="536448"/>
          </a:xfrm>
          <a:prstGeom prst="roundRect">
            <a:avLst>
              <a:gd name="adj" fmla="val 15909"/>
            </a:avLst>
          </a:prstGeom>
          <a:solidFill>
            <a:srgbClr val="1565C1"/>
          </a:solidFill>
          <a:ln/>
        </p:spPr>
        <p:txBody>
          <a:bodyPr/>
          <a:lstStyle/>
          <a:p>
            <a:endParaRPr lang="ko-KR" altLang="en-US" sz="3200">
              <a:solidFill>
                <a:srgbClr val="1565C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33984" y="1572768"/>
            <a:ext cx="109728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= 산업안전 Agent (2026-09-17 완료)  |  Phase 2 = AI튜터 확장 (같은 인프라 재사용, 2026-09-19~)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3296" y="2194560"/>
            <a:ext cx="7071360" cy="4194048"/>
          </a:xfrm>
          <a:prstGeom prst="roundRect">
            <a:avLst>
              <a:gd name="adj" fmla="val 2907"/>
            </a:avLst>
          </a:prstGeom>
          <a:solidFill>
            <a:srgbClr val="EEF4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8" name="Shape 6"/>
          <p:cNvSpPr/>
          <p:nvPr/>
        </p:nvSpPr>
        <p:spPr>
          <a:xfrm>
            <a:off x="609600" y="2340864"/>
            <a:ext cx="1341120" cy="341376"/>
          </a:xfrm>
          <a:prstGeom prst="roundRect">
            <a:avLst>
              <a:gd name="adj" fmla="val 17857"/>
            </a:avLst>
          </a:prstGeom>
          <a:solidFill>
            <a:srgbClr val="4A7CC7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9" name="Text 7"/>
          <p:cNvSpPr txBox="1"/>
          <p:nvPr/>
        </p:nvSpPr>
        <p:spPr>
          <a:xfrm>
            <a:off x="609600" y="2340864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97024" y="2365248"/>
            <a:ext cx="52425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기반 Agent + RAG + 장비제어 + 웹 시연</a:t>
            </a:r>
            <a:endParaRPr lang="en-US" sz="1133" dirty="0"/>
          </a:p>
        </p:txBody>
      </p:sp>
      <p:sp>
        <p:nvSpPr>
          <p:cNvPr id="11" name="Text 9"/>
          <p:cNvSpPr txBox="1"/>
          <p:nvPr/>
        </p:nvSpPr>
        <p:spPr>
          <a:xfrm>
            <a:off x="682752" y="2804160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4A7C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판정</a:t>
            </a:r>
            <a:endParaRPr lang="en-US" sz="1133" dirty="0"/>
          </a:p>
        </p:txBody>
      </p:sp>
      <p:sp>
        <p:nvSpPr>
          <p:cNvPr id="12" name="Text 10"/>
          <p:cNvSpPr txBox="1"/>
          <p:nvPr/>
        </p:nvSpPr>
        <p:spPr>
          <a:xfrm>
            <a:off x="2389632" y="2804160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임계값 ratio 기반 severity 판정(rules.py)</a:t>
            </a:r>
            <a:endParaRPr lang="en-US" sz="1133" dirty="0"/>
          </a:p>
        </p:txBody>
      </p:sp>
      <p:sp>
        <p:nvSpPr>
          <p:cNvPr id="13" name="Text 11"/>
          <p:cNvSpPr txBox="1"/>
          <p:nvPr/>
        </p:nvSpPr>
        <p:spPr>
          <a:xfrm>
            <a:off x="682752" y="3243072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4A7C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호출</a:t>
            </a:r>
            <a:endParaRPr lang="en-US" sz="1133" dirty="0"/>
          </a:p>
        </p:txBody>
      </p:sp>
      <p:sp>
        <p:nvSpPr>
          <p:cNvPr id="14" name="Text 12"/>
          <p:cNvSpPr txBox="1"/>
          <p:nvPr/>
        </p:nvSpPr>
        <p:spPr>
          <a:xfrm>
            <a:off x="2389632" y="3243072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 err="1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search_guidelines 선택적 호출(RAG 재사용)</a:t>
            </a:r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dirty="0" err="1">
                <a:solidFill>
                  <a:srgbClr val="162A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dirty="0">
                <a:solidFill>
                  <a:srgbClr val="162A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dirty="0" err="1">
                <a:solidFill>
                  <a:srgbClr val="162A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dirty="0">
                <a:solidFill>
                  <a:srgbClr val="162A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dirty="0" err="1">
                <a:solidFill>
                  <a:srgbClr val="162A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dirty="0">
                <a:solidFill>
                  <a:srgbClr val="162A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dirty="0" err="1">
                <a:solidFill>
                  <a:srgbClr val="162A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dirty="0">
                <a:solidFill>
                  <a:srgbClr val="162A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200" dirty="0">
              <a:solidFill>
                <a:srgbClr val="162AC9"/>
              </a:solidFill>
            </a:endParaRPr>
          </a:p>
          <a:p>
            <a:endParaRPr lang="en-US" sz="1133" dirty="0"/>
          </a:p>
        </p:txBody>
      </p:sp>
      <p:sp>
        <p:nvSpPr>
          <p:cNvPr id="15" name="Text 13"/>
          <p:cNvSpPr txBox="1"/>
          <p:nvPr/>
        </p:nvSpPr>
        <p:spPr>
          <a:xfrm>
            <a:off x="682752" y="3681984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4A7C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제어</a:t>
            </a:r>
            <a:endParaRPr lang="en-US" sz="1133" dirty="0"/>
          </a:p>
        </p:txBody>
      </p:sp>
      <p:sp>
        <p:nvSpPr>
          <p:cNvPr id="16" name="Text 14"/>
          <p:cNvSpPr txBox="1"/>
          <p:nvPr/>
        </p:nvSpPr>
        <p:spPr>
          <a:xfrm>
            <a:off x="2389632" y="3681984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환풍기·소화설비 즉시 실행 / 가스차단기 승인대기</a:t>
            </a:r>
            <a:endParaRPr lang="en-US" sz="1133" dirty="0"/>
          </a:p>
        </p:txBody>
      </p:sp>
      <p:sp>
        <p:nvSpPr>
          <p:cNvPr id="17" name="Text 15"/>
          <p:cNvSpPr txBox="1"/>
          <p:nvPr/>
        </p:nvSpPr>
        <p:spPr>
          <a:xfrm>
            <a:off x="682752" y="4120896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4A7C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엣지 검증</a:t>
            </a:r>
            <a:endParaRPr lang="en-US" sz="1133" dirty="0"/>
          </a:p>
        </p:txBody>
      </p:sp>
      <p:sp>
        <p:nvSpPr>
          <p:cNvPr id="18" name="Text 16"/>
          <p:cNvSpPr txBox="1"/>
          <p:nvPr/>
        </p:nvSpPr>
        <p:spPr>
          <a:xfrm>
            <a:off x="2389632" y="4120896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cgroup 에뮬레이션 8개 프로파일(코어/메모리/GPU유무)</a:t>
            </a:r>
            <a:endParaRPr lang="en-US" sz="1133" dirty="0"/>
          </a:p>
        </p:txBody>
      </p:sp>
      <p:sp>
        <p:nvSpPr>
          <p:cNvPr id="19" name="Text 17"/>
          <p:cNvSpPr txBox="1"/>
          <p:nvPr/>
        </p:nvSpPr>
        <p:spPr>
          <a:xfrm>
            <a:off x="682752" y="4559808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4A7C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상태</a:t>
            </a:r>
            <a:endParaRPr lang="en-US" sz="1133" dirty="0"/>
          </a:p>
        </p:txBody>
      </p:sp>
      <p:sp>
        <p:nvSpPr>
          <p:cNvPr id="20" name="Text 18"/>
          <p:cNvSpPr txBox="1"/>
          <p:nvPr/>
        </p:nvSpPr>
        <p:spPr>
          <a:xfrm>
            <a:off x="2389632" y="4559808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systemd --user + linger, 재부팅에도 생존</a:t>
            </a:r>
            <a:endParaRPr lang="en-US" sz="1133" dirty="0"/>
          </a:p>
        </p:txBody>
      </p:sp>
      <p:sp>
        <p:nvSpPr>
          <p:cNvPr id="21" name="Text 19"/>
          <p:cNvSpPr txBox="1"/>
          <p:nvPr/>
        </p:nvSpPr>
        <p:spPr>
          <a:xfrm>
            <a:off x="682752" y="4998720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4A7C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관측성</a:t>
            </a:r>
            <a:endParaRPr lang="en-US" sz="1133" dirty="0"/>
          </a:p>
        </p:txBody>
      </p:sp>
      <p:sp>
        <p:nvSpPr>
          <p:cNvPr id="22" name="Text 20"/>
          <p:cNvSpPr txBox="1"/>
          <p:nvPr/>
        </p:nvSpPr>
        <p:spPr>
          <a:xfrm>
            <a:off x="2389632" y="4998720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MLflow 모델 레지스트리 + Prometheus/Grafana</a:t>
            </a:r>
            <a:endParaRPr lang="en-US" sz="1133" dirty="0"/>
          </a:p>
        </p:txBody>
      </p:sp>
      <p:sp>
        <p:nvSpPr>
          <p:cNvPr id="23" name="Text 21"/>
          <p:cNvSpPr txBox="1"/>
          <p:nvPr/>
        </p:nvSpPr>
        <p:spPr>
          <a:xfrm>
            <a:off x="682752" y="5437632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4A7C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데모</a:t>
            </a:r>
            <a:endParaRPr lang="en-US" sz="1133" dirty="0"/>
          </a:p>
        </p:txBody>
      </p:sp>
      <p:sp>
        <p:nvSpPr>
          <p:cNvPr id="24" name="Text 22"/>
          <p:cNvSpPr txBox="1"/>
          <p:nvPr/>
        </p:nvSpPr>
        <p:spPr>
          <a:xfrm>
            <a:off x="2389632" y="5437632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/control-room 라이브 6현장 자동 갱신</a:t>
            </a:r>
            <a:endParaRPr lang="en-US" sz="1133" dirty="0"/>
          </a:p>
        </p:txBody>
      </p:sp>
      <p:sp>
        <p:nvSpPr>
          <p:cNvPr id="25" name="Text 23"/>
          <p:cNvSpPr txBox="1"/>
          <p:nvPr/>
        </p:nvSpPr>
        <p:spPr>
          <a:xfrm>
            <a:off x="682752" y="5876544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4A7C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CI/CD</a:t>
            </a:r>
            <a:endParaRPr lang="en-US" sz="1133" dirty="0"/>
          </a:p>
        </p:txBody>
      </p:sp>
      <p:sp>
        <p:nvSpPr>
          <p:cNvPr id="26" name="Text 24"/>
          <p:cNvSpPr txBox="1"/>
          <p:nvPr/>
        </p:nvSpPr>
        <p:spPr>
          <a:xfrm>
            <a:off x="2389632" y="5876544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self-hosted runner, 테스트→배포 27초</a:t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7778496" y="2194560"/>
            <a:ext cx="3950208" cy="4194048"/>
          </a:xfrm>
          <a:prstGeom prst="roundRect">
            <a:avLst>
              <a:gd name="adj" fmla="val 3086"/>
            </a:avLst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8" name="Shape 26"/>
          <p:cNvSpPr/>
          <p:nvPr/>
        </p:nvSpPr>
        <p:spPr>
          <a:xfrm>
            <a:off x="7924800" y="2340864"/>
            <a:ext cx="1341120" cy="341376"/>
          </a:xfrm>
          <a:prstGeom prst="roundRect">
            <a:avLst>
              <a:gd name="adj" fmla="val 17857"/>
            </a:avLst>
          </a:prstGeom>
          <a:solidFill>
            <a:srgbClr val="497CC7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9" name="Text 27"/>
          <p:cNvSpPr txBox="1"/>
          <p:nvPr/>
        </p:nvSpPr>
        <p:spPr>
          <a:xfrm>
            <a:off x="8032830" y="2340864"/>
            <a:ext cx="123309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387840" y="2365248"/>
            <a:ext cx="21945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AI튜터 — 같은 GPU 서버·같은 임베딩/LLM 인프라 재사용</a:t>
            </a:r>
            <a:endParaRPr lang="en-US" sz="1133" dirty="0"/>
          </a:p>
        </p:txBody>
      </p:sp>
      <p:sp>
        <p:nvSpPr>
          <p:cNvPr id="31" name="Text 29"/>
          <p:cNvSpPr txBox="1"/>
          <p:nvPr/>
        </p:nvSpPr>
        <p:spPr>
          <a:xfrm>
            <a:off x="7924800" y="2804160"/>
            <a:ext cx="36576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AI튜터 RAG 인덱스 — 수집 문서 42건 → 2,679청크(안전 도메인과 분리)</a:t>
            </a:r>
            <a:endParaRPr lang="en-US" sz="1067" dirty="0"/>
          </a:p>
        </p:txBody>
      </p:sp>
      <p:sp>
        <p:nvSpPr>
          <p:cNvPr id="32" name="Text 30"/>
          <p:cNvSpPr txBox="1"/>
          <p:nvPr/>
        </p:nvSpPr>
        <p:spPr>
          <a:xfrm>
            <a:off x="7924800" y="3267456"/>
            <a:ext cx="36576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학생 체험 — RAG · 파인튜닝 단독 · Claude 3종 비교</a:t>
            </a:r>
            <a:endParaRPr lang="en-US" sz="1067" dirty="0"/>
          </a:p>
        </p:txBody>
      </p:sp>
      <p:sp>
        <p:nvSpPr>
          <p:cNvPr id="33" name="Text 31"/>
          <p:cNvSpPr txBox="1"/>
          <p:nvPr/>
        </p:nvSpPr>
        <p:spPr>
          <a:xfrm>
            <a:off x="7924800" y="3730752"/>
            <a:ext cx="36576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근거 기반 퀴즈 — 정답 토큰 코드 검증</a:t>
            </a:r>
            <a:endParaRPr lang="en-US" sz="1067" dirty="0"/>
          </a:p>
        </p:txBody>
      </p:sp>
      <p:sp>
        <p:nvSpPr>
          <p:cNvPr id="34" name="Text 32"/>
          <p:cNvSpPr txBox="1"/>
          <p:nvPr/>
        </p:nvSpPr>
        <p:spPr>
          <a:xfrm>
            <a:off x="7924800" y="4194048"/>
            <a:ext cx="36576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통합관제와 같은 GPU 서버·같은 LLM 인스턴스 재사용(_llm_lock 공유)</a:t>
            </a:r>
            <a:endParaRPr lang="en-US" sz="1067" dirty="0"/>
          </a:p>
        </p:txBody>
      </p:sp>
      <p:sp>
        <p:nvSpPr>
          <p:cNvPr id="40" name="Text 0">
            <a:extLst>
              <a:ext uri="{FF2B5EF4-FFF2-40B4-BE49-F238E27FC236}">
                <a16:creationId xmlns:a16="http://schemas.microsoft.com/office/drawing/2014/main" id="{926D4764-0626-607A-5232-C37467682839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b="1" kern="0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1. 구축 단계(Phase)</a:t>
            </a:r>
            <a:r>
              <a:rPr lang="ko-KR" altLang="en-US" sz="1600" b="1" kern="0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7CAAB36E-EC70-86DF-E4DB-CD57F17FA0CF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2EA62108-1C86-D7CD-E843-A6312BC350C8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산업안전을 먼저 완성하고, 같은 인프라 위에 AI튜터를 얹었다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endParaRPr lang="ko-KR" altLang="en-US" sz="2400" b="1" dirty="0">
              <a:solidFill>
                <a:srgbClr val="0070C0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E3CD3F2B-2C1A-D2C8-BB3A-A5568F135AD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900" dirty="0">
                <a:solidFill>
                  <a:srgbClr val="5B6672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11</a:t>
            </a:r>
            <a:endParaRPr lang="en-US" sz="9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5D7D551C-B12A-5152-89ED-F5116BC0E6DB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C80E8C5-D3E7-6200-5C61-2F1F2AFDFA7C}"/>
              </a:ext>
            </a:extLst>
          </p:cNvPr>
          <p:cNvGrpSpPr/>
          <p:nvPr/>
        </p:nvGrpSpPr>
        <p:grpSpPr>
          <a:xfrm>
            <a:off x="9836265" y="353790"/>
            <a:ext cx="2140317" cy="295434"/>
            <a:chOff x="8336310" y="1122320"/>
            <a:chExt cx="2140317" cy="29543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6C38BED-9808-3834-B944-996828C70EE0}"/>
                </a:ext>
              </a:extLst>
            </p:cNvPr>
            <p:cNvSpPr txBox="1"/>
            <p:nvPr/>
          </p:nvSpPr>
          <p:spPr>
            <a:xfrm>
              <a:off x="10074613" y="1130489"/>
              <a:ext cx="402014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Ⅳ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943E5C6-8788-A343-6FF2-5088F1971937}"/>
                </a:ext>
              </a:extLst>
            </p:cNvPr>
            <p:cNvGrpSpPr/>
            <p:nvPr/>
          </p:nvGrpSpPr>
          <p:grpSpPr>
            <a:xfrm>
              <a:off x="9128979" y="1140755"/>
              <a:ext cx="954926" cy="276999"/>
              <a:chOff x="9975479" y="1218128"/>
              <a:chExt cx="954926" cy="276999"/>
            </a:xfrm>
          </p:grpSpPr>
          <p:sp>
            <p:nvSpPr>
              <p:cNvPr id="55" name="사각형: 잘린 한쪽 모서리 54">
                <a:extLst>
                  <a:ext uri="{FF2B5EF4-FFF2-40B4-BE49-F238E27FC236}">
                    <a16:creationId xmlns:a16="http://schemas.microsoft.com/office/drawing/2014/main" id="{912B5EB9-9C8B-75A9-C034-609EF2D7DC95}"/>
                  </a:ext>
                </a:extLst>
              </p:cNvPr>
              <p:cNvSpPr/>
              <p:nvPr/>
            </p:nvSpPr>
            <p:spPr>
              <a:xfrm rot="10800000">
                <a:off x="9986500" y="1218128"/>
                <a:ext cx="893082" cy="266733"/>
              </a:xfrm>
              <a:prstGeom prst="snip1Rect">
                <a:avLst>
                  <a:gd name="adj" fmla="val 46697"/>
                </a:avLst>
              </a:prstGeom>
              <a:solidFill>
                <a:srgbClr val="1A2332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F36D2FC-5ADD-3C42-966D-BA0BAF8939E2}"/>
                  </a:ext>
                </a:extLst>
              </p:cNvPr>
              <p:cNvSpPr txBox="1"/>
              <p:nvPr/>
            </p:nvSpPr>
            <p:spPr>
              <a:xfrm>
                <a:off x="9975479" y="1218128"/>
                <a:ext cx="9549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함초롬바탕" panose="02030604000101010101" pitchFamily="18" charset="-127"/>
                  </a:rPr>
                  <a:t>Ⅲ 아키텍처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/>
                </a: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2765DAE-C98B-8F7C-9231-18CB4A29C022}"/>
                </a:ext>
              </a:extLst>
            </p:cNvPr>
            <p:cNvSpPr txBox="1"/>
            <p:nvPr/>
          </p:nvSpPr>
          <p:spPr>
            <a:xfrm>
              <a:off x="8336310" y="1122320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Ⅰ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46773F6E-376B-7F5A-865B-4C59B05D4888}"/>
                </a:ext>
              </a:extLst>
            </p:cNvPr>
            <p:cNvCxnSpPr>
              <a:cxnSpLocks/>
            </p:cNvCxnSpPr>
            <p:nvPr/>
          </p:nvCxnSpPr>
          <p:spPr>
            <a:xfrm>
              <a:off x="8657475" y="1164599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DEFD121-D1C7-94E5-9392-8EFFB844DE38}"/>
                </a:ext>
              </a:extLst>
            </p:cNvPr>
            <p:cNvSpPr txBox="1"/>
            <p:nvPr/>
          </p:nvSpPr>
          <p:spPr>
            <a:xfrm>
              <a:off x="8723418" y="1126067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Ⅱ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E6C424B6-D4E4-0EDA-DEE9-CA38CA1E6392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600" b="1" kern="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산업안전 Agent 구조</a:t>
            </a:r>
            <a:r>
              <a:rPr lang="ko-KR" altLang="en-US" sz="1600" b="1" kern="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A7CA284-8B1C-A05A-26FB-2993A219EE42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D0D0F184-9E2D-9039-B09F-083945B2D0F3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17B1AE2A-119B-BE69-04F9-54760E8679C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12</a:t>
            </a:r>
            <a:endParaRPr lang="en-US" sz="9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51F89F7-13DC-B37E-2D14-B0BEBFD16285}"/>
              </a:ext>
            </a:extLst>
          </p:cNvPr>
          <p:cNvGrpSpPr/>
          <p:nvPr/>
        </p:nvGrpSpPr>
        <p:grpSpPr>
          <a:xfrm>
            <a:off x="9836265" y="353790"/>
            <a:ext cx="2140317" cy="295434"/>
            <a:chOff x="8336310" y="1122320"/>
            <a:chExt cx="2140317" cy="29543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88B2B5-F260-5645-22B8-F11E4F7EDCF9}"/>
                </a:ext>
              </a:extLst>
            </p:cNvPr>
            <p:cNvSpPr txBox="1"/>
            <p:nvPr/>
          </p:nvSpPr>
          <p:spPr>
            <a:xfrm>
              <a:off x="10074613" y="1130489"/>
              <a:ext cx="402014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Ⅳ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EFC7B73-B16D-25AE-D65D-320A5817B0FF}"/>
                </a:ext>
              </a:extLst>
            </p:cNvPr>
            <p:cNvGrpSpPr/>
            <p:nvPr/>
          </p:nvGrpSpPr>
          <p:grpSpPr>
            <a:xfrm>
              <a:off x="9128979" y="1140755"/>
              <a:ext cx="954926" cy="276999"/>
              <a:chOff x="9975479" y="1218128"/>
              <a:chExt cx="954926" cy="276999"/>
            </a:xfrm>
          </p:grpSpPr>
          <p:sp>
            <p:nvSpPr>
              <p:cNvPr id="38" name="사각형: 잘린 한쪽 모서리 37">
                <a:extLst>
                  <a:ext uri="{FF2B5EF4-FFF2-40B4-BE49-F238E27FC236}">
                    <a16:creationId xmlns:a16="http://schemas.microsoft.com/office/drawing/2014/main" id="{EC4DBE99-262E-C997-610A-22E9E3EB324B}"/>
                  </a:ext>
                </a:extLst>
              </p:cNvPr>
              <p:cNvSpPr/>
              <p:nvPr/>
            </p:nvSpPr>
            <p:spPr>
              <a:xfrm rot="10800000">
                <a:off x="9986500" y="1218128"/>
                <a:ext cx="893082" cy="266733"/>
              </a:xfrm>
              <a:prstGeom prst="snip1Rect">
                <a:avLst>
                  <a:gd name="adj" fmla="val 46697"/>
                </a:avLst>
              </a:prstGeom>
              <a:solidFill>
                <a:srgbClr val="1A2332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69C69A8-D9B2-A29B-861F-9F75ABD5E04A}"/>
                  </a:ext>
                </a:extLst>
              </p:cNvPr>
              <p:cNvSpPr txBox="1"/>
              <p:nvPr/>
            </p:nvSpPr>
            <p:spPr>
              <a:xfrm>
                <a:off x="9975479" y="1218128"/>
                <a:ext cx="9549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함초롬바탕" panose="02030604000101010101" pitchFamily="18" charset="-127"/>
                  </a:rPr>
                  <a:t>Ⅲ 아키텍처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/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2DAFD6-25E2-EA43-E3B7-6DB37A604F6D}"/>
                </a:ext>
              </a:extLst>
            </p:cNvPr>
            <p:cNvSpPr txBox="1"/>
            <p:nvPr/>
          </p:nvSpPr>
          <p:spPr>
            <a:xfrm>
              <a:off x="8336310" y="1122320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Ⅰ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B999AFB-7807-78E6-E22A-CD2668E3EAB5}"/>
                </a:ext>
              </a:extLst>
            </p:cNvPr>
            <p:cNvCxnSpPr>
              <a:cxnSpLocks/>
            </p:cNvCxnSpPr>
            <p:nvPr/>
          </p:nvCxnSpPr>
          <p:spPr>
            <a:xfrm>
              <a:off x="8657475" y="1164599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8796DC0-EBBA-E6B4-EE67-F132ADA9F6FD}"/>
                </a:ext>
              </a:extLst>
            </p:cNvPr>
            <p:cNvSpPr txBox="1"/>
            <p:nvPr/>
          </p:nvSpPr>
          <p:spPr>
            <a:xfrm>
              <a:off x="8723418" y="1126067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Ⅱ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6" name="Shape 4">
            <a:extLst>
              <a:ext uri="{FF2B5EF4-FFF2-40B4-BE49-F238E27FC236}">
                <a16:creationId xmlns:a16="http://schemas.microsoft.com/office/drawing/2014/main" id="{1CA9E2ED-F688-232B-81B6-4867A68824B8}"/>
              </a:ext>
            </a:extLst>
          </p:cNvPr>
          <p:cNvSpPr/>
          <p:nvPr/>
        </p:nvSpPr>
        <p:spPr>
          <a:xfrm>
            <a:off x="633984" y="1050035"/>
            <a:ext cx="10948416" cy="867074"/>
          </a:xfrm>
          <a:prstGeom prst="roundRect">
            <a:avLst>
              <a:gd name="adj" fmla="val 10417"/>
            </a:avLst>
          </a:prstGeom>
          <a:solidFill>
            <a:srgbClr val="1C2B4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6709B5D-45A7-BE95-E342-AA329A11DDD3}"/>
              </a:ext>
            </a:extLst>
          </p:cNvPr>
          <p:cNvSpPr txBox="1"/>
          <p:nvPr/>
        </p:nvSpPr>
        <p:spPr>
          <a:xfrm>
            <a:off x="633984" y="1147571"/>
            <a:ext cx="10924032" cy="722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"판정은 규칙이, 서술은 LLM이 — 안전에 확률모델을 개입시키지 않는다"</a:t>
            </a:r>
            <a:r>
              <a:rPr lang="ko-KR" altLang="en-US" sz="17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733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DC51131F-E3B1-1A4E-8633-2881F0582862}"/>
              </a:ext>
            </a:extLst>
          </p:cNvPr>
          <p:cNvGrpSpPr/>
          <p:nvPr/>
        </p:nvGrpSpPr>
        <p:grpSpPr>
          <a:xfrm>
            <a:off x="7589520" y="2186904"/>
            <a:ext cx="4241562" cy="2993039"/>
            <a:chOff x="463296" y="2415539"/>
            <a:chExt cx="12112628" cy="3511296"/>
          </a:xfrm>
        </p:grpSpPr>
        <p:sp>
          <p:nvSpPr>
            <p:cNvPr id="14" name="Shape 6">
              <a:extLst>
                <a:ext uri="{FF2B5EF4-FFF2-40B4-BE49-F238E27FC236}">
                  <a16:creationId xmlns:a16="http://schemas.microsoft.com/office/drawing/2014/main" id="{520D8B2A-0C9E-04A6-A242-8F31B40E5C7C}"/>
                </a:ext>
              </a:extLst>
            </p:cNvPr>
            <p:cNvSpPr/>
            <p:nvPr/>
          </p:nvSpPr>
          <p:spPr>
            <a:xfrm>
              <a:off x="463296" y="2415539"/>
              <a:ext cx="3657600" cy="3511296"/>
            </a:xfrm>
            <a:prstGeom prst="roundRect">
              <a:avLst>
                <a:gd name="adj" fmla="val 3472"/>
              </a:avLst>
            </a:prstGeom>
            <a:solidFill>
              <a:schemeClr val="bg1">
                <a:alpha val="98000"/>
              </a:schemeClr>
            </a:solidFill>
            <a:ln>
              <a:noFill/>
            </a:ln>
            <a:effectLst>
              <a:outerShdw blurRad="276370" dist="38100" dir="2700000" algn="tl" rotWithShape="0">
                <a:srgbClr val="408DE5">
                  <a:alpha val="2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>
                <a:solidFill>
                  <a:schemeClr val="lt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152D814B-CB80-91A8-41EB-560D1F291607}"/>
                </a:ext>
              </a:extLst>
            </p:cNvPr>
            <p:cNvSpPr/>
            <p:nvPr/>
          </p:nvSpPr>
          <p:spPr>
            <a:xfrm>
              <a:off x="609600" y="2561843"/>
              <a:ext cx="3364992" cy="390144"/>
            </a:xfrm>
            <a:prstGeom prst="roundRect">
              <a:avLst>
                <a:gd name="adj" fmla="val 15625"/>
              </a:avLst>
            </a:prstGeom>
            <a:solidFill>
              <a:srgbClr val="4A7CC7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CA1ED20E-A555-B244-2606-43A486CC6AEE}"/>
                </a:ext>
              </a:extLst>
            </p:cNvPr>
            <p:cNvSpPr txBox="1"/>
            <p:nvPr/>
          </p:nvSpPr>
          <p:spPr>
            <a:xfrm>
              <a:off x="609600" y="2561843"/>
              <a:ext cx="3364992" cy="3901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센서 입력 계층</a:t>
              </a:r>
              <a:endParaRPr lang="en-US" sz="1200" dirty="0"/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225C0A9C-F48E-DC96-2484-0D8DB1670F15}"/>
                </a:ext>
              </a:extLst>
            </p:cNvPr>
            <p:cNvSpPr txBox="1"/>
            <p:nvPr/>
          </p:nvSpPr>
          <p:spPr>
            <a:xfrm>
              <a:off x="463296" y="3073907"/>
              <a:ext cx="4260981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공기질/가스/조리흄 센서값</a:t>
              </a:r>
              <a:b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endParaRPr lang="en-US" sz="1050" dirty="0"/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FD6B9EC3-1326-CF80-C3B2-378687A8934B}"/>
                </a:ext>
              </a:extLst>
            </p:cNvPr>
            <p:cNvSpPr txBox="1"/>
            <p:nvPr/>
          </p:nvSpPr>
          <p:spPr>
            <a:xfrm>
              <a:off x="463296" y="3707891"/>
              <a:ext cx="4260981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정상/주의/위험 3단계</a:t>
              </a:r>
              <a:r>
                <a:rPr lang="en-US" sz="1050" dirty="0" err="1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endParaRPr lang="en-US" sz="1050" dirty="0"/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F0E5C79A-EB34-4138-E338-FE764E5F113A}"/>
                </a:ext>
              </a:extLst>
            </p:cNvPr>
            <p:cNvSpPr txBox="1"/>
            <p:nvPr/>
          </p:nvSpPr>
          <p:spPr>
            <a:xfrm>
              <a:off x="463296" y="4341874"/>
              <a:ext cx="4260981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산소(O2) 등 lower_is_worse 지표 포함</a:t>
              </a:r>
              <a:endParaRPr lang="en-US" sz="1050" dirty="0"/>
            </a:p>
          </p:txBody>
        </p:sp>
        <p:sp>
          <p:nvSpPr>
            <p:cNvPr id="31" name="Text 12">
              <a:extLst>
                <a:ext uri="{FF2B5EF4-FFF2-40B4-BE49-F238E27FC236}">
                  <a16:creationId xmlns:a16="http://schemas.microsoft.com/office/drawing/2014/main" id="{20676858-78BD-A3C9-0C19-9CD909A13392}"/>
                </a:ext>
              </a:extLst>
            </p:cNvPr>
            <p:cNvSpPr txBox="1"/>
            <p:nvPr/>
          </p:nvSpPr>
          <p:spPr>
            <a:xfrm>
              <a:off x="463296" y="4975859"/>
              <a:ext cx="4260981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(실제 IoT 미연결, 시뮬레이션)</a:t>
              </a:r>
              <a:endParaRPr lang="en-US" sz="1050" dirty="0"/>
            </a:p>
          </p:txBody>
        </p:sp>
        <p:sp>
          <p:nvSpPr>
            <p:cNvPr id="35" name="Shape 14">
              <a:extLst>
                <a:ext uri="{FF2B5EF4-FFF2-40B4-BE49-F238E27FC236}">
                  <a16:creationId xmlns:a16="http://schemas.microsoft.com/office/drawing/2014/main" id="{8AEB87E8-7A1E-3596-8441-0A3ADC2BDB45}"/>
                </a:ext>
              </a:extLst>
            </p:cNvPr>
            <p:cNvSpPr/>
            <p:nvPr/>
          </p:nvSpPr>
          <p:spPr>
            <a:xfrm>
              <a:off x="4389120" y="2415539"/>
              <a:ext cx="3657600" cy="3511296"/>
            </a:xfrm>
            <a:prstGeom prst="roundRect">
              <a:avLst>
                <a:gd name="adj" fmla="val 3472"/>
              </a:avLst>
            </a:prstGeom>
            <a:solidFill>
              <a:schemeClr val="bg1">
                <a:alpha val="98000"/>
              </a:schemeClr>
            </a:solidFill>
            <a:ln>
              <a:noFill/>
            </a:ln>
            <a:effectLst>
              <a:outerShdw blurRad="276370" dist="38100" dir="2700000" algn="tl" rotWithShape="0">
                <a:srgbClr val="408DE5">
                  <a:alpha val="2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>
                <a:solidFill>
                  <a:schemeClr val="lt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37" name="Shape 15">
              <a:extLst>
                <a:ext uri="{FF2B5EF4-FFF2-40B4-BE49-F238E27FC236}">
                  <a16:creationId xmlns:a16="http://schemas.microsoft.com/office/drawing/2014/main" id="{AC4B9750-EBA8-C5B0-77DF-E96EECF6575D}"/>
                </a:ext>
              </a:extLst>
            </p:cNvPr>
            <p:cNvSpPr/>
            <p:nvPr/>
          </p:nvSpPr>
          <p:spPr>
            <a:xfrm>
              <a:off x="4535424" y="2561843"/>
              <a:ext cx="3364992" cy="390144"/>
            </a:xfrm>
            <a:prstGeom prst="roundRect">
              <a:avLst>
                <a:gd name="adj" fmla="val 15625"/>
              </a:avLst>
            </a:prstGeom>
            <a:solidFill>
              <a:srgbClr val="0D9488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41" name="Text 16">
              <a:extLst>
                <a:ext uri="{FF2B5EF4-FFF2-40B4-BE49-F238E27FC236}">
                  <a16:creationId xmlns:a16="http://schemas.microsoft.com/office/drawing/2014/main" id="{4DFC107F-1146-AF13-EA5C-1C4362568458}"/>
                </a:ext>
              </a:extLst>
            </p:cNvPr>
            <p:cNvSpPr txBox="1"/>
            <p:nvPr/>
          </p:nvSpPr>
          <p:spPr>
            <a:xfrm>
              <a:off x="4535424" y="2561843"/>
              <a:ext cx="3364992" cy="3901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규칙 판정 계층 (rules.py)</a:t>
              </a:r>
              <a:endParaRPr lang="en-US" sz="1200" dirty="0"/>
            </a:p>
          </p:txBody>
        </p:sp>
        <p:sp>
          <p:nvSpPr>
            <p:cNvPr id="44" name="Text 17">
              <a:extLst>
                <a:ext uri="{FF2B5EF4-FFF2-40B4-BE49-F238E27FC236}">
                  <a16:creationId xmlns:a16="http://schemas.microsoft.com/office/drawing/2014/main" id="{E178210E-2B00-7FD7-F8F6-8B4EA4B4F11B}"/>
                </a:ext>
              </a:extLst>
            </p:cNvPr>
            <p:cNvSpPr txBox="1"/>
            <p:nvPr/>
          </p:nvSpPr>
          <p:spPr>
            <a:xfrm>
              <a:off x="4389118" y="3073907"/>
              <a:ext cx="3925825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임계값 대비 ratio로 severity 결정</a:t>
              </a:r>
              <a:endParaRPr lang="en-US" sz="1050" dirty="0"/>
            </a:p>
          </p:txBody>
        </p:sp>
        <p:sp>
          <p:nvSpPr>
            <p:cNvPr id="47" name="Text 18">
              <a:extLst>
                <a:ext uri="{FF2B5EF4-FFF2-40B4-BE49-F238E27FC236}">
                  <a16:creationId xmlns:a16="http://schemas.microsoft.com/office/drawing/2014/main" id="{5E3F0943-EAF1-CE35-3DBF-67EE6BA3A4E0}"/>
                </a:ext>
              </a:extLst>
            </p:cNvPr>
            <p:cNvSpPr txBox="1"/>
            <p:nvPr/>
          </p:nvSpPr>
          <p:spPr>
            <a:xfrm>
              <a:off x="4389118" y="3707891"/>
              <a:ext cx="3925825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장비 제어(환풍기·가스차단기·소화설비) 즉시/승인대기 분기</a:t>
              </a:r>
              <a:endParaRPr lang="en-US" sz="1050" dirty="0"/>
            </a:p>
          </p:txBody>
        </p:sp>
        <p:sp>
          <p:nvSpPr>
            <p:cNvPr id="50" name="Text 19">
              <a:extLst>
                <a:ext uri="{FF2B5EF4-FFF2-40B4-BE49-F238E27FC236}">
                  <a16:creationId xmlns:a16="http://schemas.microsoft.com/office/drawing/2014/main" id="{97A05F71-511F-459F-362B-6DBA094B54EF}"/>
                </a:ext>
              </a:extLst>
            </p:cNvPr>
            <p:cNvSpPr txBox="1"/>
            <p:nvPr/>
          </p:nvSpPr>
          <p:spPr>
            <a:xfrm>
              <a:off x="4389118" y="4341874"/>
              <a:ext cx="3925825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Decision(authority=rule)로 기록</a:t>
              </a:r>
              <a:endParaRPr lang="en-US" sz="1050" dirty="0"/>
            </a:p>
          </p:txBody>
        </p:sp>
        <p:sp>
          <p:nvSpPr>
            <p:cNvPr id="52" name="Text 20">
              <a:extLst>
                <a:ext uri="{FF2B5EF4-FFF2-40B4-BE49-F238E27FC236}">
                  <a16:creationId xmlns:a16="http://schemas.microsoft.com/office/drawing/2014/main" id="{EB0995DA-7027-E8B0-064E-E4A61000E278}"/>
                </a:ext>
              </a:extLst>
            </p:cNvPr>
            <p:cNvSpPr txBox="1"/>
            <p:nvPr/>
          </p:nvSpPr>
          <p:spPr>
            <a:xfrm>
              <a:off x="4389118" y="4975859"/>
              <a:ext cx="3925825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정상 케이스는 LLM 호출 없이 완결</a:t>
              </a:r>
              <a:endParaRPr lang="en-US" sz="1050" dirty="0"/>
            </a:p>
          </p:txBody>
        </p:sp>
        <p:sp>
          <p:nvSpPr>
            <p:cNvPr id="59" name="Shape 22">
              <a:extLst>
                <a:ext uri="{FF2B5EF4-FFF2-40B4-BE49-F238E27FC236}">
                  <a16:creationId xmlns:a16="http://schemas.microsoft.com/office/drawing/2014/main" id="{B7761061-BC5D-72A6-F99E-332F8931FCC1}"/>
                </a:ext>
              </a:extLst>
            </p:cNvPr>
            <p:cNvSpPr/>
            <p:nvPr/>
          </p:nvSpPr>
          <p:spPr>
            <a:xfrm>
              <a:off x="8314944" y="2415539"/>
              <a:ext cx="3657600" cy="3511296"/>
            </a:xfrm>
            <a:prstGeom prst="roundRect">
              <a:avLst>
                <a:gd name="adj" fmla="val 3472"/>
              </a:avLst>
            </a:prstGeom>
            <a:solidFill>
              <a:schemeClr val="bg1">
                <a:alpha val="98000"/>
              </a:schemeClr>
            </a:solidFill>
            <a:ln>
              <a:noFill/>
            </a:ln>
            <a:effectLst>
              <a:outerShdw blurRad="276370" dist="38100" dir="2700000" algn="tl" rotWithShape="0">
                <a:srgbClr val="408DE5">
                  <a:alpha val="2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>
                <a:solidFill>
                  <a:schemeClr val="lt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3" name="Shape 23">
              <a:extLst>
                <a:ext uri="{FF2B5EF4-FFF2-40B4-BE49-F238E27FC236}">
                  <a16:creationId xmlns:a16="http://schemas.microsoft.com/office/drawing/2014/main" id="{D6749921-9123-F14E-F990-1C041D5BB979}"/>
                </a:ext>
              </a:extLst>
            </p:cNvPr>
            <p:cNvSpPr/>
            <p:nvPr/>
          </p:nvSpPr>
          <p:spPr>
            <a:xfrm>
              <a:off x="8461248" y="2561843"/>
              <a:ext cx="3364992" cy="390144"/>
            </a:xfrm>
            <a:prstGeom prst="roundRect">
              <a:avLst>
                <a:gd name="adj" fmla="val 15625"/>
              </a:avLst>
            </a:prstGeom>
            <a:solidFill>
              <a:srgbClr val="EA580C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67" name="Text 24">
              <a:extLst>
                <a:ext uri="{FF2B5EF4-FFF2-40B4-BE49-F238E27FC236}">
                  <a16:creationId xmlns:a16="http://schemas.microsoft.com/office/drawing/2014/main" id="{D23686C0-CA6E-5AAF-0F1E-BFE3B4CCACA9}"/>
                </a:ext>
              </a:extLst>
            </p:cNvPr>
            <p:cNvSpPr txBox="1"/>
            <p:nvPr/>
          </p:nvSpPr>
          <p:spPr>
            <a:xfrm>
              <a:off x="8461248" y="2561843"/>
              <a:ext cx="3364992" cy="3901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LLM 서술 계층</a:t>
              </a:r>
              <a:endParaRPr lang="en-US" sz="1200" dirty="0"/>
            </a:p>
          </p:txBody>
        </p:sp>
        <p:sp>
          <p:nvSpPr>
            <p:cNvPr id="69" name="Text 25">
              <a:extLst>
                <a:ext uri="{FF2B5EF4-FFF2-40B4-BE49-F238E27FC236}">
                  <a16:creationId xmlns:a16="http://schemas.microsoft.com/office/drawing/2014/main" id="{6EF07924-1096-B245-7AC9-95066D696655}"/>
                </a:ext>
              </a:extLst>
            </p:cNvPr>
            <p:cNvSpPr txBox="1"/>
            <p:nvPr/>
          </p:nvSpPr>
          <p:spPr>
            <a:xfrm>
              <a:off x="8314943" y="3073907"/>
              <a:ext cx="4260981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search_guidelines 도구로 RAG 검색(선택적 호출)</a:t>
              </a:r>
              <a:r>
                <a:rPr lang="en-US" sz="1050" dirty="0" err="1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r>
                <a:rPr lang="ko-KR" alt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endParaRPr lang="en-US" sz="1050" dirty="0"/>
            </a:p>
          </p:txBody>
        </p:sp>
        <p:sp>
          <p:nvSpPr>
            <p:cNvPr id="72" name="Text 26">
              <a:extLst>
                <a:ext uri="{FF2B5EF4-FFF2-40B4-BE49-F238E27FC236}">
                  <a16:creationId xmlns:a16="http://schemas.microsoft.com/office/drawing/2014/main" id="{08968F0B-6296-2BAF-4D07-B652357FEE69}"/>
                </a:ext>
              </a:extLst>
            </p:cNvPr>
            <p:cNvSpPr txBox="1"/>
            <p:nvPr/>
          </p:nvSpPr>
          <p:spPr>
            <a:xfrm>
              <a:off x="8314943" y="3707891"/>
              <a:ext cx="4260981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규칙이 정한 사실을 그대로 인용해 서술</a:t>
              </a:r>
              <a:endParaRPr lang="en-US" sz="1050" dirty="0"/>
            </a:p>
          </p:txBody>
        </p:sp>
        <p:sp>
          <p:nvSpPr>
            <p:cNvPr id="75" name="Text 27">
              <a:extLst>
                <a:ext uri="{FF2B5EF4-FFF2-40B4-BE49-F238E27FC236}">
                  <a16:creationId xmlns:a16="http://schemas.microsoft.com/office/drawing/2014/main" id="{DBEA44AC-2BE5-FBB8-F5DD-7DB99CADB313}"/>
                </a:ext>
              </a:extLst>
            </p:cNvPr>
            <p:cNvSpPr txBox="1"/>
            <p:nvPr/>
          </p:nvSpPr>
          <p:spPr>
            <a:xfrm>
              <a:off x="8314943" y="4341874"/>
              <a:ext cx="4260981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Decision(authority=llm)로 기록</a:t>
              </a:r>
              <a:endParaRPr lang="en-US" sz="1050" dirty="0"/>
            </a:p>
          </p:txBody>
        </p:sp>
        <p:sp>
          <p:nvSpPr>
            <p:cNvPr id="77" name="Text 28">
              <a:extLst>
                <a:ext uri="{FF2B5EF4-FFF2-40B4-BE49-F238E27FC236}">
                  <a16:creationId xmlns:a16="http://schemas.microsoft.com/office/drawing/2014/main" id="{EB3AF562-FE36-702C-8522-53385CACF1C1}"/>
                </a:ext>
              </a:extLst>
            </p:cNvPr>
            <p:cNvSpPr txBox="1"/>
            <p:nvPr/>
          </p:nvSpPr>
          <p:spPr>
            <a:xfrm>
              <a:off x="8314943" y="4975859"/>
              <a:ext cx="4260981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 에스컬레이션 · 사고리포트 초안 작성</a:t>
              </a:r>
              <a:endParaRPr lang="en-US" sz="1050" dirty="0"/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ED154C4F-A3FF-42EB-474E-3B0D458C5556}"/>
                </a:ext>
              </a:extLst>
            </p:cNvPr>
            <p:cNvSpPr txBox="1"/>
            <p:nvPr/>
          </p:nvSpPr>
          <p:spPr>
            <a:xfrm>
              <a:off x="4096512" y="3902963"/>
              <a:ext cx="292608" cy="341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solidFill>
                    <a:srgbClr val="4A7CC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→</a:t>
              </a:r>
              <a:endParaRPr lang="en-US" dirty="0"/>
            </a:p>
          </p:txBody>
        </p:sp>
        <p:sp>
          <p:nvSpPr>
            <p:cNvPr id="56" name="Text 21">
              <a:extLst>
                <a:ext uri="{FF2B5EF4-FFF2-40B4-BE49-F238E27FC236}">
                  <a16:creationId xmlns:a16="http://schemas.microsoft.com/office/drawing/2014/main" id="{8890C272-CEE3-D8BE-F27F-1594A723E011}"/>
                </a:ext>
              </a:extLst>
            </p:cNvPr>
            <p:cNvSpPr txBox="1"/>
            <p:nvPr/>
          </p:nvSpPr>
          <p:spPr>
            <a:xfrm>
              <a:off x="8036081" y="3902963"/>
              <a:ext cx="292608" cy="341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→</a:t>
              </a:r>
              <a:endParaRPr lang="en-US" dirty="0"/>
            </a:p>
          </p:txBody>
        </p:sp>
      </p:grpSp>
      <p:sp>
        <p:nvSpPr>
          <p:cNvPr id="80" name="Shape 29">
            <a:extLst>
              <a:ext uri="{FF2B5EF4-FFF2-40B4-BE49-F238E27FC236}">
                <a16:creationId xmlns:a16="http://schemas.microsoft.com/office/drawing/2014/main" id="{C1157CB9-338E-A24D-F77F-6DB79788D2D4}"/>
              </a:ext>
            </a:extLst>
          </p:cNvPr>
          <p:cNvSpPr/>
          <p:nvPr/>
        </p:nvSpPr>
        <p:spPr>
          <a:xfrm>
            <a:off x="780288" y="5682995"/>
            <a:ext cx="10704576" cy="390144"/>
          </a:xfrm>
          <a:prstGeom prst="roundRect">
            <a:avLst>
              <a:gd name="adj" fmla="val 18750"/>
            </a:avLst>
          </a:prstGeom>
          <a:solidFill>
            <a:srgbClr val="8490E8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83" name="Text 30">
            <a:extLst>
              <a:ext uri="{FF2B5EF4-FFF2-40B4-BE49-F238E27FC236}">
                <a16:creationId xmlns:a16="http://schemas.microsoft.com/office/drawing/2014/main" id="{2D086509-1017-B931-8D52-FA4E04E7AFA1}"/>
              </a:ext>
            </a:extLst>
          </p:cNvPr>
          <p:cNvSpPr txBox="1"/>
          <p:nvPr/>
        </p:nvSpPr>
        <p:spPr>
          <a:xfrm>
            <a:off x="1121664" y="5707379"/>
            <a:ext cx="1046073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이벤트 → 규칙 판정(rules.py) → 장비 제어(즉시/승인대기) → LLM 서술(선택적 RAG) → 알림/에스컬레이션/사고리포트</a:t>
            </a:r>
            <a:endParaRPr lang="en-US" sz="1133" dirty="0">
              <a:solidFill>
                <a:schemeClr val="bg1"/>
              </a:solidFill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4895850D-D11C-3630-D9D2-185C7ADDB6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733" r="26956" b="26809"/>
          <a:stretch>
            <a:fillRect/>
          </a:stretch>
        </p:blipFill>
        <p:spPr>
          <a:xfrm>
            <a:off x="548639" y="2296970"/>
            <a:ext cx="6944181" cy="302075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946B6084-68D2-B166-048A-6E44B91144E7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b="1" kern="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AI튜터 RAG 품질 파이프라인</a:t>
            </a:r>
            <a:r>
              <a:rPr lang="ko-KR" altLang="en-US" sz="1600" b="1" kern="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5EECB9C-5B9E-0D4C-EC64-628C2AF66585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6FBFC18E-81B2-628B-7702-F7F30647539F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467974FE-5F74-C336-E2E5-1D708661529A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13</a:t>
            </a:r>
            <a:endParaRPr lang="en-US" sz="900" dirty="0"/>
          </a:p>
        </p:txBody>
      </p:sp>
      <p:sp>
        <p:nvSpPr>
          <p:cNvPr id="139" name="Text 2">
            <a:extLst>
              <a:ext uri="{FF2B5EF4-FFF2-40B4-BE49-F238E27FC236}">
                <a16:creationId xmlns:a16="http://schemas.microsoft.com/office/drawing/2014/main" id="{CDA4DC76-7AAA-C86A-C443-B8B2EACF89A8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0000"/>
              </a:lnSpc>
            </a:pPr>
            <a:r>
              <a:rPr lang="en-US" altLang="ko-KR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질문 하나가 근거 있는 답으로 바뀌기까지 — 6단계 검색·검증 파이프라인</a:t>
            </a:r>
            <a:r>
              <a:rPr lang="ko-K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359C0920-F0CA-23A1-E1B0-9A4AF06ECA46}"/>
              </a:ext>
            </a:extLst>
          </p:cNvPr>
          <p:cNvGrpSpPr/>
          <p:nvPr/>
        </p:nvGrpSpPr>
        <p:grpSpPr>
          <a:xfrm>
            <a:off x="853440" y="1686076"/>
            <a:ext cx="4632960" cy="4438407"/>
            <a:chOff x="853440" y="1463040"/>
            <a:chExt cx="4632960" cy="4852416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7045888C-42F1-D3D3-879D-8485D54B82A9}"/>
                </a:ext>
              </a:extLst>
            </p:cNvPr>
            <p:cNvSpPr/>
            <p:nvPr/>
          </p:nvSpPr>
          <p:spPr>
            <a:xfrm>
              <a:off x="853440" y="1463040"/>
              <a:ext cx="4632960" cy="707136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5240">
              <a:solidFill>
                <a:srgbClr val="4A7CC7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1BE17C88-52D8-C4EF-89E4-1B446A49D715}"/>
                </a:ext>
              </a:extLst>
            </p:cNvPr>
            <p:cNvSpPr/>
            <p:nvPr/>
          </p:nvSpPr>
          <p:spPr>
            <a:xfrm>
              <a:off x="999744" y="1560576"/>
              <a:ext cx="487680" cy="487680"/>
            </a:xfrm>
            <a:prstGeom prst="roundRect">
              <a:avLst>
                <a:gd name="adj" fmla="val 50000"/>
              </a:avLst>
            </a:prstGeom>
            <a:solidFill>
              <a:srgbClr val="4A7CC7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404197BD-01B1-FEAF-7ED5-0FAA45FFE35C}"/>
                </a:ext>
              </a:extLst>
            </p:cNvPr>
            <p:cNvSpPr txBox="1"/>
            <p:nvPr/>
          </p:nvSpPr>
          <p:spPr>
            <a:xfrm>
              <a:off x="999744" y="1560576"/>
              <a:ext cx="4876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82B1AE0A-16CB-147D-EB10-7B673E01A5A7}"/>
                </a:ext>
              </a:extLst>
            </p:cNvPr>
            <p:cNvSpPr txBox="1"/>
            <p:nvPr/>
          </p:nvSpPr>
          <p:spPr>
            <a:xfrm>
              <a:off x="1633728" y="1584960"/>
              <a:ext cx="36088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질문 입력</a:t>
              </a:r>
              <a:endParaRPr lang="en-US" sz="1200" dirty="0"/>
            </a:p>
          </p:txBody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02AF2AC1-80A4-5632-0BDF-E6E06E94AD9B}"/>
                </a:ext>
              </a:extLst>
            </p:cNvPr>
            <p:cNvSpPr txBox="1"/>
            <p:nvPr/>
          </p:nvSpPr>
          <p:spPr>
            <a:xfrm>
              <a:off x="1633728" y="1877568"/>
              <a:ext cx="36088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예: "부산의 인구는?"</a:t>
              </a:r>
              <a:endParaRPr lang="en-US" sz="1050" dirty="0"/>
            </a:p>
          </p:txBody>
        </p:sp>
        <p:sp>
          <p:nvSpPr>
            <p:cNvPr id="70" name="Text 9">
              <a:extLst>
                <a:ext uri="{FF2B5EF4-FFF2-40B4-BE49-F238E27FC236}">
                  <a16:creationId xmlns:a16="http://schemas.microsoft.com/office/drawing/2014/main" id="{C9395642-D612-1D0E-95F5-70A76856E1DD}"/>
                </a:ext>
              </a:extLst>
            </p:cNvPr>
            <p:cNvSpPr txBox="1"/>
            <p:nvPr/>
          </p:nvSpPr>
          <p:spPr>
            <a:xfrm>
              <a:off x="999744" y="2170176"/>
              <a:ext cx="48768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4A7CC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↓</a:t>
              </a:r>
              <a:endParaRPr lang="en-US" sz="1200" dirty="0"/>
            </a:p>
          </p:txBody>
        </p:sp>
        <p:sp>
          <p:nvSpPr>
            <p:cNvPr id="79" name="Shape 10">
              <a:extLst>
                <a:ext uri="{FF2B5EF4-FFF2-40B4-BE49-F238E27FC236}">
                  <a16:creationId xmlns:a16="http://schemas.microsoft.com/office/drawing/2014/main" id="{446B77F3-70CA-E43E-8772-3F8DC5087574}"/>
                </a:ext>
              </a:extLst>
            </p:cNvPr>
            <p:cNvSpPr/>
            <p:nvPr/>
          </p:nvSpPr>
          <p:spPr>
            <a:xfrm>
              <a:off x="853440" y="2292096"/>
              <a:ext cx="4632960" cy="707136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87" name="Shape 11">
              <a:extLst>
                <a:ext uri="{FF2B5EF4-FFF2-40B4-BE49-F238E27FC236}">
                  <a16:creationId xmlns:a16="http://schemas.microsoft.com/office/drawing/2014/main" id="{8F8AD15C-E2AA-790B-20C5-ECB0B2938984}"/>
                </a:ext>
              </a:extLst>
            </p:cNvPr>
            <p:cNvSpPr/>
            <p:nvPr/>
          </p:nvSpPr>
          <p:spPr>
            <a:xfrm>
              <a:off x="999744" y="2389632"/>
              <a:ext cx="487680" cy="48768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89" name="Text 12">
              <a:extLst>
                <a:ext uri="{FF2B5EF4-FFF2-40B4-BE49-F238E27FC236}">
                  <a16:creationId xmlns:a16="http://schemas.microsoft.com/office/drawing/2014/main" id="{8E031F56-51AB-94B6-4F75-4CC5C56382BA}"/>
                </a:ext>
              </a:extLst>
            </p:cNvPr>
            <p:cNvSpPr txBox="1"/>
            <p:nvPr/>
          </p:nvSpPr>
          <p:spPr>
            <a:xfrm>
              <a:off x="999744" y="2389632"/>
              <a:ext cx="4876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95" name="Text 13">
              <a:extLst>
                <a:ext uri="{FF2B5EF4-FFF2-40B4-BE49-F238E27FC236}">
                  <a16:creationId xmlns:a16="http://schemas.microsoft.com/office/drawing/2014/main" id="{420D4F95-D918-C54D-47E2-D503C26DB278}"/>
                </a:ext>
              </a:extLst>
            </p:cNvPr>
            <p:cNvSpPr txBox="1"/>
            <p:nvPr/>
          </p:nvSpPr>
          <p:spPr>
            <a:xfrm>
              <a:off x="1633728" y="2414016"/>
              <a:ext cx="36088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밀집 벡터(dense) 검색</a:t>
              </a:r>
              <a:endParaRPr lang="en-US" sz="1200" dirty="0"/>
            </a:p>
          </p:txBody>
        </p:sp>
        <p:sp>
          <p:nvSpPr>
            <p:cNvPr id="97" name="Text 14">
              <a:extLst>
                <a:ext uri="{FF2B5EF4-FFF2-40B4-BE49-F238E27FC236}">
                  <a16:creationId xmlns:a16="http://schemas.microsoft.com/office/drawing/2014/main" id="{22DFF504-1D3C-7659-6A06-821D7B74EEC8}"/>
                </a:ext>
              </a:extLst>
            </p:cNvPr>
            <p:cNvSpPr txBox="1"/>
            <p:nvPr/>
          </p:nvSpPr>
          <p:spPr>
            <a:xfrm>
              <a:off x="1633728" y="2706624"/>
              <a:ext cx="36088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multilingual-e5-small 임베딩, 상위 20개</a:t>
              </a:r>
              <a:endParaRPr lang="en-US" sz="1050" dirty="0"/>
            </a:p>
          </p:txBody>
        </p:sp>
        <p:sp>
          <p:nvSpPr>
            <p:cNvPr id="99" name="Text 15">
              <a:extLst>
                <a:ext uri="{FF2B5EF4-FFF2-40B4-BE49-F238E27FC236}">
                  <a16:creationId xmlns:a16="http://schemas.microsoft.com/office/drawing/2014/main" id="{810998D3-472B-5643-22AA-E26581D2C2CB}"/>
                </a:ext>
              </a:extLst>
            </p:cNvPr>
            <p:cNvSpPr txBox="1"/>
            <p:nvPr/>
          </p:nvSpPr>
          <p:spPr>
            <a:xfrm>
              <a:off x="999744" y="2999232"/>
              <a:ext cx="48768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↓</a:t>
              </a:r>
              <a:endParaRPr lang="en-US" sz="1200" dirty="0"/>
            </a:p>
          </p:txBody>
        </p:sp>
        <p:sp>
          <p:nvSpPr>
            <p:cNvPr id="101" name="Shape 16">
              <a:extLst>
                <a:ext uri="{FF2B5EF4-FFF2-40B4-BE49-F238E27FC236}">
                  <a16:creationId xmlns:a16="http://schemas.microsoft.com/office/drawing/2014/main" id="{C45B08C0-3B3C-8FCA-DF8E-2951D06E61D8}"/>
                </a:ext>
              </a:extLst>
            </p:cNvPr>
            <p:cNvSpPr/>
            <p:nvPr/>
          </p:nvSpPr>
          <p:spPr>
            <a:xfrm>
              <a:off x="853440" y="3121152"/>
              <a:ext cx="4632960" cy="707136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03" name="Shape 17">
              <a:extLst>
                <a:ext uri="{FF2B5EF4-FFF2-40B4-BE49-F238E27FC236}">
                  <a16:creationId xmlns:a16="http://schemas.microsoft.com/office/drawing/2014/main" id="{88F9EA67-EF5C-5438-4C8E-AC00889B7FC9}"/>
                </a:ext>
              </a:extLst>
            </p:cNvPr>
            <p:cNvSpPr/>
            <p:nvPr/>
          </p:nvSpPr>
          <p:spPr>
            <a:xfrm>
              <a:off x="999744" y="3218688"/>
              <a:ext cx="487680" cy="487680"/>
            </a:xfrm>
            <a:prstGeom prst="roundRect">
              <a:avLst>
                <a:gd name="adj" fmla="val 50000"/>
              </a:avLst>
            </a:prstGeom>
            <a:solidFill>
              <a:srgbClr val="2A3F6F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05" name="Text 18">
              <a:extLst>
                <a:ext uri="{FF2B5EF4-FFF2-40B4-BE49-F238E27FC236}">
                  <a16:creationId xmlns:a16="http://schemas.microsoft.com/office/drawing/2014/main" id="{821030B0-EFE2-1181-A73C-D7FEAD45C5A0}"/>
                </a:ext>
              </a:extLst>
            </p:cNvPr>
            <p:cNvSpPr txBox="1"/>
            <p:nvPr/>
          </p:nvSpPr>
          <p:spPr>
            <a:xfrm>
              <a:off x="999744" y="3218688"/>
              <a:ext cx="4876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200" dirty="0"/>
            </a:p>
          </p:txBody>
        </p:sp>
        <p:sp>
          <p:nvSpPr>
            <p:cNvPr id="107" name="Text 19">
              <a:extLst>
                <a:ext uri="{FF2B5EF4-FFF2-40B4-BE49-F238E27FC236}">
                  <a16:creationId xmlns:a16="http://schemas.microsoft.com/office/drawing/2014/main" id="{9EE7B024-E80D-D4FB-312F-98D1479B6104}"/>
                </a:ext>
              </a:extLst>
            </p:cNvPr>
            <p:cNvSpPr txBox="1"/>
            <p:nvPr/>
          </p:nvSpPr>
          <p:spPr>
            <a:xfrm>
              <a:off x="1633728" y="3243072"/>
              <a:ext cx="36088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BM25 어휘 검색</a:t>
              </a:r>
              <a:endParaRPr lang="en-US" sz="1200" dirty="0"/>
            </a:p>
          </p:txBody>
        </p:sp>
        <p:sp>
          <p:nvSpPr>
            <p:cNvPr id="109" name="Text 20">
              <a:extLst>
                <a:ext uri="{FF2B5EF4-FFF2-40B4-BE49-F238E27FC236}">
                  <a16:creationId xmlns:a16="http://schemas.microsoft.com/office/drawing/2014/main" id="{CBBB91EF-1E3F-4CD3-AA94-CF95E179880B}"/>
                </a:ext>
              </a:extLst>
            </p:cNvPr>
            <p:cNvSpPr txBox="1"/>
            <p:nvPr/>
          </p:nvSpPr>
          <p:spPr>
            <a:xfrm>
              <a:off x="1633728" y="3535680"/>
              <a:ext cx="36088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kiwipiepy 형태소 분석 — 내용어만 추출(조사·어미 제외)</a:t>
              </a:r>
              <a:endParaRPr lang="en-US" sz="1050" dirty="0"/>
            </a:p>
          </p:txBody>
        </p:sp>
        <p:sp>
          <p:nvSpPr>
            <p:cNvPr id="111" name="Text 21">
              <a:extLst>
                <a:ext uri="{FF2B5EF4-FFF2-40B4-BE49-F238E27FC236}">
                  <a16:creationId xmlns:a16="http://schemas.microsoft.com/office/drawing/2014/main" id="{88E15AAE-74DD-1227-58AC-8295D23975E3}"/>
                </a:ext>
              </a:extLst>
            </p:cNvPr>
            <p:cNvSpPr txBox="1"/>
            <p:nvPr/>
          </p:nvSpPr>
          <p:spPr>
            <a:xfrm>
              <a:off x="999744" y="3828288"/>
              <a:ext cx="48768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2A3F6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↓</a:t>
              </a:r>
              <a:endParaRPr lang="en-US" sz="1200" dirty="0"/>
            </a:p>
          </p:txBody>
        </p:sp>
        <p:sp>
          <p:nvSpPr>
            <p:cNvPr id="113" name="Shape 22">
              <a:extLst>
                <a:ext uri="{FF2B5EF4-FFF2-40B4-BE49-F238E27FC236}">
                  <a16:creationId xmlns:a16="http://schemas.microsoft.com/office/drawing/2014/main" id="{C8EB3322-1895-7D76-439D-9346878EDF18}"/>
                </a:ext>
              </a:extLst>
            </p:cNvPr>
            <p:cNvSpPr/>
            <p:nvPr/>
          </p:nvSpPr>
          <p:spPr>
            <a:xfrm>
              <a:off x="853440" y="3950208"/>
              <a:ext cx="4632960" cy="707136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15" name="Shape 23">
              <a:extLst>
                <a:ext uri="{FF2B5EF4-FFF2-40B4-BE49-F238E27FC236}">
                  <a16:creationId xmlns:a16="http://schemas.microsoft.com/office/drawing/2014/main" id="{81F7F72A-4261-785D-72FF-74623BB90BE7}"/>
                </a:ext>
              </a:extLst>
            </p:cNvPr>
            <p:cNvSpPr/>
            <p:nvPr/>
          </p:nvSpPr>
          <p:spPr>
            <a:xfrm>
              <a:off x="999744" y="4047744"/>
              <a:ext cx="487680" cy="487680"/>
            </a:xfrm>
            <a:prstGeom prst="roundRect">
              <a:avLst>
                <a:gd name="adj" fmla="val 50000"/>
              </a:avLst>
            </a:prstGeom>
            <a:solidFill>
              <a:srgbClr val="CA8A04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17" name="Text 24">
              <a:extLst>
                <a:ext uri="{FF2B5EF4-FFF2-40B4-BE49-F238E27FC236}">
                  <a16:creationId xmlns:a16="http://schemas.microsoft.com/office/drawing/2014/main" id="{EF2B1F9F-FD85-397A-4EBE-B41645A32BD9}"/>
                </a:ext>
              </a:extLst>
            </p:cNvPr>
            <p:cNvSpPr txBox="1"/>
            <p:nvPr/>
          </p:nvSpPr>
          <p:spPr>
            <a:xfrm>
              <a:off x="999744" y="4047744"/>
              <a:ext cx="4876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200" dirty="0"/>
            </a:p>
          </p:txBody>
        </p:sp>
        <p:sp>
          <p:nvSpPr>
            <p:cNvPr id="119" name="Text 25">
              <a:extLst>
                <a:ext uri="{FF2B5EF4-FFF2-40B4-BE49-F238E27FC236}">
                  <a16:creationId xmlns:a16="http://schemas.microsoft.com/office/drawing/2014/main" id="{BD46E720-F439-67DD-EB61-AF237756B90C}"/>
                </a:ext>
              </a:extLst>
            </p:cNvPr>
            <p:cNvSpPr txBox="1"/>
            <p:nvPr/>
          </p:nvSpPr>
          <p:spPr>
            <a:xfrm>
              <a:off x="1633728" y="4072128"/>
              <a:ext cx="36088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RRF 결합</a:t>
              </a:r>
              <a:endParaRPr lang="en-US" sz="1200" dirty="0"/>
            </a:p>
          </p:txBody>
        </p:sp>
        <p:sp>
          <p:nvSpPr>
            <p:cNvPr id="136" name="Text 26">
              <a:extLst>
                <a:ext uri="{FF2B5EF4-FFF2-40B4-BE49-F238E27FC236}">
                  <a16:creationId xmlns:a16="http://schemas.microsoft.com/office/drawing/2014/main" id="{7934B6E6-D193-87DA-495B-2B1525B0B0C2}"/>
                </a:ext>
              </a:extLst>
            </p:cNvPr>
            <p:cNvSpPr txBox="1"/>
            <p:nvPr/>
          </p:nvSpPr>
          <p:spPr>
            <a:xfrm>
              <a:off x="1633728" y="4364736"/>
              <a:ext cx="36088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dense+BM25 순위를 Reciprocal Rank Fusion으로 합쳐 상위 후보 선정</a:t>
              </a:r>
              <a:endParaRPr lang="en-US" sz="1050" dirty="0"/>
            </a:p>
          </p:txBody>
        </p:sp>
        <p:sp>
          <p:nvSpPr>
            <p:cNvPr id="143" name="Text 27">
              <a:extLst>
                <a:ext uri="{FF2B5EF4-FFF2-40B4-BE49-F238E27FC236}">
                  <a16:creationId xmlns:a16="http://schemas.microsoft.com/office/drawing/2014/main" id="{D1730D87-5D16-48BD-0212-BF74B8D5B580}"/>
                </a:ext>
              </a:extLst>
            </p:cNvPr>
            <p:cNvSpPr txBox="1"/>
            <p:nvPr/>
          </p:nvSpPr>
          <p:spPr>
            <a:xfrm>
              <a:off x="999744" y="4657344"/>
              <a:ext cx="48768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CA8A0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↓</a:t>
              </a:r>
              <a:endParaRPr lang="en-US" sz="1200" dirty="0"/>
            </a:p>
          </p:txBody>
        </p:sp>
        <p:sp>
          <p:nvSpPr>
            <p:cNvPr id="145" name="Shape 28">
              <a:extLst>
                <a:ext uri="{FF2B5EF4-FFF2-40B4-BE49-F238E27FC236}">
                  <a16:creationId xmlns:a16="http://schemas.microsoft.com/office/drawing/2014/main" id="{8327A557-A4F4-FDA7-0D9B-11453DC1BE53}"/>
                </a:ext>
              </a:extLst>
            </p:cNvPr>
            <p:cNvSpPr/>
            <p:nvPr/>
          </p:nvSpPr>
          <p:spPr>
            <a:xfrm>
              <a:off x="853440" y="4779264"/>
              <a:ext cx="4632960" cy="707136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524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47" name="Shape 29">
              <a:extLst>
                <a:ext uri="{FF2B5EF4-FFF2-40B4-BE49-F238E27FC236}">
                  <a16:creationId xmlns:a16="http://schemas.microsoft.com/office/drawing/2014/main" id="{70314538-BD64-258B-17C9-1931F0CD0EA2}"/>
                </a:ext>
              </a:extLst>
            </p:cNvPr>
            <p:cNvSpPr/>
            <p:nvPr/>
          </p:nvSpPr>
          <p:spPr>
            <a:xfrm>
              <a:off x="999744" y="4876800"/>
              <a:ext cx="487680" cy="48768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49" name="Text 30">
              <a:extLst>
                <a:ext uri="{FF2B5EF4-FFF2-40B4-BE49-F238E27FC236}">
                  <a16:creationId xmlns:a16="http://schemas.microsoft.com/office/drawing/2014/main" id="{66F5B086-5FCF-3882-833E-BCE944508A9E}"/>
                </a:ext>
              </a:extLst>
            </p:cNvPr>
            <p:cNvSpPr txBox="1"/>
            <p:nvPr/>
          </p:nvSpPr>
          <p:spPr>
            <a:xfrm>
              <a:off x="999744" y="4876800"/>
              <a:ext cx="4876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1200" dirty="0"/>
            </a:p>
          </p:txBody>
        </p:sp>
        <p:sp>
          <p:nvSpPr>
            <p:cNvPr id="151" name="Text 31">
              <a:extLst>
                <a:ext uri="{FF2B5EF4-FFF2-40B4-BE49-F238E27FC236}">
                  <a16:creationId xmlns:a16="http://schemas.microsoft.com/office/drawing/2014/main" id="{8BEE1C68-4816-B258-22A4-062D06E85F32}"/>
                </a:ext>
              </a:extLst>
            </p:cNvPr>
            <p:cNvSpPr txBox="1"/>
            <p:nvPr/>
          </p:nvSpPr>
          <p:spPr>
            <a:xfrm>
              <a:off x="1633728" y="4901184"/>
              <a:ext cx="36088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sub_domain 다수결 보정</a:t>
              </a:r>
              <a:endParaRPr lang="en-US" sz="1200" dirty="0"/>
            </a:p>
          </p:txBody>
        </p:sp>
        <p:sp>
          <p:nvSpPr>
            <p:cNvPr id="153" name="Text 32">
              <a:extLst>
                <a:ext uri="{FF2B5EF4-FFF2-40B4-BE49-F238E27FC236}">
                  <a16:creationId xmlns:a16="http://schemas.microsoft.com/office/drawing/2014/main" id="{BAAB53B2-C846-3529-8B27-DE30C79B28D3}"/>
                </a:ext>
              </a:extLst>
            </p:cNvPr>
            <p:cNvSpPr txBox="1"/>
            <p:nvPr/>
          </p:nvSpPr>
          <p:spPr>
            <a:xfrm>
              <a:off x="1633728" y="5193792"/>
              <a:ext cx="36088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검색 후보 다수 도메인에 RRF×1.15 소프트 가중</a:t>
              </a:r>
              <a:endParaRPr lang="en-US" sz="1050" dirty="0"/>
            </a:p>
          </p:txBody>
        </p:sp>
        <p:sp>
          <p:nvSpPr>
            <p:cNvPr id="155" name="Text 33">
              <a:extLst>
                <a:ext uri="{FF2B5EF4-FFF2-40B4-BE49-F238E27FC236}">
                  <a16:creationId xmlns:a16="http://schemas.microsoft.com/office/drawing/2014/main" id="{9A32A799-2DAD-6A87-A926-6C033065DFC0}"/>
                </a:ext>
              </a:extLst>
            </p:cNvPr>
            <p:cNvSpPr txBox="1"/>
            <p:nvPr/>
          </p:nvSpPr>
          <p:spPr>
            <a:xfrm>
              <a:off x="999744" y="5486400"/>
              <a:ext cx="48768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16A3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↓</a:t>
              </a:r>
              <a:endParaRPr lang="en-US" sz="1200" dirty="0"/>
            </a:p>
          </p:txBody>
        </p:sp>
        <p:sp>
          <p:nvSpPr>
            <p:cNvPr id="157" name="Shape 34">
              <a:extLst>
                <a:ext uri="{FF2B5EF4-FFF2-40B4-BE49-F238E27FC236}">
                  <a16:creationId xmlns:a16="http://schemas.microsoft.com/office/drawing/2014/main" id="{0C851784-7B9A-A461-C9D1-9C6DAE8F7C9A}"/>
                </a:ext>
              </a:extLst>
            </p:cNvPr>
            <p:cNvSpPr/>
            <p:nvPr/>
          </p:nvSpPr>
          <p:spPr>
            <a:xfrm>
              <a:off x="853440" y="5608320"/>
              <a:ext cx="4632960" cy="707136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5240">
              <a:solidFill>
                <a:srgbClr val="1C2B4A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59" name="Shape 35">
              <a:extLst>
                <a:ext uri="{FF2B5EF4-FFF2-40B4-BE49-F238E27FC236}">
                  <a16:creationId xmlns:a16="http://schemas.microsoft.com/office/drawing/2014/main" id="{20772734-3D02-27F5-87F9-995FE5877CE3}"/>
                </a:ext>
              </a:extLst>
            </p:cNvPr>
            <p:cNvSpPr/>
            <p:nvPr/>
          </p:nvSpPr>
          <p:spPr>
            <a:xfrm>
              <a:off x="999744" y="5705856"/>
              <a:ext cx="487680" cy="487680"/>
            </a:xfrm>
            <a:prstGeom prst="roundRect">
              <a:avLst>
                <a:gd name="adj" fmla="val 50000"/>
              </a:avLst>
            </a:prstGeom>
            <a:solidFill>
              <a:srgbClr val="1C2B4A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61" name="Text 36">
              <a:extLst>
                <a:ext uri="{FF2B5EF4-FFF2-40B4-BE49-F238E27FC236}">
                  <a16:creationId xmlns:a16="http://schemas.microsoft.com/office/drawing/2014/main" id="{4FFF51D4-D3BF-AA15-9B48-5AF554B180BE}"/>
                </a:ext>
              </a:extLst>
            </p:cNvPr>
            <p:cNvSpPr txBox="1"/>
            <p:nvPr/>
          </p:nvSpPr>
          <p:spPr>
            <a:xfrm>
              <a:off x="999744" y="5705856"/>
              <a:ext cx="4876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6</a:t>
              </a:r>
              <a:endParaRPr lang="en-US" sz="1200" dirty="0"/>
            </a:p>
          </p:txBody>
        </p:sp>
        <p:sp>
          <p:nvSpPr>
            <p:cNvPr id="163" name="Text 37">
              <a:extLst>
                <a:ext uri="{FF2B5EF4-FFF2-40B4-BE49-F238E27FC236}">
                  <a16:creationId xmlns:a16="http://schemas.microsoft.com/office/drawing/2014/main" id="{7029A295-BDBA-9F31-E8A6-B2D6647516AC}"/>
                </a:ext>
              </a:extLst>
            </p:cNvPr>
            <p:cNvSpPr txBox="1"/>
            <p:nvPr/>
          </p:nvSpPr>
          <p:spPr>
            <a:xfrm>
              <a:off x="1633728" y="5730240"/>
              <a:ext cx="36088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근거 인용 답변 생성</a:t>
              </a:r>
              <a:endParaRPr lang="en-US" sz="1200" dirty="0"/>
            </a:p>
          </p:txBody>
        </p:sp>
        <p:sp>
          <p:nvSpPr>
            <p:cNvPr id="165" name="Text 38">
              <a:extLst>
                <a:ext uri="{FF2B5EF4-FFF2-40B4-BE49-F238E27FC236}">
                  <a16:creationId xmlns:a16="http://schemas.microsoft.com/office/drawing/2014/main" id="{49C9E373-2781-D990-42B8-E10EF617FC8A}"/>
                </a:ext>
              </a:extLst>
            </p:cNvPr>
            <p:cNvSpPr txBox="1"/>
            <p:nvPr/>
          </p:nvSpPr>
          <p:spPr>
            <a:xfrm>
              <a:off x="1633728" y="6022848"/>
              <a:ext cx="36088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출처 명시, 근거 없으면 모른다고 답변</a:t>
              </a:r>
              <a:endParaRPr lang="en-US" sz="1050" dirty="0"/>
            </a:p>
          </p:txBody>
        </p:sp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9CD286BC-5A34-14B2-38B1-929C196FCE6C}"/>
              </a:ext>
            </a:extLst>
          </p:cNvPr>
          <p:cNvGrpSpPr/>
          <p:nvPr/>
        </p:nvGrpSpPr>
        <p:grpSpPr>
          <a:xfrm>
            <a:off x="5899421" y="1495922"/>
            <a:ext cx="5312451" cy="4594309"/>
            <a:chOff x="5510784" y="1560576"/>
            <a:chExt cx="6217920" cy="5608320"/>
          </a:xfrm>
        </p:grpSpPr>
        <p:sp>
          <p:nvSpPr>
            <p:cNvPr id="168" name="Text 39">
              <a:extLst>
                <a:ext uri="{FF2B5EF4-FFF2-40B4-BE49-F238E27FC236}">
                  <a16:creationId xmlns:a16="http://schemas.microsoft.com/office/drawing/2014/main" id="{7218E6C5-5361-D51D-064E-B8121A8FF4C1}"/>
                </a:ext>
              </a:extLst>
            </p:cNvPr>
            <p:cNvSpPr txBox="1"/>
            <p:nvPr/>
          </p:nvSpPr>
          <p:spPr>
            <a:xfrm>
              <a:off x="5510784" y="1560576"/>
              <a:ext cx="6217920" cy="316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'부산 인구' 질의 — 단계별 정확도 개선</a:t>
              </a:r>
              <a:endParaRPr lang="en-US" sz="1333" dirty="0"/>
            </a:p>
          </p:txBody>
        </p:sp>
        <p:sp>
          <p:nvSpPr>
            <p:cNvPr id="170" name="Shape 40">
              <a:extLst>
                <a:ext uri="{FF2B5EF4-FFF2-40B4-BE49-F238E27FC236}">
                  <a16:creationId xmlns:a16="http://schemas.microsoft.com/office/drawing/2014/main" id="{B3AE44E9-617A-BB6B-9486-6BDCC8F2C8B9}"/>
                </a:ext>
              </a:extLst>
            </p:cNvPr>
            <p:cNvSpPr/>
            <p:nvPr/>
          </p:nvSpPr>
          <p:spPr>
            <a:xfrm>
              <a:off x="5510784" y="1950720"/>
              <a:ext cx="6217920" cy="829056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72" name="Shape 41">
              <a:extLst>
                <a:ext uri="{FF2B5EF4-FFF2-40B4-BE49-F238E27FC236}">
                  <a16:creationId xmlns:a16="http://schemas.microsoft.com/office/drawing/2014/main" id="{C48D6A6F-2643-67DE-B325-5EB4C3B6F007}"/>
                </a:ext>
              </a:extLst>
            </p:cNvPr>
            <p:cNvSpPr/>
            <p:nvPr/>
          </p:nvSpPr>
          <p:spPr>
            <a:xfrm>
              <a:off x="5632704" y="2048256"/>
              <a:ext cx="1024128" cy="268224"/>
            </a:xfrm>
            <a:prstGeom prst="roundRect">
              <a:avLst>
                <a:gd name="adj" fmla="val 45455"/>
              </a:avLst>
            </a:prstGeom>
            <a:solidFill>
              <a:srgbClr val="4A7CC7"/>
            </a:solidFill>
            <a:ln/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74" name="Text 42">
              <a:extLst>
                <a:ext uri="{FF2B5EF4-FFF2-40B4-BE49-F238E27FC236}">
                  <a16:creationId xmlns:a16="http://schemas.microsoft.com/office/drawing/2014/main" id="{68206752-EEC9-C627-D66E-368CFA417272}"/>
                </a:ext>
              </a:extLst>
            </p:cNvPr>
            <p:cNvSpPr txBox="1"/>
            <p:nvPr/>
          </p:nvSpPr>
          <p:spPr>
            <a:xfrm>
              <a:off x="5632704" y="2048256"/>
              <a:ext cx="1024127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altLang="ko-KR" sz="867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1단계</a:t>
              </a:r>
              <a:r>
                <a:rPr lang="en-US" altLang="ko-KR" sz="867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endParaRPr lang="en-US" altLang="ko-KR" sz="867" dirty="0"/>
            </a:p>
          </p:txBody>
        </p:sp>
        <p:sp>
          <p:nvSpPr>
            <p:cNvPr id="176" name="Text 43">
              <a:extLst>
                <a:ext uri="{FF2B5EF4-FFF2-40B4-BE49-F238E27FC236}">
                  <a16:creationId xmlns:a16="http://schemas.microsoft.com/office/drawing/2014/main" id="{FE4C9DBA-C6E7-B73A-B70C-A764685A0B46}"/>
                </a:ext>
              </a:extLst>
            </p:cNvPr>
            <p:cNvSpPr txBox="1"/>
            <p:nvPr/>
          </p:nvSpPr>
          <p:spPr>
            <a:xfrm>
              <a:off x="6778752" y="2048256"/>
              <a:ext cx="3413760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67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임베딩 단독</a:t>
              </a:r>
              <a:endParaRPr lang="en-US" sz="1267" dirty="0"/>
            </a:p>
          </p:txBody>
        </p:sp>
        <p:sp>
          <p:nvSpPr>
            <p:cNvPr id="178" name="Text 44">
              <a:extLst>
                <a:ext uri="{FF2B5EF4-FFF2-40B4-BE49-F238E27FC236}">
                  <a16:creationId xmlns:a16="http://schemas.microsoft.com/office/drawing/2014/main" id="{7CA07CB8-EE0C-26BF-4EF5-867751DCA5A5}"/>
                </a:ext>
              </a:extLst>
            </p:cNvPr>
            <p:cNvSpPr txBox="1"/>
            <p:nvPr/>
          </p:nvSpPr>
          <p:spPr>
            <a:xfrm>
              <a:off x="5632704" y="2365248"/>
              <a:ext cx="5974080" cy="341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1/4 정확 — 무관 경제자료가 상위 랭크(88번)</a:t>
              </a:r>
              <a:endParaRPr lang="en-US" sz="900" dirty="0"/>
            </a:p>
            <a:p>
              <a:r>
                <a:rPr 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endParaRPr lang="en-US" sz="900" dirty="0"/>
            </a:p>
          </p:txBody>
        </p:sp>
        <p:sp>
          <p:nvSpPr>
            <p:cNvPr id="180" name="Shape 45">
              <a:extLst>
                <a:ext uri="{FF2B5EF4-FFF2-40B4-BE49-F238E27FC236}">
                  <a16:creationId xmlns:a16="http://schemas.microsoft.com/office/drawing/2014/main" id="{10DD6BF6-1230-DA62-75CA-F6A82F0B6881}"/>
                </a:ext>
              </a:extLst>
            </p:cNvPr>
            <p:cNvSpPr/>
            <p:nvPr/>
          </p:nvSpPr>
          <p:spPr>
            <a:xfrm>
              <a:off x="5510784" y="2901696"/>
              <a:ext cx="6217920" cy="829056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82" name="Shape 46">
              <a:extLst>
                <a:ext uri="{FF2B5EF4-FFF2-40B4-BE49-F238E27FC236}">
                  <a16:creationId xmlns:a16="http://schemas.microsoft.com/office/drawing/2014/main" id="{8D0B819D-23D1-E02C-A2DD-A0CDF8C64205}"/>
                </a:ext>
              </a:extLst>
            </p:cNvPr>
            <p:cNvSpPr/>
            <p:nvPr/>
          </p:nvSpPr>
          <p:spPr>
            <a:xfrm>
              <a:off x="5632704" y="2999232"/>
              <a:ext cx="1024128" cy="268224"/>
            </a:xfrm>
            <a:prstGeom prst="roundRect">
              <a:avLst>
                <a:gd name="adj" fmla="val 45455"/>
              </a:avLst>
            </a:prstGeom>
            <a:solidFill>
              <a:srgbClr val="4A7CC7"/>
            </a:solidFill>
            <a:ln/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84" name="Text 47">
              <a:extLst>
                <a:ext uri="{FF2B5EF4-FFF2-40B4-BE49-F238E27FC236}">
                  <a16:creationId xmlns:a16="http://schemas.microsoft.com/office/drawing/2014/main" id="{E1B89EBB-B09C-D282-50AC-A40CF9E5FCE9}"/>
                </a:ext>
              </a:extLst>
            </p:cNvPr>
            <p:cNvSpPr txBox="1"/>
            <p:nvPr/>
          </p:nvSpPr>
          <p:spPr>
            <a:xfrm>
              <a:off x="5632704" y="2999232"/>
              <a:ext cx="1024127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algn="ctr">
                <a:defRPr sz="867" b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defRPr>
              </a:lvl1pPr>
            </a:lstStyle>
            <a:p>
              <a:r>
                <a:rPr lang="en-US" dirty="0" err="1"/>
                <a:t>2단계</a:t>
              </a:r>
              <a:r>
                <a:rPr lang="en-US" dirty="0"/>
                <a:t/>
              </a:r>
            </a:p>
          </p:txBody>
        </p:sp>
        <p:sp>
          <p:nvSpPr>
            <p:cNvPr id="186" name="Text 48">
              <a:extLst>
                <a:ext uri="{FF2B5EF4-FFF2-40B4-BE49-F238E27FC236}">
                  <a16:creationId xmlns:a16="http://schemas.microsoft.com/office/drawing/2014/main" id="{6388DC09-6685-1DC0-02B8-8A788E34BE08}"/>
                </a:ext>
              </a:extLst>
            </p:cNvPr>
            <p:cNvSpPr txBox="1"/>
            <p:nvPr/>
          </p:nvSpPr>
          <p:spPr>
            <a:xfrm>
              <a:off x="6778752" y="2999232"/>
              <a:ext cx="3413760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67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+ BM25 하이브리드</a:t>
              </a:r>
              <a:endParaRPr lang="en-US" sz="1267" dirty="0"/>
            </a:p>
          </p:txBody>
        </p:sp>
        <p:sp>
          <p:nvSpPr>
            <p:cNvPr id="188" name="Text 49">
              <a:extLst>
                <a:ext uri="{FF2B5EF4-FFF2-40B4-BE49-F238E27FC236}">
                  <a16:creationId xmlns:a16="http://schemas.microsoft.com/office/drawing/2014/main" id="{A158A18B-8847-9D0C-DBB4-CC2E7FBC13B4}"/>
                </a:ext>
              </a:extLst>
            </p:cNvPr>
            <p:cNvSpPr txBox="1"/>
            <p:nvPr/>
          </p:nvSpPr>
          <p:spPr>
            <a:xfrm>
              <a:off x="5632704" y="3316224"/>
              <a:ext cx="5974080" cy="341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RRF 결합 → 3/4 정확(완전 해결은 아님, 89번)</a:t>
              </a:r>
              <a:endParaRPr lang="en-US" sz="900" dirty="0"/>
            </a:p>
            <a:p>
              <a:r>
                <a:rPr 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endParaRPr lang="en-US" sz="900" dirty="0"/>
            </a:p>
          </p:txBody>
        </p:sp>
        <p:sp>
          <p:nvSpPr>
            <p:cNvPr id="190" name="Shape 50">
              <a:extLst>
                <a:ext uri="{FF2B5EF4-FFF2-40B4-BE49-F238E27FC236}">
                  <a16:creationId xmlns:a16="http://schemas.microsoft.com/office/drawing/2014/main" id="{4FA60BD3-6DDF-C334-73EA-118D4ED0BB08}"/>
                </a:ext>
              </a:extLst>
            </p:cNvPr>
            <p:cNvSpPr/>
            <p:nvPr/>
          </p:nvSpPr>
          <p:spPr>
            <a:xfrm>
              <a:off x="5510784" y="3852672"/>
              <a:ext cx="6217920" cy="829056"/>
            </a:xfrm>
            <a:prstGeom prst="roundRect">
              <a:avLst>
                <a:gd name="adj" fmla="val 14706"/>
              </a:avLst>
            </a:prstGeom>
            <a:solidFill>
              <a:schemeClr val="bg1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92" name="Shape 51">
              <a:extLst>
                <a:ext uri="{FF2B5EF4-FFF2-40B4-BE49-F238E27FC236}">
                  <a16:creationId xmlns:a16="http://schemas.microsoft.com/office/drawing/2014/main" id="{828A16D5-EF89-FA5F-828C-6C5CF473E170}"/>
                </a:ext>
              </a:extLst>
            </p:cNvPr>
            <p:cNvSpPr/>
            <p:nvPr/>
          </p:nvSpPr>
          <p:spPr>
            <a:xfrm>
              <a:off x="5632704" y="3950208"/>
              <a:ext cx="1024128" cy="268224"/>
            </a:xfrm>
            <a:prstGeom prst="roundRect">
              <a:avLst>
                <a:gd name="adj" fmla="val 45455"/>
              </a:avLst>
            </a:prstGeom>
            <a:solidFill>
              <a:srgbClr val="4A7CC7"/>
            </a:solidFill>
            <a:ln/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94" name="Text 52">
              <a:extLst>
                <a:ext uri="{FF2B5EF4-FFF2-40B4-BE49-F238E27FC236}">
                  <a16:creationId xmlns:a16="http://schemas.microsoft.com/office/drawing/2014/main" id="{8F39FDAC-DEBB-4BFC-1393-D0DDCF35D127}"/>
                </a:ext>
              </a:extLst>
            </p:cNvPr>
            <p:cNvSpPr txBox="1"/>
            <p:nvPr/>
          </p:nvSpPr>
          <p:spPr>
            <a:xfrm>
              <a:off x="5632704" y="3950208"/>
              <a:ext cx="1024127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67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3단계</a:t>
              </a:r>
              <a:endParaRPr lang="en-US" sz="867" dirty="0"/>
            </a:p>
          </p:txBody>
        </p:sp>
        <p:sp>
          <p:nvSpPr>
            <p:cNvPr id="196" name="Text 53">
              <a:extLst>
                <a:ext uri="{FF2B5EF4-FFF2-40B4-BE49-F238E27FC236}">
                  <a16:creationId xmlns:a16="http://schemas.microsoft.com/office/drawing/2014/main" id="{46030AB0-37DA-20A4-AD94-063790BECFB4}"/>
                </a:ext>
              </a:extLst>
            </p:cNvPr>
            <p:cNvSpPr txBox="1"/>
            <p:nvPr/>
          </p:nvSpPr>
          <p:spPr>
            <a:xfrm>
              <a:off x="6778752" y="3950208"/>
              <a:ext cx="3413760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67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+ 내용어 필터링</a:t>
              </a:r>
              <a:endParaRPr lang="en-US" sz="1267" dirty="0"/>
            </a:p>
          </p:txBody>
        </p:sp>
        <p:sp>
          <p:nvSpPr>
            <p:cNvPr id="198" name="Text 54">
              <a:extLst>
                <a:ext uri="{FF2B5EF4-FFF2-40B4-BE49-F238E27FC236}">
                  <a16:creationId xmlns:a16="http://schemas.microsoft.com/office/drawing/2014/main" id="{E12E0CA3-40B4-BD6C-6628-D67F1E416110}"/>
                </a:ext>
              </a:extLst>
            </p:cNvPr>
            <p:cNvSpPr txBox="1"/>
            <p:nvPr/>
          </p:nvSpPr>
          <p:spPr>
            <a:xfrm>
              <a:off x="5632704" y="4267200"/>
              <a:ext cx="5974080" cy="341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900" dirty="0" err="1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조사·어미 제거 후 BM25 재계산(품사 태그 기반, 90번)</a:t>
              </a:r>
              <a:r>
                <a:rPr lang="en-US" altLang="ko-KR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</a:p>
            <a:p>
              <a:r>
                <a:rPr lang="en-US" altLang="ko-KR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r>
                <a:rPr lang="en-US" altLang="ko-KR" sz="900" dirty="0" err="1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endParaRPr lang="en-US" altLang="ko-KR" sz="900" dirty="0"/>
            </a:p>
          </p:txBody>
        </p:sp>
        <p:sp>
          <p:nvSpPr>
            <p:cNvPr id="200" name="Shape 55">
              <a:extLst>
                <a:ext uri="{FF2B5EF4-FFF2-40B4-BE49-F238E27FC236}">
                  <a16:creationId xmlns:a16="http://schemas.microsoft.com/office/drawing/2014/main" id="{95CD1C28-F2E9-E0F6-B1B7-E912E383BAF4}"/>
                </a:ext>
              </a:extLst>
            </p:cNvPr>
            <p:cNvSpPr/>
            <p:nvPr/>
          </p:nvSpPr>
          <p:spPr>
            <a:xfrm>
              <a:off x="5510784" y="4803648"/>
              <a:ext cx="6217920" cy="829056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02" name="Shape 56">
              <a:extLst>
                <a:ext uri="{FF2B5EF4-FFF2-40B4-BE49-F238E27FC236}">
                  <a16:creationId xmlns:a16="http://schemas.microsoft.com/office/drawing/2014/main" id="{13F052DF-F81E-ABBC-664D-B479536D7F55}"/>
                </a:ext>
              </a:extLst>
            </p:cNvPr>
            <p:cNvSpPr/>
            <p:nvPr/>
          </p:nvSpPr>
          <p:spPr>
            <a:xfrm>
              <a:off x="5632704" y="4901184"/>
              <a:ext cx="1024128" cy="268224"/>
            </a:xfrm>
            <a:prstGeom prst="roundRect">
              <a:avLst>
                <a:gd name="adj" fmla="val 45455"/>
              </a:avLst>
            </a:prstGeom>
            <a:solidFill>
              <a:srgbClr val="16A34A"/>
            </a:solidFill>
            <a:ln/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04" name="Text 57">
              <a:extLst>
                <a:ext uri="{FF2B5EF4-FFF2-40B4-BE49-F238E27FC236}">
                  <a16:creationId xmlns:a16="http://schemas.microsoft.com/office/drawing/2014/main" id="{B12E131A-117B-5DEA-F87B-5FEF31CFAF7B}"/>
                </a:ext>
              </a:extLst>
            </p:cNvPr>
            <p:cNvSpPr txBox="1"/>
            <p:nvPr/>
          </p:nvSpPr>
          <p:spPr>
            <a:xfrm>
              <a:off x="5632704" y="4901184"/>
              <a:ext cx="1024128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67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4단계</a:t>
              </a:r>
              <a:endParaRPr lang="en-US" sz="867" dirty="0"/>
            </a:p>
          </p:txBody>
        </p:sp>
        <p:sp>
          <p:nvSpPr>
            <p:cNvPr id="206" name="Text 58">
              <a:extLst>
                <a:ext uri="{FF2B5EF4-FFF2-40B4-BE49-F238E27FC236}">
                  <a16:creationId xmlns:a16="http://schemas.microsoft.com/office/drawing/2014/main" id="{E0E55926-3084-3252-6E43-B2F5496A5105}"/>
                </a:ext>
              </a:extLst>
            </p:cNvPr>
            <p:cNvSpPr txBox="1"/>
            <p:nvPr/>
          </p:nvSpPr>
          <p:spPr>
            <a:xfrm>
              <a:off x="6778752" y="4901184"/>
              <a:ext cx="3413760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67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+ sub_domain 다수결 보정</a:t>
              </a:r>
              <a:endParaRPr lang="en-US" sz="1267" dirty="0"/>
            </a:p>
          </p:txBody>
        </p:sp>
        <p:sp>
          <p:nvSpPr>
            <p:cNvPr id="208" name="Text 59">
              <a:extLst>
                <a:ext uri="{FF2B5EF4-FFF2-40B4-BE49-F238E27FC236}">
                  <a16:creationId xmlns:a16="http://schemas.microsoft.com/office/drawing/2014/main" id="{6B03D6D9-C28E-6364-5B39-C36EA54B805E}"/>
                </a:ext>
              </a:extLst>
            </p:cNvPr>
            <p:cNvSpPr txBox="1"/>
            <p:nvPr/>
          </p:nvSpPr>
          <p:spPr>
            <a:xfrm>
              <a:off x="5632704" y="5218176"/>
              <a:ext cx="5974080" cy="341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RRF×1.15 소프트 가중 → 4/4 정확 달성(90번)</a:t>
              </a:r>
              <a:endParaRPr lang="en-US" sz="900" dirty="0"/>
            </a:p>
            <a:p>
              <a:r>
                <a:rPr 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endParaRPr lang="en-US" sz="900" dirty="0"/>
            </a:p>
          </p:txBody>
        </p:sp>
        <p:sp>
          <p:nvSpPr>
            <p:cNvPr id="210" name="Shape 60">
              <a:extLst>
                <a:ext uri="{FF2B5EF4-FFF2-40B4-BE49-F238E27FC236}">
                  <a16:creationId xmlns:a16="http://schemas.microsoft.com/office/drawing/2014/main" id="{B10B4E6B-4A1E-506F-BDAA-12D776CB146E}"/>
                </a:ext>
              </a:extLst>
            </p:cNvPr>
            <p:cNvSpPr/>
            <p:nvPr/>
          </p:nvSpPr>
          <p:spPr>
            <a:xfrm>
              <a:off x="5510784" y="5754624"/>
              <a:ext cx="6217920" cy="829056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12" name="Shape 61">
              <a:extLst>
                <a:ext uri="{FF2B5EF4-FFF2-40B4-BE49-F238E27FC236}">
                  <a16:creationId xmlns:a16="http://schemas.microsoft.com/office/drawing/2014/main" id="{100093DA-4F61-2DCF-A951-6A2DEB3C55A0}"/>
                </a:ext>
              </a:extLst>
            </p:cNvPr>
            <p:cNvSpPr/>
            <p:nvPr/>
          </p:nvSpPr>
          <p:spPr>
            <a:xfrm>
              <a:off x="5632704" y="5852160"/>
              <a:ext cx="1024128" cy="268224"/>
            </a:xfrm>
            <a:prstGeom prst="roundRect">
              <a:avLst>
                <a:gd name="adj" fmla="val 45455"/>
              </a:avLst>
            </a:prstGeom>
            <a:solidFill>
              <a:srgbClr val="CA8A04"/>
            </a:solidFill>
            <a:ln/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14" name="Text 62">
              <a:extLst>
                <a:ext uri="{FF2B5EF4-FFF2-40B4-BE49-F238E27FC236}">
                  <a16:creationId xmlns:a16="http://schemas.microsoft.com/office/drawing/2014/main" id="{2E1391E6-EF02-BB20-C312-C23592B4D972}"/>
                </a:ext>
              </a:extLst>
            </p:cNvPr>
            <p:cNvSpPr txBox="1"/>
            <p:nvPr/>
          </p:nvSpPr>
          <p:spPr>
            <a:xfrm>
              <a:off x="5632704" y="5852160"/>
              <a:ext cx="1024128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67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검증됨</a:t>
              </a:r>
              <a:endParaRPr lang="en-US" sz="867" dirty="0"/>
            </a:p>
          </p:txBody>
        </p:sp>
        <p:sp>
          <p:nvSpPr>
            <p:cNvPr id="216" name="Text 63">
              <a:extLst>
                <a:ext uri="{FF2B5EF4-FFF2-40B4-BE49-F238E27FC236}">
                  <a16:creationId xmlns:a16="http://schemas.microsoft.com/office/drawing/2014/main" id="{19B72DC2-2A02-71EC-DC73-E9A7903CBD87}"/>
                </a:ext>
              </a:extLst>
            </p:cNvPr>
            <p:cNvSpPr txBox="1"/>
            <p:nvPr/>
          </p:nvSpPr>
          <p:spPr>
            <a:xfrm>
              <a:off x="6778752" y="5852160"/>
              <a:ext cx="3413760" cy="2682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67" b="1" dirty="0">
                  <a:solidFill>
                    <a:srgbClr val="1C2B4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SIGSEGV 수정 후 재검증</a:t>
              </a:r>
              <a:endParaRPr lang="en-US" sz="1267" dirty="0"/>
            </a:p>
          </p:txBody>
        </p:sp>
        <p:sp>
          <p:nvSpPr>
            <p:cNvPr id="218" name="Text 64">
              <a:extLst>
                <a:ext uri="{FF2B5EF4-FFF2-40B4-BE49-F238E27FC236}">
                  <a16:creationId xmlns:a16="http://schemas.microsoft.com/office/drawing/2014/main" id="{F1EEA502-E4F7-048B-3D8A-5C1B681A84D9}"/>
                </a:ext>
              </a:extLst>
            </p:cNvPr>
            <p:cNvSpPr txBox="1"/>
            <p:nvPr/>
          </p:nvSpPr>
          <p:spPr>
            <a:xfrm>
              <a:off x="5632704" y="6169152"/>
              <a:ext cx="5974080" cy="341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같은 질문 6회 연속(3분+ 중첩) 요청, 크래시 0건(89번)</a:t>
              </a:r>
              <a:endParaRPr lang="en-US" sz="900" dirty="0"/>
            </a:p>
            <a:p>
              <a:r>
                <a:rPr 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/>
              </a:r>
              <a:endParaRPr lang="en-US" sz="900" dirty="0"/>
            </a:p>
          </p:txBody>
        </p:sp>
        <p:sp>
          <p:nvSpPr>
            <p:cNvPr id="220" name="Shape 65">
              <a:extLst>
                <a:ext uri="{FF2B5EF4-FFF2-40B4-BE49-F238E27FC236}">
                  <a16:creationId xmlns:a16="http://schemas.microsoft.com/office/drawing/2014/main" id="{217C74C9-FCDC-786A-92EE-37C7CA2E5AD4}"/>
                </a:ext>
              </a:extLst>
            </p:cNvPr>
            <p:cNvSpPr/>
            <p:nvPr/>
          </p:nvSpPr>
          <p:spPr>
            <a:xfrm>
              <a:off x="5510784" y="6729984"/>
              <a:ext cx="6217920" cy="438912"/>
            </a:xfrm>
            <a:prstGeom prst="roundRect">
              <a:avLst>
                <a:gd name="adj" fmla="val 27778"/>
              </a:avLst>
            </a:prstGeom>
            <a:solidFill>
              <a:srgbClr val="1C2B4A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22" name="Text 66">
              <a:extLst>
                <a:ext uri="{FF2B5EF4-FFF2-40B4-BE49-F238E27FC236}">
                  <a16:creationId xmlns:a16="http://schemas.microsoft.com/office/drawing/2014/main" id="{2B60314F-B81F-AD19-DD23-A5AF014C455A}"/>
                </a:ext>
              </a:extLst>
            </p:cNvPr>
            <p:cNvSpPr txBox="1"/>
            <p:nvPr/>
          </p:nvSpPr>
          <p:spPr>
            <a:xfrm>
              <a:off x="5657088" y="6793635"/>
              <a:ext cx="592531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★ 검색 품질도 퀴즈 정답 검증도 — 소형 LLM의 자기 판단을 프롬프트가 아니라 코드로 검증한다(88·퀴즈 그라운딩 공통 원칙)</a:t>
              </a:r>
              <a:endParaRPr lang="en-US" sz="1133" dirty="0"/>
            </a:p>
          </p:txBody>
        </p:sp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D2117EC0-5812-77E1-0AB1-1CC602DAE02F}"/>
              </a:ext>
            </a:extLst>
          </p:cNvPr>
          <p:cNvGrpSpPr/>
          <p:nvPr/>
        </p:nvGrpSpPr>
        <p:grpSpPr>
          <a:xfrm>
            <a:off x="9836265" y="353790"/>
            <a:ext cx="2140317" cy="295434"/>
            <a:chOff x="8336310" y="1122320"/>
            <a:chExt cx="2140317" cy="295434"/>
          </a:xfrm>
        </p:grpSpPr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1A5E5D82-88C7-DFCE-AD33-4C4D6165C12A}"/>
                </a:ext>
              </a:extLst>
            </p:cNvPr>
            <p:cNvSpPr txBox="1"/>
            <p:nvPr/>
          </p:nvSpPr>
          <p:spPr>
            <a:xfrm>
              <a:off x="10074613" y="1130489"/>
              <a:ext cx="402014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Ⅳ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D2CD7F1E-3DAB-30DF-6142-7B27B6050CE7}"/>
                </a:ext>
              </a:extLst>
            </p:cNvPr>
            <p:cNvGrpSpPr/>
            <p:nvPr/>
          </p:nvGrpSpPr>
          <p:grpSpPr>
            <a:xfrm>
              <a:off x="9128979" y="1140755"/>
              <a:ext cx="954926" cy="276999"/>
              <a:chOff x="9975479" y="1218128"/>
              <a:chExt cx="954926" cy="276999"/>
            </a:xfrm>
          </p:grpSpPr>
          <p:sp>
            <p:nvSpPr>
              <p:cNvPr id="241" name="사각형: 잘린 한쪽 모서리 240">
                <a:extLst>
                  <a:ext uri="{FF2B5EF4-FFF2-40B4-BE49-F238E27FC236}">
                    <a16:creationId xmlns:a16="http://schemas.microsoft.com/office/drawing/2014/main" id="{171F6719-EBB6-3273-1D46-07E170F11D50}"/>
                  </a:ext>
                </a:extLst>
              </p:cNvPr>
              <p:cNvSpPr/>
              <p:nvPr/>
            </p:nvSpPr>
            <p:spPr>
              <a:xfrm rot="10800000">
                <a:off x="9986500" y="1218128"/>
                <a:ext cx="893082" cy="266733"/>
              </a:xfrm>
              <a:prstGeom prst="snip1Rect">
                <a:avLst>
                  <a:gd name="adj" fmla="val 46697"/>
                </a:avLst>
              </a:prstGeom>
              <a:solidFill>
                <a:srgbClr val="1A2332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89FA79D0-1FAA-B835-7F9C-3C0A3248A985}"/>
                  </a:ext>
                </a:extLst>
              </p:cNvPr>
              <p:cNvSpPr txBox="1"/>
              <p:nvPr/>
            </p:nvSpPr>
            <p:spPr>
              <a:xfrm>
                <a:off x="9975479" y="1218128"/>
                <a:ext cx="9549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함초롬바탕" panose="02030604000101010101" pitchFamily="18" charset="-127"/>
                  </a:rPr>
                  <a:t>Ⅲ 아키텍처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/>
                </a:r>
              </a:p>
            </p:txBody>
          </p:sp>
        </p:grp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410ABB9-215E-2833-1C90-C11850522316}"/>
                </a:ext>
              </a:extLst>
            </p:cNvPr>
            <p:cNvSpPr txBox="1"/>
            <p:nvPr/>
          </p:nvSpPr>
          <p:spPr>
            <a:xfrm>
              <a:off x="8336310" y="1122320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Ⅰ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A21DEF5D-667F-05DD-EB94-C3D59391CFF7}"/>
                </a:ext>
              </a:extLst>
            </p:cNvPr>
            <p:cNvCxnSpPr>
              <a:cxnSpLocks/>
            </p:cNvCxnSpPr>
            <p:nvPr/>
          </p:nvCxnSpPr>
          <p:spPr>
            <a:xfrm>
              <a:off x="8657475" y="1164599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AC2B8DCC-2A3F-8A72-283A-BDF693115879}"/>
                </a:ext>
              </a:extLst>
            </p:cNvPr>
            <p:cNvSpPr txBox="1"/>
            <p:nvPr/>
          </p:nvSpPr>
          <p:spPr>
            <a:xfrm>
              <a:off x="8723418" y="1126067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Ⅱ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4"/>
          <p:cNvSpPr txBox="1"/>
          <p:nvPr/>
        </p:nvSpPr>
        <p:spPr>
          <a:xfrm>
            <a:off x="463296" y="1793306"/>
            <a:ext cx="3072384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C2B4A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Dashboard Drill-down 5단계</a:t>
            </a:r>
            <a:endParaRPr lang="en-US" sz="1333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3296" y="2159066"/>
            <a:ext cx="2097024" cy="536448"/>
          </a:xfrm>
          <a:prstGeom prst="roundRect">
            <a:avLst>
              <a:gd name="adj" fmla="val 11364"/>
            </a:avLst>
          </a:prstGeom>
          <a:solidFill>
            <a:srgbClr val="1565C1"/>
          </a:solidFill>
          <a:ln/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77688" y="2135915"/>
            <a:ext cx="2011681" cy="597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정상 운영</a:t>
            </a:r>
            <a:endParaRPr lang="en-US" sz="1200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583470" y="2256602"/>
            <a:ext cx="21945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A7CC7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›</a:t>
            </a:r>
            <a:endParaRPr lang="en-US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64499" y="2159066"/>
            <a:ext cx="2097024" cy="536448"/>
          </a:xfrm>
          <a:prstGeom prst="roundRect">
            <a:avLst>
              <a:gd name="adj" fmla="val 11364"/>
            </a:avLst>
          </a:prstGeom>
          <a:solidFill>
            <a:srgbClr val="EEF4FB"/>
          </a:solidFill>
          <a:ln/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764499" y="2159066"/>
            <a:ext cx="209702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C2B4A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RAG 하이브리드 검색 배포</a:t>
            </a:r>
            <a:endParaRPr lang="en-US" sz="12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881843" y="2256602"/>
            <a:ext cx="21945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A7CC7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›</a:t>
            </a:r>
            <a:endParaRPr lang="en-US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97596" y="2159066"/>
            <a:ext cx="2097024" cy="536448"/>
          </a:xfrm>
          <a:prstGeom prst="roundRect">
            <a:avLst>
              <a:gd name="adj" fmla="val 11364"/>
            </a:avLst>
          </a:prstGeom>
          <a:solidFill>
            <a:srgbClr val="EEF4FB"/>
          </a:solidFill>
          <a:ln/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097596" y="2159066"/>
            <a:ext cx="209702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C2B4A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3번째 질의 중 SIGSEGV</a:t>
            </a:r>
            <a:endParaRPr lang="en-US" sz="12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185876" y="2256602"/>
            <a:ext cx="21945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A7CC7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›</a:t>
            </a:r>
            <a:endParaRPr lang="en-US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4928" y="2159066"/>
            <a:ext cx="2097024" cy="536448"/>
          </a:xfrm>
          <a:prstGeom prst="roundRect">
            <a:avLst>
              <a:gd name="adj" fmla="val 11364"/>
            </a:avLst>
          </a:prstGeom>
          <a:solidFill>
            <a:srgbClr val="EEF4FB"/>
          </a:solidFill>
          <a:ln/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424928" y="2159066"/>
            <a:ext cx="209702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C2B4A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원인 규명(락 누락)</a:t>
            </a:r>
            <a:endParaRPr lang="en-US" sz="12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556677" y="2256602"/>
            <a:ext cx="21945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A7CC7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›</a:t>
            </a:r>
            <a:endParaRPr lang="en-US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836265" y="2159066"/>
            <a:ext cx="2097024" cy="536448"/>
          </a:xfrm>
          <a:prstGeom prst="roundRect">
            <a:avLst>
              <a:gd name="adj" fmla="val 11364"/>
            </a:avLst>
          </a:prstGeom>
          <a:solidFill>
            <a:srgbClr val="EEF4FB"/>
          </a:solidFill>
          <a:ln/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836265" y="2159066"/>
            <a:ext cx="209702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C2B4A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_llm_lock 추가 후 검증</a:t>
            </a:r>
            <a:endParaRPr lang="en-US" sz="12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63296" y="3070524"/>
            <a:ext cx="11265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565C1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"systemd Restart=always가 자동 복구했지만, 원인을 모르면 같은 사고가 반복된다"</a:t>
            </a:r>
          </a:p>
        </p:txBody>
      </p:sp>
      <p:sp>
        <p:nvSpPr>
          <p:cNvPr id="22" name="Shape 20"/>
          <p:cNvSpPr/>
          <p:nvPr/>
        </p:nvSpPr>
        <p:spPr>
          <a:xfrm>
            <a:off x="463296" y="3399710"/>
            <a:ext cx="2731008" cy="280906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50800" dir="5400000" sx="98399" sy="98399" algn="ctr" rotWithShape="0">
              <a:schemeClr val="accent1">
                <a:lumMod val="20000"/>
                <a:lumOff val="80000"/>
                <a:alpha val="78000"/>
              </a:schemeClr>
            </a:outerShdw>
          </a:effectLst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3546014"/>
            <a:ext cx="2438400" cy="438912"/>
          </a:xfrm>
          <a:prstGeom prst="roundRect">
            <a:avLst>
              <a:gd name="adj" fmla="val 16667"/>
            </a:avLst>
          </a:prstGeom>
          <a:solidFill>
            <a:srgbClr val="4A7CC7"/>
          </a:solidFill>
          <a:ln/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05902" y="3617932"/>
            <a:ext cx="229209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①  증상</a:t>
            </a:r>
            <a:endParaRPr lang="en-US" sz="1333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33984" y="4106846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mlops-web이 SIGSEGV로 종료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33984" y="4503327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systemd가 즉시 자동 재기동(Restart=always)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33984" y="4935430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사용자 체감은 순간 접속 끊김 수준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33984" y="5367533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3번째 경제 도메인 질의에서 발생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389376" y="3399710"/>
            <a:ext cx="2731008" cy="280906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50800" dir="5400000" sx="98399" sy="98399" algn="ctr" rotWithShape="0">
              <a:schemeClr val="accent1">
                <a:lumMod val="20000"/>
                <a:lumOff val="80000"/>
                <a:alpha val="78000"/>
              </a:schemeClr>
            </a:outerShdw>
          </a:effectLst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535680" y="3546014"/>
            <a:ext cx="2438400" cy="438912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ko-KR" altLang="en-US" sz="3200">
              <a:solidFill>
                <a:srgbClr val="0070C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3631982" y="3617932"/>
            <a:ext cx="229209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②  조사</a:t>
            </a:r>
            <a:endParaRPr lang="en-US" sz="1333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3560064" y="4106846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SSH로 동일 질문 격리 재현 → 재현 안 됨(로직 버그 아님)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3560064" y="4503327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journalctl 크래시 시각이 통합관제 12초 틱 주기와 일치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3560064" y="4935430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edu RAG 'ask'가 같은 in-process Llama 인스턴스 재사용 확인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3560064" y="5367533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통합관제는 이미 _llm_lock 보호, edu RAG만 빠져있었음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15456" y="3399710"/>
            <a:ext cx="2731008" cy="280906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50800" dir="5400000" sx="98399" sy="98399" algn="ctr" rotWithShape="0">
              <a:schemeClr val="accent1">
                <a:lumMod val="20000"/>
                <a:lumOff val="80000"/>
                <a:alpha val="78000"/>
              </a:schemeClr>
            </a:outerShdw>
          </a:effectLst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61760" y="3546014"/>
            <a:ext cx="2438400" cy="438912"/>
          </a:xfrm>
          <a:prstGeom prst="roundRect">
            <a:avLst>
              <a:gd name="adj" fmla="val 16667"/>
            </a:avLst>
          </a:prstGeom>
          <a:solidFill>
            <a:srgbClr val="2A3F6F"/>
          </a:solidFill>
          <a:ln/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558062" y="3617932"/>
            <a:ext cx="229209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③  원인</a:t>
            </a:r>
            <a:endParaRPr lang="en-US" sz="1333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6486144" y="4106846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llama.cpp는 한 컨텍스트의 동시 디코딩을 지원하지 않음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6486144" y="4503327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통합관제 백그라운드 루프와 학생 질문이 락 없이 동시 진입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6486144" y="4935430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edu RAG 'ask' 추가 시 기존 락을 빠뜨림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486144" y="5367533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공유 자원에 새 기능을 연결할 때 기존 보호장치 점검 누락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241536" y="3399710"/>
            <a:ext cx="2731008" cy="280906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50800" dir="5400000" sx="98399" sy="98399" algn="ctr" rotWithShape="0">
              <a:schemeClr val="accent1">
                <a:lumMod val="20000"/>
                <a:lumOff val="80000"/>
                <a:alpha val="78000"/>
              </a:schemeClr>
            </a:outerShdw>
          </a:effectLst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387840" y="3546014"/>
            <a:ext cx="2438400" cy="438912"/>
          </a:xfrm>
          <a:prstGeom prst="roundRect">
            <a:avLst>
              <a:gd name="adj" fmla="val 16667"/>
            </a:avLst>
          </a:prstGeom>
          <a:solidFill>
            <a:srgbClr val="091245"/>
          </a:solidFill>
          <a:ln/>
        </p:spPr>
        <p:txBody>
          <a:bodyPr/>
          <a:lstStyle/>
          <a:p>
            <a:endParaRPr lang="ko-KR" altLang="en-US" sz="32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9484142" y="3617932"/>
            <a:ext cx="229209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④  해결</a:t>
            </a:r>
            <a:endParaRPr lang="en-US" sz="1333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9412224" y="4106846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query_edu.answer() 호출을 with _llm_lock: 으로 감쌈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9412224" y="4503327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새 락을 만들지 않고 기존 패턴 재사용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9412224" y="4935430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2초 간격 6회 연속 요청(3분+ 중첩)으로 검증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9412224" y="5367533"/>
            <a:ext cx="238963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• journalctl에 SIGSEGV·루프 실패 0건 확인</a:t>
            </a:r>
            <a:endParaRPr lang="en-US" sz="1067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4" name="Text 0">
            <a:extLst>
              <a:ext uri="{FF2B5EF4-FFF2-40B4-BE49-F238E27FC236}">
                <a16:creationId xmlns:a16="http://schemas.microsoft.com/office/drawing/2014/main" id="{35405734-C028-CE4D-D280-C5A8099A4D90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b="1" kern="0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4. 프로덕션 장애 사례</a:t>
            </a:r>
            <a:r>
              <a:rPr lang="ko-KR" altLang="en-US" sz="1600" b="1" kern="0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ko-KR" altLang="en-US" sz="1600" b="1" kern="0" dirty="0" err="1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ko-KR" altLang="en-US" sz="1600" b="1" kern="0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</a:p>
        </p:txBody>
      </p:sp>
      <p:sp>
        <p:nvSpPr>
          <p:cNvPr id="55" name="Shape 1">
            <a:extLst>
              <a:ext uri="{FF2B5EF4-FFF2-40B4-BE49-F238E27FC236}">
                <a16:creationId xmlns:a16="http://schemas.microsoft.com/office/drawing/2014/main" id="{83AF3A3D-B1E1-FB3A-EB8E-3D8C403A496D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4CF7840D-D61B-DBB6-6920-21E50954822E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실제 장애 1건 — 원인 규명부터 재발 방지까지</a:t>
            </a:r>
            <a:r>
              <a:rPr lang="en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endParaRPr lang="ko-KR" altLang="en-US" sz="2400" b="1" dirty="0">
              <a:solidFill>
                <a:srgbClr val="0070C0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72597521-F958-F438-854E-F10C71EC231F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900" dirty="0">
                <a:solidFill>
                  <a:srgbClr val="5B6672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14</a:t>
            </a:r>
            <a:endParaRPr lang="en-US" sz="9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0D2C5473-EFB3-BA2B-324E-B3ECE30526A4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cxnSp>
        <p:nvCxnSpPr>
          <p:cNvPr id="71" name="직선 연결선[R] 70">
            <a:extLst>
              <a:ext uri="{FF2B5EF4-FFF2-40B4-BE49-F238E27FC236}">
                <a16:creationId xmlns:a16="http://schemas.microsoft.com/office/drawing/2014/main" id="{817AE433-ED9B-B521-F83A-EFCEEAC824AF}"/>
              </a:ext>
            </a:extLst>
          </p:cNvPr>
          <p:cNvCxnSpPr/>
          <p:nvPr/>
        </p:nvCxnSpPr>
        <p:spPr>
          <a:xfrm>
            <a:off x="548639" y="2902091"/>
            <a:ext cx="1132636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7A7F038E-74FF-302C-353C-758F89F80F51}"/>
              </a:ext>
            </a:extLst>
          </p:cNvPr>
          <p:cNvGrpSpPr/>
          <p:nvPr/>
        </p:nvGrpSpPr>
        <p:grpSpPr>
          <a:xfrm>
            <a:off x="9836265" y="353790"/>
            <a:ext cx="2140317" cy="295434"/>
            <a:chOff x="8336310" y="1122320"/>
            <a:chExt cx="2140317" cy="29543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AD34DA9-6D92-D893-F04D-D99591171A92}"/>
                </a:ext>
              </a:extLst>
            </p:cNvPr>
            <p:cNvSpPr txBox="1"/>
            <p:nvPr/>
          </p:nvSpPr>
          <p:spPr>
            <a:xfrm>
              <a:off x="10074613" y="1130489"/>
              <a:ext cx="402014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Ⅳ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51517F47-5FF5-4953-121A-988C97B96C03}"/>
                </a:ext>
              </a:extLst>
            </p:cNvPr>
            <p:cNvGrpSpPr/>
            <p:nvPr/>
          </p:nvGrpSpPr>
          <p:grpSpPr>
            <a:xfrm>
              <a:off x="9128979" y="1140755"/>
              <a:ext cx="954926" cy="276999"/>
              <a:chOff x="9975479" y="1218128"/>
              <a:chExt cx="954926" cy="276999"/>
            </a:xfrm>
          </p:grpSpPr>
          <p:sp>
            <p:nvSpPr>
              <p:cNvPr id="52" name="사각형: 잘린 한쪽 모서리 51">
                <a:extLst>
                  <a:ext uri="{FF2B5EF4-FFF2-40B4-BE49-F238E27FC236}">
                    <a16:creationId xmlns:a16="http://schemas.microsoft.com/office/drawing/2014/main" id="{3B5FA093-A274-3601-E57B-450B47A7D1DC}"/>
                  </a:ext>
                </a:extLst>
              </p:cNvPr>
              <p:cNvSpPr/>
              <p:nvPr/>
            </p:nvSpPr>
            <p:spPr>
              <a:xfrm rot="10800000">
                <a:off x="9986500" y="1218128"/>
                <a:ext cx="893082" cy="266733"/>
              </a:xfrm>
              <a:prstGeom prst="snip1Rect">
                <a:avLst>
                  <a:gd name="adj" fmla="val 46697"/>
                </a:avLst>
              </a:prstGeom>
              <a:solidFill>
                <a:srgbClr val="1A2332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1FF0CE7-FCF1-8160-7310-12B15CC9501B}"/>
                  </a:ext>
                </a:extLst>
              </p:cNvPr>
              <p:cNvSpPr txBox="1"/>
              <p:nvPr/>
            </p:nvSpPr>
            <p:spPr>
              <a:xfrm>
                <a:off x="9975479" y="1218128"/>
                <a:ext cx="9549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함초롬바탕" panose="02030604000101010101" pitchFamily="18" charset="-127"/>
                  </a:rPr>
                  <a:t>Ⅲ 아키텍처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/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4A2115-D310-7093-92F3-E06137D2ABB9}"/>
                </a:ext>
              </a:extLst>
            </p:cNvPr>
            <p:cNvSpPr txBox="1"/>
            <p:nvPr/>
          </p:nvSpPr>
          <p:spPr>
            <a:xfrm>
              <a:off x="8336310" y="1122320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Ⅰ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B8E2F53B-775C-F794-8E37-4FA1DF64D367}"/>
                </a:ext>
              </a:extLst>
            </p:cNvPr>
            <p:cNvCxnSpPr>
              <a:cxnSpLocks/>
            </p:cNvCxnSpPr>
            <p:nvPr/>
          </p:nvCxnSpPr>
          <p:spPr>
            <a:xfrm>
              <a:off x="8657475" y="1164599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5CCE47F-72C7-979F-8D42-F5E5ECA4FC08}"/>
                </a:ext>
              </a:extLst>
            </p:cNvPr>
            <p:cNvSpPr txBox="1"/>
            <p:nvPr/>
          </p:nvSpPr>
          <p:spPr>
            <a:xfrm>
              <a:off x="8723418" y="1126067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Ⅱ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Shape 6">
            <a:extLst>
              <a:ext uri="{FF2B5EF4-FFF2-40B4-BE49-F238E27FC236}">
                <a16:creationId xmlns:a16="http://schemas.microsoft.com/office/drawing/2014/main" id="{F9609B9C-F020-F284-CF43-A85058999D7F}"/>
              </a:ext>
            </a:extLst>
          </p:cNvPr>
          <p:cNvSpPr/>
          <p:nvPr/>
        </p:nvSpPr>
        <p:spPr>
          <a:xfrm>
            <a:off x="548639" y="1577243"/>
            <a:ext cx="11064240" cy="46329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A9437-19BC-4749-8F1F-11B4FC49D9AA}"/>
              </a:ext>
            </a:extLst>
          </p:cNvPr>
          <p:cNvSpPr txBox="1"/>
          <p:nvPr/>
        </p:nvSpPr>
        <p:spPr>
          <a:xfrm>
            <a:off x="8113394" y="1700972"/>
            <a:ext cx="3209602" cy="2403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메뉴 4개 + 운영 도구 링크 3개 — 한 서버 안에서 전부 연결된다</a:t>
            </a:r>
            <a:r>
              <a:rPr lang="en-US" altLang="ko-KR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D182AA5-9774-B0AA-B950-DB0235EBE9F7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실제 웹 메뉴 구성</a:t>
            </a:r>
            <a:r>
              <a:rPr lang="ko-KR" altLang="en-US" sz="1600" b="1" kern="0" spc="-150" dirty="0" err="1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16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16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16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16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endParaRPr lang="ko-KR" altLang="en-US" sz="1600" b="1" kern="0" spc="-150" dirty="0">
              <a:latin typeface="KoPubWorld돋움체 Bold" pitchFamily="34" charset="0"/>
              <a:ea typeface="KoPubWorld돋움체 Bold" pitchFamily="34" charset="-122"/>
              <a:cs typeface="KoPubWorld돋움체 Bold" pitchFamily="34" charset="-12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ECDAB7-0CF6-016C-19CC-F1790F18C4DE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D6485310-E126-4281-FAA6-F9C52F4CCA14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84B33C46-4846-4E92-DF55-26C74D13EA41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15</a:t>
            </a:r>
            <a:endParaRPr lang="en-US" sz="900" dirty="0"/>
          </a:p>
        </p:txBody>
      </p:sp>
      <p:sp>
        <p:nvSpPr>
          <p:cNvPr id="139" name="Text 2">
            <a:extLst>
              <a:ext uri="{FF2B5EF4-FFF2-40B4-BE49-F238E27FC236}">
                <a16:creationId xmlns:a16="http://schemas.microsoft.com/office/drawing/2014/main" id="{38AD456F-11E4-E77E-C9D9-B49F7F7196AC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0000"/>
              </a:lnSpc>
            </a:pPr>
            <a:r>
              <a:rPr lang="ko-K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산업안전과 AI튜터가 한 화면 안에서 공존한다</a:t>
            </a:r>
            <a:r>
              <a:rPr lang="en-US" altLang="ko-KR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8D0C011-C05B-8748-8BB5-087C89D00B99}"/>
              </a:ext>
            </a:extLst>
          </p:cNvPr>
          <p:cNvSpPr/>
          <p:nvPr/>
        </p:nvSpPr>
        <p:spPr>
          <a:xfrm>
            <a:off x="548639" y="1577243"/>
            <a:ext cx="7132320" cy="46329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6DCAF077-9E8A-48D5-0EF9-A2DBDE1F7BFE}"/>
              </a:ext>
            </a:extLst>
          </p:cNvPr>
          <p:cNvSpPr txBox="1"/>
          <p:nvPr/>
        </p:nvSpPr>
        <p:spPr>
          <a:xfrm>
            <a:off x="670558" y="1650395"/>
            <a:ext cx="3023617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33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웹 메뉴 구성 (FastAPI + Jinja2)</a:t>
            </a:r>
            <a:r>
              <a:rPr lang="en-US" altLang="ko-KR" sz="1333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ko-KR" altLang="en-US" sz="1333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en-US" altLang="ko-KR" sz="1333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ko-KR" altLang="en-US" sz="1333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en-US" altLang="ko-KR" sz="1333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</a:p>
        </p:txBody>
      </p:sp>
      <p:sp>
        <p:nvSpPr>
          <p:cNvPr id="129" name="Shape 54">
            <a:extLst>
              <a:ext uri="{FF2B5EF4-FFF2-40B4-BE49-F238E27FC236}">
                <a16:creationId xmlns:a16="http://schemas.microsoft.com/office/drawing/2014/main" id="{6EE23FA7-8449-0CFE-9E97-64DB7C1CFBE4}"/>
              </a:ext>
            </a:extLst>
          </p:cNvPr>
          <p:cNvSpPr/>
          <p:nvPr/>
        </p:nvSpPr>
        <p:spPr>
          <a:xfrm>
            <a:off x="560043" y="2125882"/>
            <a:ext cx="11052836" cy="3926017"/>
          </a:xfrm>
          <a:prstGeom prst="rect">
            <a:avLst/>
          </a:prstGeom>
          <a:solidFill>
            <a:srgbClr val="FFFFFF"/>
          </a:solidFill>
          <a:ln w="6350">
            <a:solidFill>
              <a:srgbClr val="C5D5EA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30" name="Shape 55">
            <a:extLst>
              <a:ext uri="{FF2B5EF4-FFF2-40B4-BE49-F238E27FC236}">
                <a16:creationId xmlns:a16="http://schemas.microsoft.com/office/drawing/2014/main" id="{EF9E506C-2AA5-F067-02D0-E936054EB00E}"/>
              </a:ext>
            </a:extLst>
          </p:cNvPr>
          <p:cNvSpPr/>
          <p:nvPr/>
        </p:nvSpPr>
        <p:spPr>
          <a:xfrm>
            <a:off x="560043" y="2125883"/>
            <a:ext cx="4084320" cy="3901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31" name="Text 56">
            <a:extLst>
              <a:ext uri="{FF2B5EF4-FFF2-40B4-BE49-F238E27FC236}">
                <a16:creationId xmlns:a16="http://schemas.microsoft.com/office/drawing/2014/main" id="{132BB4AE-79B5-082B-BD52-AE075A92AD0D}"/>
              </a:ext>
            </a:extLst>
          </p:cNvPr>
          <p:cNvSpPr txBox="1"/>
          <p:nvPr/>
        </p:nvSpPr>
        <p:spPr>
          <a:xfrm>
            <a:off x="657579" y="2199035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MLOps-Edge-Lab</a:t>
            </a:r>
            <a:r>
              <a:rPr lang="ko-KR" altLang="en-US" sz="10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132" name="Shape 57">
            <a:extLst>
              <a:ext uri="{FF2B5EF4-FFF2-40B4-BE49-F238E27FC236}">
                <a16:creationId xmlns:a16="http://schemas.microsoft.com/office/drawing/2014/main" id="{C747FAC2-925C-40BF-DF88-EE85F9DF1308}"/>
              </a:ext>
            </a:extLst>
          </p:cNvPr>
          <p:cNvSpPr/>
          <p:nvPr/>
        </p:nvSpPr>
        <p:spPr>
          <a:xfrm>
            <a:off x="675119" y="2649341"/>
            <a:ext cx="1004603" cy="275154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33" name="Text 58">
            <a:extLst>
              <a:ext uri="{FF2B5EF4-FFF2-40B4-BE49-F238E27FC236}">
                <a16:creationId xmlns:a16="http://schemas.microsoft.com/office/drawing/2014/main" id="{D3013897-B44F-AAFB-6C27-B66202D1926D}"/>
              </a:ext>
            </a:extLst>
          </p:cNvPr>
          <p:cNvSpPr txBox="1"/>
          <p:nvPr/>
        </p:nvSpPr>
        <p:spPr>
          <a:xfrm>
            <a:off x="1049208" y="2810769"/>
            <a:ext cx="804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파이프라인</a:t>
            </a:r>
            <a:endParaRPr lang="en-US" sz="867" dirty="0"/>
          </a:p>
        </p:txBody>
      </p:sp>
      <p:sp>
        <p:nvSpPr>
          <p:cNvPr id="134" name="Text 59">
            <a:extLst>
              <a:ext uri="{FF2B5EF4-FFF2-40B4-BE49-F238E27FC236}">
                <a16:creationId xmlns:a16="http://schemas.microsoft.com/office/drawing/2014/main" id="{36407AD0-244B-9C7B-68E4-7A590FC63376}"/>
              </a:ext>
            </a:extLst>
          </p:cNvPr>
          <p:cNvSpPr txBox="1"/>
          <p:nvPr/>
        </p:nvSpPr>
        <p:spPr>
          <a:xfrm>
            <a:off x="1049208" y="3298181"/>
            <a:ext cx="804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통합관제</a:t>
            </a:r>
            <a:endParaRPr lang="en-US" sz="867" dirty="0"/>
          </a:p>
        </p:txBody>
      </p:sp>
      <p:sp>
        <p:nvSpPr>
          <p:cNvPr id="135" name="Text 60">
            <a:extLst>
              <a:ext uri="{FF2B5EF4-FFF2-40B4-BE49-F238E27FC236}">
                <a16:creationId xmlns:a16="http://schemas.microsoft.com/office/drawing/2014/main" id="{A71B550B-97A8-7780-98BC-4DFE84E9B4E1}"/>
              </a:ext>
            </a:extLst>
          </p:cNvPr>
          <p:cNvSpPr txBox="1"/>
          <p:nvPr/>
        </p:nvSpPr>
        <p:spPr>
          <a:xfrm>
            <a:off x="1049208" y="3833556"/>
            <a:ext cx="804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AI 튜터</a:t>
            </a:r>
            <a:r>
              <a:rPr lang="en-US" altLang="ko-KR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ko-KR" alt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endParaRPr lang="en-US" sz="867" dirty="0"/>
          </a:p>
        </p:txBody>
      </p:sp>
      <p:sp>
        <p:nvSpPr>
          <p:cNvPr id="136" name="Text 61">
            <a:extLst>
              <a:ext uri="{FF2B5EF4-FFF2-40B4-BE49-F238E27FC236}">
                <a16:creationId xmlns:a16="http://schemas.microsoft.com/office/drawing/2014/main" id="{22545A3C-D277-2C41-900F-54429DB7258F}"/>
              </a:ext>
            </a:extLst>
          </p:cNvPr>
          <p:cNvSpPr txBox="1"/>
          <p:nvPr/>
        </p:nvSpPr>
        <p:spPr>
          <a:xfrm>
            <a:off x="1049208" y="4386283"/>
            <a:ext cx="804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교육 자료</a:t>
            </a:r>
            <a:endParaRPr lang="en-US" sz="867" dirty="0"/>
          </a:p>
        </p:txBody>
      </p:sp>
      <p:sp>
        <p:nvSpPr>
          <p:cNvPr id="137" name="Text 62">
            <a:extLst>
              <a:ext uri="{FF2B5EF4-FFF2-40B4-BE49-F238E27FC236}">
                <a16:creationId xmlns:a16="http://schemas.microsoft.com/office/drawing/2014/main" id="{4C37A39B-002B-75B6-7F71-FC582C7CAC56}"/>
              </a:ext>
            </a:extLst>
          </p:cNvPr>
          <p:cNvSpPr txBox="1"/>
          <p:nvPr/>
        </p:nvSpPr>
        <p:spPr>
          <a:xfrm>
            <a:off x="1049208" y="4909902"/>
            <a:ext cx="804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운영 도구</a:t>
            </a:r>
            <a:endParaRPr lang="en-US" sz="867" dirty="0"/>
          </a:p>
        </p:txBody>
      </p:sp>
      <p:sp>
        <p:nvSpPr>
          <p:cNvPr id="138" name="Shape 63">
            <a:extLst>
              <a:ext uri="{FF2B5EF4-FFF2-40B4-BE49-F238E27FC236}">
                <a16:creationId xmlns:a16="http://schemas.microsoft.com/office/drawing/2014/main" id="{A1575C87-9328-8941-BA26-AE11BFBE9D72}"/>
              </a:ext>
            </a:extLst>
          </p:cNvPr>
          <p:cNvSpPr/>
          <p:nvPr/>
        </p:nvSpPr>
        <p:spPr>
          <a:xfrm>
            <a:off x="1790281" y="2649341"/>
            <a:ext cx="2854081" cy="664655"/>
          </a:xfrm>
          <a:prstGeom prst="rect">
            <a:avLst/>
          </a:prstGeom>
          <a:solidFill>
            <a:srgbClr val="F4F7FC"/>
          </a:solidFill>
          <a:ln w="254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40" name="Text 64">
            <a:extLst>
              <a:ext uri="{FF2B5EF4-FFF2-40B4-BE49-F238E27FC236}">
                <a16:creationId xmlns:a16="http://schemas.microsoft.com/office/drawing/2014/main" id="{56D95C06-CF5B-F61F-1DA5-3AF12A847663}"/>
              </a:ext>
            </a:extLst>
          </p:cNvPr>
          <p:cNvSpPr txBox="1"/>
          <p:nvPr/>
        </p:nvSpPr>
        <p:spPr>
          <a:xfrm>
            <a:off x="2271867" y="2784462"/>
            <a:ext cx="2926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8단계 파이프라인 실시간 시각화(1~7 완료)</a:t>
            </a:r>
            <a:r>
              <a:rPr lang="en-US" altLang="ko-KR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en-US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endParaRPr lang="en-US" sz="933" dirty="0"/>
          </a:p>
        </p:txBody>
      </p:sp>
      <p:sp>
        <p:nvSpPr>
          <p:cNvPr id="141" name="Text 65">
            <a:extLst>
              <a:ext uri="{FF2B5EF4-FFF2-40B4-BE49-F238E27FC236}">
                <a16:creationId xmlns:a16="http://schemas.microsoft.com/office/drawing/2014/main" id="{A36CE083-B45C-59FC-FEE3-3013CB8D703F}"/>
              </a:ext>
            </a:extLst>
          </p:cNvPr>
          <p:cNvSpPr txBox="1"/>
          <p:nvPr/>
        </p:nvSpPr>
        <p:spPr>
          <a:xfrm>
            <a:off x="2271867" y="3003918"/>
            <a:ext cx="2074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문서 수·청크 수 등 실제 파일에서 매번 재계산 — 하드코딩 없음</a:t>
            </a:r>
            <a:endParaRPr lang="en-US" sz="867" dirty="0"/>
          </a:p>
        </p:txBody>
      </p:sp>
      <p:sp>
        <p:nvSpPr>
          <p:cNvPr id="142" name="Shape 66">
            <a:extLst>
              <a:ext uri="{FF2B5EF4-FFF2-40B4-BE49-F238E27FC236}">
                <a16:creationId xmlns:a16="http://schemas.microsoft.com/office/drawing/2014/main" id="{06F106A5-3502-B5C9-3E44-303865FDC30A}"/>
              </a:ext>
            </a:extLst>
          </p:cNvPr>
          <p:cNvSpPr/>
          <p:nvPr/>
        </p:nvSpPr>
        <p:spPr>
          <a:xfrm>
            <a:off x="1790281" y="3345110"/>
            <a:ext cx="2854081" cy="664655"/>
          </a:xfrm>
          <a:prstGeom prst="rect">
            <a:avLst/>
          </a:prstGeom>
          <a:solidFill>
            <a:srgbClr val="FFFFFF"/>
          </a:solidFill>
          <a:ln w="254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43" name="Text 67">
            <a:extLst>
              <a:ext uri="{FF2B5EF4-FFF2-40B4-BE49-F238E27FC236}">
                <a16:creationId xmlns:a16="http://schemas.microsoft.com/office/drawing/2014/main" id="{2D89BC52-BDF7-0EF3-F153-488819F65C4A}"/>
              </a:ext>
            </a:extLst>
          </p:cNvPr>
          <p:cNvSpPr txBox="1"/>
          <p:nvPr/>
        </p:nvSpPr>
        <p:spPr>
          <a:xfrm>
            <a:off x="2271867" y="3442208"/>
            <a:ext cx="2926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6개 현장 라이브 센서 카드 + 수동 시뮬레이션 통합</a:t>
            </a:r>
            <a:r>
              <a:rPr lang="en-US" altLang="ko-KR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ko-KR" altLang="en-US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endParaRPr lang="en-US" sz="933" dirty="0"/>
          </a:p>
        </p:txBody>
      </p:sp>
      <p:sp>
        <p:nvSpPr>
          <p:cNvPr id="144" name="Text 68">
            <a:extLst>
              <a:ext uri="{FF2B5EF4-FFF2-40B4-BE49-F238E27FC236}">
                <a16:creationId xmlns:a16="http://schemas.microsoft.com/office/drawing/2014/main" id="{5D544C69-06ED-4F74-6399-CDD6BAC779B3}"/>
              </a:ext>
            </a:extLst>
          </p:cNvPr>
          <p:cNvSpPr txBox="1"/>
          <p:nvPr/>
        </p:nvSpPr>
        <p:spPr>
          <a:xfrm>
            <a:off x="2271867" y="3661664"/>
            <a:ext cx="2074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장비 상태(규칙)·LLM 알림 문구 단계별 표시 + TTS 자동 방송</a:t>
            </a:r>
            <a:endParaRPr lang="en-US" sz="867" dirty="0"/>
          </a:p>
        </p:txBody>
      </p:sp>
      <p:sp>
        <p:nvSpPr>
          <p:cNvPr id="145" name="Shape 69">
            <a:extLst>
              <a:ext uri="{FF2B5EF4-FFF2-40B4-BE49-F238E27FC236}">
                <a16:creationId xmlns:a16="http://schemas.microsoft.com/office/drawing/2014/main" id="{73B141C4-D5E3-54F6-1E2C-349083E64C7B}"/>
              </a:ext>
            </a:extLst>
          </p:cNvPr>
          <p:cNvSpPr/>
          <p:nvPr/>
        </p:nvSpPr>
        <p:spPr>
          <a:xfrm>
            <a:off x="1790281" y="4041314"/>
            <a:ext cx="2854081" cy="664655"/>
          </a:xfrm>
          <a:prstGeom prst="rect">
            <a:avLst/>
          </a:prstGeom>
          <a:solidFill>
            <a:srgbClr val="F4F7FC"/>
          </a:solidFill>
          <a:ln w="254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46" name="Text 70">
            <a:extLst>
              <a:ext uri="{FF2B5EF4-FFF2-40B4-BE49-F238E27FC236}">
                <a16:creationId xmlns:a16="http://schemas.microsoft.com/office/drawing/2014/main" id="{F5738F55-3B98-43ED-2749-58C1F6FAA7E6}"/>
              </a:ext>
            </a:extLst>
          </p:cNvPr>
          <p:cNvSpPr txBox="1"/>
          <p:nvPr/>
        </p:nvSpPr>
        <p:spPr>
          <a:xfrm>
            <a:off x="2271867" y="4149798"/>
            <a:ext cx="2926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좌: 수집·학습 콘솔 / 우: 학생용 AI 비교 체험</a:t>
            </a:r>
            <a:r>
              <a:rPr lang="en-US" altLang="ko-KR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ko-KR" altLang="en-US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en-US" altLang="ko-KR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ko-KR" altLang="en-US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endParaRPr lang="en-US" sz="933" dirty="0"/>
          </a:p>
        </p:txBody>
      </p:sp>
      <p:sp>
        <p:nvSpPr>
          <p:cNvPr id="147" name="Text 71">
            <a:extLst>
              <a:ext uri="{FF2B5EF4-FFF2-40B4-BE49-F238E27FC236}">
                <a16:creationId xmlns:a16="http://schemas.microsoft.com/office/drawing/2014/main" id="{A5E8BA09-1793-0BE3-E052-5A1CD9D5DE83}"/>
              </a:ext>
            </a:extLst>
          </p:cNvPr>
          <p:cNvSpPr txBox="1"/>
          <p:nvPr/>
        </p:nvSpPr>
        <p:spPr>
          <a:xfrm>
            <a:off x="2271867" y="4369254"/>
            <a:ext cx="2074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RAG·파인튜닝·Claude 3종 비교 + 근거 기반 퀴즈(정답 토큰 코드 검증)</a:t>
            </a:r>
            <a:r>
              <a:rPr lang="ko-KR" alt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endParaRPr lang="en-US" sz="867" dirty="0"/>
          </a:p>
        </p:txBody>
      </p:sp>
      <p:sp>
        <p:nvSpPr>
          <p:cNvPr id="148" name="Shape 72">
            <a:extLst>
              <a:ext uri="{FF2B5EF4-FFF2-40B4-BE49-F238E27FC236}">
                <a16:creationId xmlns:a16="http://schemas.microsoft.com/office/drawing/2014/main" id="{5D9F5956-6DED-42DA-4183-13665011BA52}"/>
              </a:ext>
            </a:extLst>
          </p:cNvPr>
          <p:cNvSpPr/>
          <p:nvPr/>
        </p:nvSpPr>
        <p:spPr>
          <a:xfrm>
            <a:off x="1790281" y="4736097"/>
            <a:ext cx="2854081" cy="664655"/>
          </a:xfrm>
          <a:prstGeom prst="rect">
            <a:avLst/>
          </a:prstGeom>
          <a:solidFill>
            <a:srgbClr val="FFFFFF"/>
          </a:solidFill>
          <a:ln w="254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49" name="Text 73">
            <a:extLst>
              <a:ext uri="{FF2B5EF4-FFF2-40B4-BE49-F238E27FC236}">
                <a16:creationId xmlns:a16="http://schemas.microsoft.com/office/drawing/2014/main" id="{52EA2C87-22AE-1BCA-E7F9-DE50944EEBFC}"/>
              </a:ext>
            </a:extLst>
          </p:cNvPr>
          <p:cNvSpPr txBox="1"/>
          <p:nvPr/>
        </p:nvSpPr>
        <p:spPr>
          <a:xfrm>
            <a:off x="2271867" y="4871522"/>
            <a:ext cx="2926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이 PPT를 PDF 변환해 웹에 그대로 임베드</a:t>
            </a:r>
            <a:r>
              <a:rPr lang="ko-KR" altLang="en-US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en-US" altLang="ko-KR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ko-KR" altLang="en-US" sz="933" b="1" dirty="0">
                <a:solidFill>
                  <a:srgbClr val="1565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endParaRPr lang="en-US" sz="933" dirty="0"/>
          </a:p>
        </p:txBody>
      </p:sp>
      <p:sp>
        <p:nvSpPr>
          <p:cNvPr id="150" name="Text 74">
            <a:extLst>
              <a:ext uri="{FF2B5EF4-FFF2-40B4-BE49-F238E27FC236}">
                <a16:creationId xmlns:a16="http://schemas.microsoft.com/office/drawing/2014/main" id="{BDC1C873-703D-BCC4-330D-1AE23296E38B}"/>
              </a:ext>
            </a:extLst>
          </p:cNvPr>
          <p:cNvSpPr txBox="1"/>
          <p:nvPr/>
        </p:nvSpPr>
        <p:spPr>
          <a:xfrm>
            <a:off x="2271867" y="5090978"/>
            <a:ext cx="2074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67" dirty="0">
                <a:solidFill>
                  <a:srgbClr val="4A55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pptx가 원본, PDF는 매번 재생성되는 파생물(항상 최신)</a:t>
            </a:r>
            <a:endParaRPr lang="en-US" sz="867" dirty="0"/>
          </a:p>
        </p:txBody>
      </p:sp>
      <p:pic>
        <p:nvPicPr>
          <p:cNvPr id="187" name="그림 186">
            <a:extLst>
              <a:ext uri="{FF2B5EF4-FFF2-40B4-BE49-F238E27FC236}">
                <a16:creationId xmlns:a16="http://schemas.microsoft.com/office/drawing/2014/main" id="{54D3DE86-6713-CD3B-6DAE-ECFC706E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587" r="75752" b="28455"/>
          <a:stretch>
            <a:fillRect/>
          </a:stretch>
        </p:blipFill>
        <p:spPr>
          <a:xfrm>
            <a:off x="1698185" y="2844434"/>
            <a:ext cx="481585" cy="316992"/>
          </a:xfrm>
          <a:prstGeom prst="rect">
            <a:avLst/>
          </a:prstGeom>
        </p:spPr>
      </p:pic>
      <p:pic>
        <p:nvPicPr>
          <p:cNvPr id="188" name="그림 187">
            <a:extLst>
              <a:ext uri="{FF2B5EF4-FFF2-40B4-BE49-F238E27FC236}">
                <a16:creationId xmlns:a16="http://schemas.microsoft.com/office/drawing/2014/main" id="{0A7E6168-5780-2E17-41BA-421E46D346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46" t="39587" r="56870" b="25997"/>
          <a:stretch>
            <a:fillRect/>
          </a:stretch>
        </p:blipFill>
        <p:spPr>
          <a:xfrm>
            <a:off x="1872610" y="3497072"/>
            <a:ext cx="289655" cy="341376"/>
          </a:xfrm>
          <a:prstGeom prst="rect">
            <a:avLst/>
          </a:prstGeom>
        </p:spPr>
      </p:pic>
      <p:pic>
        <p:nvPicPr>
          <p:cNvPr id="189" name="그림 188">
            <a:extLst>
              <a:ext uri="{FF2B5EF4-FFF2-40B4-BE49-F238E27FC236}">
                <a16:creationId xmlns:a16="http://schemas.microsoft.com/office/drawing/2014/main" id="{5775FA21-29AC-2040-A539-F8C0DF03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57" t="39588" r="31884" b="30218"/>
          <a:stretch>
            <a:fillRect/>
          </a:stretch>
        </p:blipFill>
        <p:spPr>
          <a:xfrm>
            <a:off x="1872610" y="4179481"/>
            <a:ext cx="336815" cy="299501"/>
          </a:xfrm>
          <a:prstGeom prst="rect">
            <a:avLst/>
          </a:prstGeom>
        </p:spPr>
      </p:pic>
      <p:pic>
        <p:nvPicPr>
          <p:cNvPr id="190" name="그림 189">
            <a:extLst>
              <a:ext uri="{FF2B5EF4-FFF2-40B4-BE49-F238E27FC236}">
                <a16:creationId xmlns:a16="http://schemas.microsoft.com/office/drawing/2014/main" id="{09C37B80-EED1-1845-1258-B8D0F166C3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487" t="39587" b="27108"/>
          <a:stretch>
            <a:fillRect/>
          </a:stretch>
        </p:blipFill>
        <p:spPr>
          <a:xfrm>
            <a:off x="1921915" y="4883622"/>
            <a:ext cx="506712" cy="330357"/>
          </a:xfrm>
          <a:prstGeom prst="rect">
            <a:avLst/>
          </a:prstGeom>
        </p:spPr>
      </p:pic>
      <p:pic>
        <p:nvPicPr>
          <p:cNvPr id="192" name="그림 191">
            <a:extLst>
              <a:ext uri="{FF2B5EF4-FFF2-40B4-BE49-F238E27FC236}">
                <a16:creationId xmlns:a16="http://schemas.microsoft.com/office/drawing/2014/main" id="{979B2994-F792-C5B6-7BE3-75005E21D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90" y="2845172"/>
            <a:ext cx="283193" cy="283193"/>
          </a:xfrm>
          <a:prstGeom prst="rect">
            <a:avLst/>
          </a:prstGeom>
        </p:spPr>
      </p:pic>
      <p:pic>
        <p:nvPicPr>
          <p:cNvPr id="194" name="그림 193">
            <a:extLst>
              <a:ext uri="{FF2B5EF4-FFF2-40B4-BE49-F238E27FC236}">
                <a16:creationId xmlns:a16="http://schemas.microsoft.com/office/drawing/2014/main" id="{AED40522-70A9-2491-0842-9DC889092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49" y="3313572"/>
            <a:ext cx="292311" cy="292311"/>
          </a:xfrm>
          <a:prstGeom prst="rect">
            <a:avLst/>
          </a:prstGeom>
        </p:spPr>
      </p:pic>
      <p:pic>
        <p:nvPicPr>
          <p:cNvPr id="196" name="그림 195">
            <a:extLst>
              <a:ext uri="{FF2B5EF4-FFF2-40B4-BE49-F238E27FC236}">
                <a16:creationId xmlns:a16="http://schemas.microsoft.com/office/drawing/2014/main" id="{399FAD76-DFDB-6F6C-0085-C1B6B2706F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169" y="3846199"/>
            <a:ext cx="292310" cy="292310"/>
          </a:xfrm>
          <a:prstGeom prst="rect">
            <a:avLst/>
          </a:prstGeom>
        </p:spPr>
      </p:pic>
      <p:pic>
        <p:nvPicPr>
          <p:cNvPr id="198" name="그림 197">
            <a:extLst>
              <a:ext uri="{FF2B5EF4-FFF2-40B4-BE49-F238E27FC236}">
                <a16:creationId xmlns:a16="http://schemas.microsoft.com/office/drawing/2014/main" id="{F7BA63B3-2290-0E3F-AAD8-5C1957B478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853" y="4431841"/>
            <a:ext cx="253816" cy="253816"/>
          </a:xfrm>
          <a:prstGeom prst="rect">
            <a:avLst/>
          </a:prstGeom>
        </p:spPr>
      </p:pic>
      <p:pic>
        <p:nvPicPr>
          <p:cNvPr id="199" name="그림 198">
            <a:extLst>
              <a:ext uri="{FF2B5EF4-FFF2-40B4-BE49-F238E27FC236}">
                <a16:creationId xmlns:a16="http://schemas.microsoft.com/office/drawing/2014/main" id="{8E17ACE2-6275-3F5E-9AF9-0189DB33A6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774" y="4959014"/>
            <a:ext cx="209019" cy="209019"/>
          </a:xfrm>
          <a:prstGeom prst="rect">
            <a:avLst/>
          </a:prstGeom>
        </p:spPr>
      </p:pic>
      <p:sp>
        <p:nvSpPr>
          <p:cNvPr id="201" name="Shape 57">
            <a:extLst>
              <a:ext uri="{FF2B5EF4-FFF2-40B4-BE49-F238E27FC236}">
                <a16:creationId xmlns:a16="http://schemas.microsoft.com/office/drawing/2014/main" id="{5135923C-380C-7F3F-BAA0-875BC61A93E3}"/>
              </a:ext>
            </a:extLst>
          </p:cNvPr>
          <p:cNvSpPr/>
          <p:nvPr/>
        </p:nvSpPr>
        <p:spPr>
          <a:xfrm>
            <a:off x="699833" y="5501685"/>
            <a:ext cx="3822610" cy="404975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51" name="Text 75">
            <a:extLst>
              <a:ext uri="{FF2B5EF4-FFF2-40B4-BE49-F238E27FC236}">
                <a16:creationId xmlns:a16="http://schemas.microsoft.com/office/drawing/2014/main" id="{45B75F0A-C836-8DA2-5A18-B3B616A1246C}"/>
              </a:ext>
            </a:extLst>
          </p:cNvPr>
          <p:cNvSpPr txBox="1"/>
          <p:nvPr/>
        </p:nvSpPr>
        <p:spPr>
          <a:xfrm>
            <a:off x="551269" y="5551793"/>
            <a:ext cx="408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67" dirty="0">
                <a:solidFill>
                  <a:srgbClr val="71809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>운영 도구 3종: MLflow(28082) · Prometheus(28083) · Grafana(28084) — 전용 포트로 외부 공개</a:t>
            </a:r>
            <a:r>
              <a:rPr lang="en-US" altLang="ko-KR" sz="1067" dirty="0">
                <a:solidFill>
                  <a:srgbClr val="71809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r>
              <a:rPr lang="ko-KR" altLang="en-US" sz="1067" dirty="0">
                <a:solidFill>
                  <a:srgbClr val="71809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Malgun Gothic" pitchFamily="34" charset="-120"/>
              </a:rPr>
              <a:t/>
            </a:r>
            <a:endParaRPr lang="en-US" sz="1067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65C1240-9EDB-CF73-C8AD-5A04D15418B8}"/>
              </a:ext>
            </a:extLst>
          </p:cNvPr>
          <p:cNvGrpSpPr/>
          <p:nvPr/>
        </p:nvGrpSpPr>
        <p:grpSpPr>
          <a:xfrm>
            <a:off x="9836265" y="353790"/>
            <a:ext cx="2140317" cy="295434"/>
            <a:chOff x="8336310" y="1122320"/>
            <a:chExt cx="2140317" cy="29543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593972B-5C3F-0741-3B4E-4067C2B2766E}"/>
                </a:ext>
              </a:extLst>
            </p:cNvPr>
            <p:cNvSpPr txBox="1"/>
            <p:nvPr/>
          </p:nvSpPr>
          <p:spPr>
            <a:xfrm>
              <a:off x="10074613" y="1130489"/>
              <a:ext cx="402014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Ⅳ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F26FEFA-28D6-3CF3-1F91-863318BC50E8}"/>
                </a:ext>
              </a:extLst>
            </p:cNvPr>
            <p:cNvGrpSpPr/>
            <p:nvPr/>
          </p:nvGrpSpPr>
          <p:grpSpPr>
            <a:xfrm>
              <a:off x="9128979" y="1140755"/>
              <a:ext cx="954926" cy="276999"/>
              <a:chOff x="9975479" y="1218128"/>
              <a:chExt cx="954926" cy="276999"/>
            </a:xfrm>
          </p:grpSpPr>
          <p:sp>
            <p:nvSpPr>
              <p:cNvPr id="29" name="사각형: 잘린 한쪽 모서리 28">
                <a:extLst>
                  <a:ext uri="{FF2B5EF4-FFF2-40B4-BE49-F238E27FC236}">
                    <a16:creationId xmlns:a16="http://schemas.microsoft.com/office/drawing/2014/main" id="{E773F703-8F17-6AC6-FA74-71A0474143C1}"/>
                  </a:ext>
                </a:extLst>
              </p:cNvPr>
              <p:cNvSpPr/>
              <p:nvPr/>
            </p:nvSpPr>
            <p:spPr>
              <a:xfrm rot="10800000">
                <a:off x="9986500" y="1218128"/>
                <a:ext cx="893082" cy="266733"/>
              </a:xfrm>
              <a:prstGeom prst="snip1Rect">
                <a:avLst>
                  <a:gd name="adj" fmla="val 46697"/>
                </a:avLst>
              </a:prstGeom>
              <a:solidFill>
                <a:srgbClr val="1A2332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74E943-F663-17A0-F485-18D4FB71921C}"/>
                  </a:ext>
                </a:extLst>
              </p:cNvPr>
              <p:cNvSpPr txBox="1"/>
              <p:nvPr/>
            </p:nvSpPr>
            <p:spPr>
              <a:xfrm>
                <a:off x="9975479" y="1218128"/>
                <a:ext cx="9549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함초롬바탕" panose="02030604000101010101" pitchFamily="18" charset="-127"/>
                  </a:rPr>
                  <a:t>Ⅲ 아키텍처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/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0EA7B4-5B3F-1F4F-CF4E-434138F2E0DD}"/>
                </a:ext>
              </a:extLst>
            </p:cNvPr>
            <p:cNvSpPr txBox="1"/>
            <p:nvPr/>
          </p:nvSpPr>
          <p:spPr>
            <a:xfrm>
              <a:off x="8336310" y="1122320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Ⅰ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4ADDA0-776A-158E-AC17-FE9D808EA147}"/>
                </a:ext>
              </a:extLst>
            </p:cNvPr>
            <p:cNvCxnSpPr>
              <a:cxnSpLocks/>
            </p:cNvCxnSpPr>
            <p:nvPr/>
          </p:nvCxnSpPr>
          <p:spPr>
            <a:xfrm>
              <a:off x="8657475" y="1164599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E9FE542-F32E-40B7-E645-2C7124CA9CC5}"/>
                </a:ext>
              </a:extLst>
            </p:cNvPr>
            <p:cNvSpPr txBox="1"/>
            <p:nvPr/>
          </p:nvSpPr>
          <p:spPr>
            <a:xfrm>
              <a:off x="8723418" y="1126067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Ⅱ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그림 2">
            <a:extLst>
              <a:ext uri="{FF2B5EF4-FFF2-40B4-BE49-F238E27FC236}">
                <a16:creationId xmlns:a16="http://schemas.microsoft.com/office/drawing/2014/main" id="{73F0FFE8-821D-1F03-28B7-B987F7DD5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6D5855-FFDD-CA46-3408-6C352CFD48D9}"/>
              </a:ext>
            </a:extLst>
          </p:cNvPr>
          <p:cNvSpPr txBox="1"/>
          <p:nvPr/>
        </p:nvSpPr>
        <p:spPr>
          <a:xfrm>
            <a:off x="648820" y="1574214"/>
            <a:ext cx="51623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fontAlgn="base" latinLnBrk="0"/>
            <a:r>
              <a:rPr lang="en-US" altLang="ko-KR" sz="6000" b="1" kern="0" spc="85" dirty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Ⅳ</a:t>
            </a:r>
            <a:endParaRPr lang="ko-KR" altLang="en-US" sz="6000" b="1" kern="0" dirty="0">
              <a:latin typeface="KoPubWorld돋움체 Medium" panose="000006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84A86-BCEC-0C66-E649-40F84AB83DBC}"/>
              </a:ext>
            </a:extLst>
          </p:cNvPr>
          <p:cNvSpPr txBox="1"/>
          <p:nvPr/>
        </p:nvSpPr>
        <p:spPr>
          <a:xfrm>
            <a:off x="630188" y="2514565"/>
            <a:ext cx="3071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확장전략</a:t>
            </a:r>
            <a:endParaRPr lang="ko-KR" altLang="en-US" sz="8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B805DB-9BDD-ABA1-0976-DD9DE7FA8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7023" y="5806352"/>
            <a:ext cx="773682" cy="77368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 3"/>
          <p:cNvSpPr/>
          <p:nvPr/>
        </p:nvSpPr>
        <p:spPr>
          <a:xfrm>
            <a:off x="463296" y="1511808"/>
            <a:ext cx="11265408" cy="536448"/>
          </a:xfrm>
          <a:prstGeom prst="roundRect">
            <a:avLst>
              <a:gd name="adj" fmla="val 15909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6" name="Text 4"/>
          <p:cNvSpPr txBox="1"/>
          <p:nvPr/>
        </p:nvSpPr>
        <p:spPr>
          <a:xfrm>
            <a:off x="633984" y="1572768"/>
            <a:ext cx="109728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"산업안전에서 검증한 패턴을 AI튜터가 재사용했다 — 다음은 어디로 확장하는가"</a:t>
            </a:r>
            <a:r>
              <a:rPr lang="en-US" sz="14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4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3296" y="2243327"/>
            <a:ext cx="5486400" cy="4203771"/>
          </a:xfrm>
          <a:prstGeom prst="roundRect">
            <a:avLst>
              <a:gd name="adj" fmla="val 2959"/>
            </a:avLst>
          </a:prstGeom>
          <a:solidFill>
            <a:srgbClr val="EEF4FB">
              <a:alpha val="7400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8" name="Shape 6"/>
          <p:cNvSpPr/>
          <p:nvPr/>
        </p:nvSpPr>
        <p:spPr>
          <a:xfrm>
            <a:off x="609600" y="2389632"/>
            <a:ext cx="5193792" cy="390144"/>
          </a:xfrm>
          <a:prstGeom prst="roundRect">
            <a:avLst>
              <a:gd name="adj" fmla="val 15625"/>
            </a:avLst>
          </a:prstGeom>
          <a:solidFill>
            <a:srgbClr val="2A3F6F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9" name="Text 7"/>
          <p:cNvSpPr txBox="1"/>
          <p:nvPr/>
        </p:nvSpPr>
        <p:spPr>
          <a:xfrm>
            <a:off x="609600" y="2389632"/>
            <a:ext cx="519379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구축</a:t>
            </a:r>
            <a:endParaRPr lang="en-US" sz="1267" dirty="0"/>
          </a:p>
        </p:txBody>
      </p:sp>
      <p:sp>
        <p:nvSpPr>
          <p:cNvPr id="10" name="Text 8"/>
          <p:cNvSpPr txBox="1"/>
          <p:nvPr/>
        </p:nvSpPr>
        <p:spPr>
          <a:xfrm>
            <a:off x="633984" y="2901696"/>
            <a:ext cx="51450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산업안전 Agent — 규칙 판정 + LLM 서술 + 장비제어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3984" y="3584448"/>
            <a:ext cx="51450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AI튜터 — RAG · 파인튜닝 단독 · Claude 3종 비교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3984" y="4267200"/>
            <a:ext cx="51450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AI튜터 — 근거 기반 퀴즈(정답 토큰 코드 검증)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3984" y="4949952"/>
            <a:ext cx="51450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둘 다 /control-room, /edu-admin에서 라이브 데모 가능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22848" y="3901440"/>
            <a:ext cx="512064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4A7C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667" dirty="0"/>
          </a:p>
        </p:txBody>
      </p:sp>
      <p:sp>
        <p:nvSpPr>
          <p:cNvPr id="15" name="Shape 13"/>
          <p:cNvSpPr/>
          <p:nvPr/>
        </p:nvSpPr>
        <p:spPr>
          <a:xfrm>
            <a:off x="6656832" y="2243327"/>
            <a:ext cx="5071872" cy="4203771"/>
          </a:xfrm>
          <a:prstGeom prst="roundRect">
            <a:avLst>
              <a:gd name="adj" fmla="val 2959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6" name="Shape 14"/>
          <p:cNvSpPr/>
          <p:nvPr/>
        </p:nvSpPr>
        <p:spPr>
          <a:xfrm>
            <a:off x="6803136" y="2389632"/>
            <a:ext cx="4779264" cy="390144"/>
          </a:xfrm>
          <a:prstGeom prst="roundRect">
            <a:avLst>
              <a:gd name="adj" fmla="val 15625"/>
            </a:avLst>
          </a:prstGeom>
          <a:solidFill>
            <a:srgbClr val="4A7CC7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7" name="Text 15"/>
          <p:cNvSpPr txBox="1"/>
          <p:nvPr/>
        </p:nvSpPr>
        <p:spPr>
          <a:xfrm>
            <a:off x="6803136" y="2389632"/>
            <a:ext cx="477926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확장 (미착수, 후보 단계)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6803136" y="2901696"/>
            <a:ext cx="4779264" cy="75590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9" name="Text 17"/>
          <p:cNvSpPr txBox="1"/>
          <p:nvPr/>
        </p:nvSpPr>
        <p:spPr>
          <a:xfrm>
            <a:off x="7729728" y="2974848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토론 배틀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29728" y="3243072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찬반 팀 배정 + AI가 진행·심판 — 전략.md 2차 후보, 아직 미착수</a:t>
            </a:r>
            <a:endParaRPr lang="en-US" sz="1067" dirty="0"/>
          </a:p>
        </p:txBody>
      </p:sp>
      <p:sp>
        <p:nvSpPr>
          <p:cNvPr id="21" name="Shape 19"/>
          <p:cNvSpPr/>
          <p:nvPr/>
        </p:nvSpPr>
        <p:spPr>
          <a:xfrm>
            <a:off x="6803136" y="3779520"/>
            <a:ext cx="4779264" cy="75590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Text 20"/>
          <p:cNvSpPr txBox="1"/>
          <p:nvPr/>
        </p:nvSpPr>
        <p:spPr>
          <a:xfrm>
            <a:off x="7729728" y="3852672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엣지 하드웨어 검증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29728" y="412089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cgroup 에뮬레이션 하한선 추정만 — 상용화 시점에 진행</a:t>
            </a:r>
            <a:endParaRPr lang="en-US" sz="1067" dirty="0"/>
          </a:p>
        </p:txBody>
      </p:sp>
      <p:sp>
        <p:nvSpPr>
          <p:cNvPr id="24" name="Shape 22"/>
          <p:cNvSpPr/>
          <p:nvPr/>
        </p:nvSpPr>
        <p:spPr>
          <a:xfrm>
            <a:off x="6803136" y="4657344"/>
            <a:ext cx="4779264" cy="75590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5" name="Text 23"/>
          <p:cNvSpPr txBox="1"/>
          <p:nvPr/>
        </p:nvSpPr>
        <p:spPr>
          <a:xfrm>
            <a:off x="7729728" y="4730496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cross-encoder 재순위화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729728" y="4998720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2순위 개선안 — 코퍼스가 커지면 재검토(90번)</a:t>
            </a:r>
            <a:endParaRPr lang="en-US" sz="1067" dirty="0"/>
          </a:p>
        </p:txBody>
      </p:sp>
      <p:sp>
        <p:nvSpPr>
          <p:cNvPr id="27" name="Shape 25"/>
          <p:cNvSpPr/>
          <p:nvPr/>
        </p:nvSpPr>
        <p:spPr>
          <a:xfrm>
            <a:off x="6803136" y="5535168"/>
            <a:ext cx="4779264" cy="75590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8" name="Text 26"/>
          <p:cNvSpPr txBox="1"/>
          <p:nvPr/>
        </p:nvSpPr>
        <p:spPr>
          <a:xfrm>
            <a:off x="7729728" y="5608320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임계값 전면 반영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29728" y="5876544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산소(O2) 구조 변경 외 일부 물질은 아직 근사치(65·66번)</a:t>
            </a:r>
            <a:endParaRPr lang="en-US" sz="1067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E456AE05-177D-695F-9750-5F020BECFFD9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확장 로드맵</a:t>
            </a:r>
            <a:r>
              <a:rPr lang="ko-KR" altLang="en-US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9DF9D956-9498-75C2-2CE4-E0DF964A87A4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7A7A5419-50B3-CFC1-DE03-18CC0E0DEB76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지금 만든 것 위에, 다음은 무엇을 얹을 것인가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endParaRPr lang="ko-KR" altLang="en-US" sz="2400" b="1" dirty="0">
              <a:solidFill>
                <a:srgbClr val="0070C0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0B0E23EF-9426-73B2-B2CB-1924B96CB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466" y="2972741"/>
            <a:ext cx="584962" cy="57513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AB0742F-11B6-57D9-5894-2D4F8D150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987" y="3901440"/>
            <a:ext cx="526781" cy="51350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9270891D-8352-12CC-7E22-E86B57CBB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987" y="4742688"/>
            <a:ext cx="624533" cy="519684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5F71172-49B7-2E4E-5199-71AEA11D6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2137" y="5696132"/>
            <a:ext cx="411401" cy="424324"/>
          </a:xfrm>
          <a:prstGeom prst="rect">
            <a:avLst/>
          </a:prstGeom>
        </p:spPr>
      </p:pic>
      <p:sp>
        <p:nvSpPr>
          <p:cNvPr id="53" name="Text 20">
            <a:extLst>
              <a:ext uri="{FF2B5EF4-FFF2-40B4-BE49-F238E27FC236}">
                <a16:creationId xmlns:a16="http://schemas.microsoft.com/office/drawing/2014/main" id="{2786B963-6239-B5CF-2B06-1F256B4BED7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900" dirty="0">
                <a:solidFill>
                  <a:srgbClr val="5B6672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17</a:t>
            </a:r>
            <a:endParaRPr lang="en-US" sz="9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2CB58DDD-BFA9-4DB7-B693-0FF912CA2903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9787872-88A5-6712-818E-95DE3AB45193}"/>
              </a:ext>
            </a:extLst>
          </p:cNvPr>
          <p:cNvGrpSpPr/>
          <p:nvPr/>
        </p:nvGrpSpPr>
        <p:grpSpPr>
          <a:xfrm>
            <a:off x="9774310" y="362934"/>
            <a:ext cx="2179564" cy="295434"/>
            <a:chOff x="8336310" y="1506379"/>
            <a:chExt cx="2179564" cy="29543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AC92F415-5457-9947-0DD7-1392B0BE9816}"/>
                </a:ext>
              </a:extLst>
            </p:cNvPr>
            <p:cNvGrpSpPr/>
            <p:nvPr/>
          </p:nvGrpSpPr>
          <p:grpSpPr>
            <a:xfrm>
              <a:off x="9560948" y="1524814"/>
              <a:ext cx="954926" cy="276999"/>
              <a:chOff x="9975479" y="1218128"/>
              <a:chExt cx="954926" cy="276999"/>
            </a:xfrm>
          </p:grpSpPr>
          <p:sp>
            <p:nvSpPr>
              <p:cNvPr id="50" name="사각형: 잘린 한쪽 모서리 13">
                <a:extLst>
                  <a:ext uri="{FF2B5EF4-FFF2-40B4-BE49-F238E27FC236}">
                    <a16:creationId xmlns:a16="http://schemas.microsoft.com/office/drawing/2014/main" id="{54FA767B-AC5D-8B7E-9B99-05EA3C6639DB}"/>
                  </a:ext>
                </a:extLst>
              </p:cNvPr>
              <p:cNvSpPr/>
              <p:nvPr/>
            </p:nvSpPr>
            <p:spPr>
              <a:xfrm rot="10800000">
                <a:off x="9986500" y="1218128"/>
                <a:ext cx="893082" cy="266733"/>
              </a:xfrm>
              <a:prstGeom prst="snip1Rect">
                <a:avLst>
                  <a:gd name="adj" fmla="val 46697"/>
                </a:avLst>
              </a:prstGeom>
              <a:solidFill>
                <a:srgbClr val="1A2332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25CA45D-CD6D-6A93-4E31-8EA80CFEDF2F}"/>
                  </a:ext>
                </a:extLst>
              </p:cNvPr>
              <p:cNvSpPr txBox="1"/>
              <p:nvPr/>
            </p:nvSpPr>
            <p:spPr>
              <a:xfrm>
                <a:off x="9975479" y="1218128"/>
                <a:ext cx="9549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함초롬바탕" panose="02030604000101010101" pitchFamily="18" charset="-127"/>
                  </a:rPr>
                  <a:t>Ⅳ 확장전략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/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9F917F-75BE-245B-8792-51DB84E361AD}"/>
                </a:ext>
              </a:extLst>
            </p:cNvPr>
            <p:cNvSpPr txBox="1"/>
            <p:nvPr/>
          </p:nvSpPr>
          <p:spPr>
            <a:xfrm>
              <a:off x="8336310" y="1506379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Ⅰ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30" name="직선 연결선 7">
              <a:extLst>
                <a:ext uri="{FF2B5EF4-FFF2-40B4-BE49-F238E27FC236}">
                  <a16:creationId xmlns:a16="http://schemas.microsoft.com/office/drawing/2014/main" id="{40EBB052-8580-6CE7-A723-BB1AC70ED081}"/>
                </a:ext>
              </a:extLst>
            </p:cNvPr>
            <p:cNvCxnSpPr>
              <a:cxnSpLocks/>
            </p:cNvCxnSpPr>
            <p:nvPr/>
          </p:nvCxnSpPr>
          <p:spPr>
            <a:xfrm>
              <a:off x="8657475" y="1548658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BDECFA-B1B2-70F8-2A54-25FD2B9E1FB4}"/>
                </a:ext>
              </a:extLst>
            </p:cNvPr>
            <p:cNvSpPr txBox="1"/>
            <p:nvPr/>
          </p:nvSpPr>
          <p:spPr>
            <a:xfrm>
              <a:off x="8713892" y="1510126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Ⅱ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45" name="직선 연결선 9">
              <a:extLst>
                <a:ext uri="{FF2B5EF4-FFF2-40B4-BE49-F238E27FC236}">
                  <a16:creationId xmlns:a16="http://schemas.microsoft.com/office/drawing/2014/main" id="{944640C7-F7F8-9920-7E59-9CFC42E511FB}"/>
                </a:ext>
              </a:extLst>
            </p:cNvPr>
            <p:cNvCxnSpPr>
              <a:cxnSpLocks/>
            </p:cNvCxnSpPr>
            <p:nvPr/>
          </p:nvCxnSpPr>
          <p:spPr>
            <a:xfrm>
              <a:off x="9106624" y="1548658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126E32A-0A1E-4A6D-34E9-0E4781BAA5DD}"/>
                </a:ext>
              </a:extLst>
            </p:cNvPr>
            <p:cNvSpPr txBox="1"/>
            <p:nvPr/>
          </p:nvSpPr>
          <p:spPr>
            <a:xfrm>
              <a:off x="9178948" y="1516942"/>
              <a:ext cx="295720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Ⅲ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Shape 4"/>
          <p:cNvSpPr/>
          <p:nvPr/>
        </p:nvSpPr>
        <p:spPr>
          <a:xfrm>
            <a:off x="463296" y="1682496"/>
            <a:ext cx="3657600" cy="442803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/>
          <a:lstStyle/>
          <a:p>
            <a:endParaRPr lang="ko-KR" altLang="en-US" sz="3200"/>
          </a:p>
        </p:txBody>
      </p:sp>
      <p:sp>
        <p:nvSpPr>
          <p:cNvPr id="7" name="Shape 5"/>
          <p:cNvSpPr/>
          <p:nvPr/>
        </p:nvSpPr>
        <p:spPr>
          <a:xfrm>
            <a:off x="609600" y="1828800"/>
            <a:ext cx="3364992" cy="414528"/>
          </a:xfrm>
          <a:prstGeom prst="roundRect">
            <a:avLst>
              <a:gd name="adj" fmla="val 14706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8" name="Text 6"/>
          <p:cNvSpPr txBox="1"/>
          <p:nvPr/>
        </p:nvSpPr>
        <p:spPr>
          <a:xfrm>
            <a:off x="763928" y="1828800"/>
            <a:ext cx="3210663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담당자</a:t>
            </a:r>
            <a:endParaRPr lang="en-US" sz="1267" dirty="0"/>
          </a:p>
        </p:txBody>
      </p:sp>
      <p:sp>
        <p:nvSpPr>
          <p:cNvPr id="9" name="Text 7"/>
          <p:cNvSpPr txBox="1"/>
          <p:nvPr/>
        </p:nvSpPr>
        <p:spPr>
          <a:xfrm>
            <a:off x="646176" y="207838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판정 지연 없음 — 규칙이 즉시 결정</a:t>
            </a:r>
            <a:endParaRPr lang="en-US" sz="1133" dirty="0"/>
          </a:p>
        </p:txBody>
      </p:sp>
      <p:sp>
        <p:nvSpPr>
          <p:cNvPr id="10" name="Text 8"/>
          <p:cNvSpPr txBox="1"/>
          <p:nvPr/>
        </p:nvSpPr>
        <p:spPr>
          <a:xfrm>
            <a:off x="646176" y="231682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완전 온프레미스 — 보안구역에서도 동작</a:t>
            </a:r>
            <a:endParaRPr lang="en-US" sz="1133" dirty="0"/>
          </a:p>
        </p:txBody>
      </p:sp>
      <p:sp>
        <p:nvSpPr>
          <p:cNvPr id="11" name="Text 9"/>
          <p:cNvSpPr txBox="1"/>
          <p:nvPr/>
        </p:nvSpPr>
        <p:spPr>
          <a:xfrm>
            <a:off x="646176" y="2568109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고위험 장비제어는 승인대기로 안전하게</a:t>
            </a:r>
            <a:endParaRPr lang="en-US" sz="1133" dirty="0"/>
          </a:p>
        </p:txBody>
      </p:sp>
      <p:sp>
        <p:nvSpPr>
          <p:cNvPr id="12" name="Text 10"/>
          <p:cNvSpPr txBox="1"/>
          <p:nvPr/>
        </p:nvSpPr>
        <p:spPr>
          <a:xfrm>
            <a:off x="646176" y="2801113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알림 문구에 근거 문서 인용 포함</a:t>
            </a:r>
            <a:endParaRPr lang="en-US" sz="1133" dirty="0"/>
          </a:p>
        </p:txBody>
      </p:sp>
      <p:sp>
        <p:nvSpPr>
          <p:cNvPr id="13" name="Shape 11"/>
          <p:cNvSpPr/>
          <p:nvPr/>
        </p:nvSpPr>
        <p:spPr>
          <a:xfrm>
            <a:off x="4389120" y="1682496"/>
            <a:ext cx="3657600" cy="442803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/>
          <a:lstStyle/>
          <a:p>
            <a:endParaRPr lang="ko-KR" altLang="en-US" sz="3200"/>
          </a:p>
        </p:txBody>
      </p:sp>
      <p:sp>
        <p:nvSpPr>
          <p:cNvPr id="14" name="Shape 12"/>
          <p:cNvSpPr/>
          <p:nvPr/>
        </p:nvSpPr>
        <p:spPr>
          <a:xfrm>
            <a:off x="4535424" y="1828800"/>
            <a:ext cx="3364992" cy="414528"/>
          </a:xfrm>
          <a:prstGeom prst="roundRect">
            <a:avLst>
              <a:gd name="adj" fmla="val 14706"/>
            </a:avLst>
          </a:prstGeom>
          <a:solidFill>
            <a:srgbClr val="4A7CC7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5" name="Text 13"/>
          <p:cNvSpPr txBox="1"/>
          <p:nvPr/>
        </p:nvSpPr>
        <p:spPr>
          <a:xfrm>
            <a:off x="4535424" y="1828800"/>
            <a:ext cx="3364992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· 교육 현장</a:t>
            </a:r>
            <a:endParaRPr lang="en-US" sz="1267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07838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RAG는 출처 인용 — 근거 기반 학습</a:t>
            </a:r>
            <a:endParaRPr lang="en-US" sz="1133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31682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Claude 3종 비교로 비용·품질을 투명하게 확인</a:t>
            </a:r>
            <a:endParaRPr lang="en-US" sz="1133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568109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근거 기반 퀴즈로 암기가 아닌 확인 학습</a:t>
            </a:r>
            <a:endParaRPr lang="en-US" sz="1133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801113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파인튜닝 단독 답변과 대조해 환각을 직접 체감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8314944" y="1682496"/>
            <a:ext cx="3657600" cy="442803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/>
          <a:lstStyle/>
          <a:p>
            <a:endParaRPr lang="ko-KR" altLang="en-US" sz="3200"/>
          </a:p>
        </p:txBody>
      </p:sp>
      <p:sp>
        <p:nvSpPr>
          <p:cNvPr id="21" name="Shape 19"/>
          <p:cNvSpPr/>
          <p:nvPr/>
        </p:nvSpPr>
        <p:spPr>
          <a:xfrm>
            <a:off x="8461248" y="1828800"/>
            <a:ext cx="3364992" cy="414528"/>
          </a:xfrm>
          <a:prstGeom prst="roundRect">
            <a:avLst>
              <a:gd name="adj" fmla="val 14706"/>
            </a:avLst>
          </a:prstGeom>
          <a:solidFill>
            <a:srgbClr val="1C2B4A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Text 20"/>
          <p:cNvSpPr txBox="1"/>
          <p:nvPr/>
        </p:nvSpPr>
        <p:spPr>
          <a:xfrm>
            <a:off x="8461248" y="1828800"/>
            <a:ext cx="3364992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사업 측</a:t>
            </a:r>
            <a:endParaRPr lang="en-US" sz="1267" dirty="0"/>
          </a:p>
        </p:txBody>
      </p:sp>
      <p:sp>
        <p:nvSpPr>
          <p:cNvPr id="23" name="Text 21"/>
          <p:cNvSpPr txBox="1"/>
          <p:nvPr/>
        </p:nvSpPr>
        <p:spPr>
          <a:xfrm>
            <a:off x="8497824" y="207838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기존 엣지 하드웨어·입찰 자산과 결합 가능한 실증 사례</a:t>
            </a:r>
            <a:endParaRPr lang="en-US" sz="1133" dirty="0"/>
          </a:p>
        </p:txBody>
      </p:sp>
      <p:sp>
        <p:nvSpPr>
          <p:cNvPr id="24" name="Text 22"/>
          <p:cNvSpPr txBox="1"/>
          <p:nvPr/>
        </p:nvSpPr>
        <p:spPr>
          <a:xfrm>
            <a:off x="8497824" y="2316827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온프레미스 sLLM 레퍼런스 아키텍처 확보</a:t>
            </a:r>
            <a:endParaRPr lang="en-US" sz="1133" dirty="0"/>
          </a:p>
        </p:txBody>
      </p:sp>
      <p:sp>
        <p:nvSpPr>
          <p:cNvPr id="25" name="Text 23"/>
          <p:cNvSpPr txBox="1"/>
          <p:nvPr/>
        </p:nvSpPr>
        <p:spPr>
          <a:xfrm>
            <a:off x="8497824" y="2568109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8개 서비스 무인 운영 검증됨(systemd)</a:t>
            </a:r>
            <a:endParaRPr lang="en-US" sz="1133" dirty="0"/>
          </a:p>
        </p:txBody>
      </p:sp>
      <p:sp>
        <p:nvSpPr>
          <p:cNvPr id="26" name="Text 24"/>
          <p:cNvSpPr txBox="1"/>
          <p:nvPr/>
        </p:nvSpPr>
        <p:spPr>
          <a:xfrm>
            <a:off x="8497824" y="2801113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CI/CD·레지스트리·모니터링 등 표준 MLOps 완비</a:t>
            </a:r>
            <a:endParaRPr lang="en-US" sz="1133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8B9FB889-9482-022F-67D9-22251C8A7C49}"/>
              </a:ext>
            </a:extLst>
          </p:cNvPr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기대 효과</a:t>
            </a:r>
            <a:r>
              <a:rPr lang="ko-KR" altLang="en-US" sz="1400" b="1" kern="0" spc="-150" dirty="0"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F4078427-8F2B-BE28-F798-B24298BFF890}"/>
              </a:ext>
            </a:extLst>
          </p:cNvPr>
          <p:cNvSpPr/>
          <p:nvPr/>
        </p:nvSpPr>
        <p:spPr>
          <a:xfrm>
            <a:off x="548639" y="649224"/>
            <a:ext cx="11405235" cy="0"/>
          </a:xfrm>
          <a:prstGeom prst="line">
            <a:avLst/>
          </a:prstGeom>
          <a:noFill/>
          <a:ln w="3175">
            <a:solidFill>
              <a:srgbClr val="1A233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FA9352B7-C8D9-B407-6056-37D8E2CC10B9}"/>
              </a:ext>
            </a:extLst>
          </p:cNvPr>
          <p:cNvSpPr/>
          <p:nvPr/>
        </p:nvSpPr>
        <p:spPr>
          <a:xfrm>
            <a:off x="548640" y="74747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세 그룹 모두에게 실제로 남는 것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/>
            </a:r>
            <a:endParaRPr lang="ko-KR" altLang="en-US" sz="2400" b="1" dirty="0">
              <a:solidFill>
                <a:srgbClr val="0070C0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8070AE10-80D9-2A23-D9BC-DF0F66B35CA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900" dirty="0">
                <a:solidFill>
                  <a:srgbClr val="5B6672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18</a:t>
            </a:r>
            <a:endParaRPr lang="en-US" sz="9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E59986B4-B719-8DCB-7F82-CFF0E9617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28" y="3551229"/>
            <a:ext cx="3095944" cy="232195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1E392A2-8A24-AAD5-6612-070591D6B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039" y="3483828"/>
            <a:ext cx="3188872" cy="239165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DDE3B977-F368-E47F-708B-0E2C91617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892" y="3483828"/>
            <a:ext cx="3185812" cy="2389359"/>
          </a:xfrm>
          <a:prstGeom prst="rect">
            <a:avLst/>
          </a:prstGeom>
        </p:spPr>
      </p:pic>
      <p:sp>
        <p:nvSpPr>
          <p:cNvPr id="47" name="Text 19">
            <a:extLst>
              <a:ext uri="{FF2B5EF4-FFF2-40B4-BE49-F238E27FC236}">
                <a16:creationId xmlns:a16="http://schemas.microsoft.com/office/drawing/2014/main" id="{F7A9F5EF-FF8F-B47E-6047-671FCA521DBF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 교육자료</a:t>
            </a:r>
            <a:r>
              <a:rPr lang="ko-KR" altLang="en-US" sz="900" dirty="0" err="1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ko-KR" altLang="en-US" sz="900" dirty="0">
                <a:solidFill>
                  <a:srgbClr val="5B667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09F30E5-2A78-6E72-67C1-8F8E659BB175}"/>
              </a:ext>
            </a:extLst>
          </p:cNvPr>
          <p:cNvGrpSpPr/>
          <p:nvPr/>
        </p:nvGrpSpPr>
        <p:grpSpPr>
          <a:xfrm>
            <a:off x="9774310" y="362934"/>
            <a:ext cx="2179564" cy="295434"/>
            <a:chOff x="8336310" y="1506379"/>
            <a:chExt cx="2179564" cy="29543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89FA63C-C3AC-1376-B05B-3CC7601BE0BC}"/>
                </a:ext>
              </a:extLst>
            </p:cNvPr>
            <p:cNvGrpSpPr/>
            <p:nvPr/>
          </p:nvGrpSpPr>
          <p:grpSpPr>
            <a:xfrm>
              <a:off x="9560948" y="1524814"/>
              <a:ext cx="954926" cy="276999"/>
              <a:chOff x="9975479" y="1218128"/>
              <a:chExt cx="954926" cy="276999"/>
            </a:xfrm>
          </p:grpSpPr>
          <p:sp>
            <p:nvSpPr>
              <p:cNvPr id="48" name="사각형: 잘린 한쪽 모서리 13">
                <a:extLst>
                  <a:ext uri="{FF2B5EF4-FFF2-40B4-BE49-F238E27FC236}">
                    <a16:creationId xmlns:a16="http://schemas.microsoft.com/office/drawing/2014/main" id="{A983D92E-7383-3F7C-9A59-2C182D37E3D6}"/>
                  </a:ext>
                </a:extLst>
              </p:cNvPr>
              <p:cNvSpPr/>
              <p:nvPr/>
            </p:nvSpPr>
            <p:spPr>
              <a:xfrm rot="10800000">
                <a:off x="9986500" y="1218128"/>
                <a:ext cx="893082" cy="266733"/>
              </a:xfrm>
              <a:prstGeom prst="snip1Rect">
                <a:avLst>
                  <a:gd name="adj" fmla="val 46697"/>
                </a:avLst>
              </a:prstGeom>
              <a:solidFill>
                <a:srgbClr val="1A2332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CF133C2-3D2C-B370-4560-863464CA3492}"/>
                  </a:ext>
                </a:extLst>
              </p:cNvPr>
              <p:cNvSpPr txBox="1"/>
              <p:nvPr/>
            </p:nvSpPr>
            <p:spPr>
              <a:xfrm>
                <a:off x="9975479" y="1218128"/>
                <a:ext cx="9549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함초롬바탕" panose="02030604000101010101" pitchFamily="18" charset="-127"/>
                  </a:rPr>
                  <a:t>Ⅳ 확장전략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/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C25659-32FE-9BC0-25FD-165B0FBE2D95}"/>
                </a:ext>
              </a:extLst>
            </p:cNvPr>
            <p:cNvSpPr txBox="1"/>
            <p:nvPr/>
          </p:nvSpPr>
          <p:spPr>
            <a:xfrm>
              <a:off x="8336310" y="1506379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Ⅰ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5" name="직선 연결선 7">
              <a:extLst>
                <a:ext uri="{FF2B5EF4-FFF2-40B4-BE49-F238E27FC236}">
                  <a16:creationId xmlns:a16="http://schemas.microsoft.com/office/drawing/2014/main" id="{1B67C181-A18B-0F02-22EA-314D4F4F8103}"/>
                </a:ext>
              </a:extLst>
            </p:cNvPr>
            <p:cNvCxnSpPr>
              <a:cxnSpLocks/>
            </p:cNvCxnSpPr>
            <p:nvPr/>
          </p:nvCxnSpPr>
          <p:spPr>
            <a:xfrm>
              <a:off x="8657475" y="1548658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744808-3098-B6BB-9290-F40A07215807}"/>
                </a:ext>
              </a:extLst>
            </p:cNvPr>
            <p:cNvSpPr txBox="1"/>
            <p:nvPr/>
          </p:nvSpPr>
          <p:spPr>
            <a:xfrm>
              <a:off x="8713892" y="1510126"/>
              <a:ext cx="32116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Ⅱ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28" name="직선 연결선 9">
              <a:extLst>
                <a:ext uri="{FF2B5EF4-FFF2-40B4-BE49-F238E27FC236}">
                  <a16:creationId xmlns:a16="http://schemas.microsoft.com/office/drawing/2014/main" id="{EF7E16FA-FD02-1565-33CA-904E0128316F}"/>
                </a:ext>
              </a:extLst>
            </p:cNvPr>
            <p:cNvCxnSpPr>
              <a:cxnSpLocks/>
            </p:cNvCxnSpPr>
            <p:nvPr/>
          </p:nvCxnSpPr>
          <p:spPr>
            <a:xfrm>
              <a:off x="9106624" y="1548658"/>
              <a:ext cx="0" cy="208781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55552C-4113-7A0A-DCA2-5DB43DD34D43}"/>
                </a:ext>
              </a:extLst>
            </p:cNvPr>
            <p:cNvSpPr txBox="1"/>
            <p:nvPr/>
          </p:nvSpPr>
          <p:spPr>
            <a:xfrm>
              <a:off x="9178948" y="1516942"/>
              <a:ext cx="295720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Ⅲ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그림 77">
            <a:extLst>
              <a:ext uri="{FF2B5EF4-FFF2-40B4-BE49-F238E27FC236}">
                <a16:creationId xmlns:a16="http://schemas.microsoft.com/office/drawing/2014/main" id="{FBA992E6-8D14-ACA5-30B0-D29057188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0869FD-23E3-CAAF-2E2D-3219289AC91B}"/>
              </a:ext>
            </a:extLst>
          </p:cNvPr>
          <p:cNvSpPr txBox="1"/>
          <p:nvPr/>
        </p:nvSpPr>
        <p:spPr>
          <a:xfrm>
            <a:off x="3695700" y="5455955"/>
            <a:ext cx="480060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hlinkClick r:id="rId4"/>
              </a:rPr>
              <a:t>grib-arws-bot/mlops-edge-lab</a:t>
            </a:r>
            <a:endParaRPr lang="en-US" altLang="ko-KR" sz="1200" dirty="0">
              <a:solidFill>
                <a:prstClr val="black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완료 후 사내 교육자료로 정리 예정</a:t>
            </a:r>
            <a:r>
              <a:rPr lang="en-US" altLang="ko-KR" sz="1200" dirty="0">
                <a:solidFill>
                  <a:prstClr val="black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/>
            </a:r>
            <a:r>
              <a:rPr lang="ko-KR" altLang="en-US" sz="1200" dirty="0">
                <a:solidFill>
                  <a:prstClr val="black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/>
            </a:r>
            <a:r>
              <a:rPr lang="en-US" altLang="ko-KR" sz="1200" dirty="0">
                <a:solidFill>
                  <a:prstClr val="black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/>
            </a:r>
            <a:r>
              <a:rPr lang="ko-KR" altLang="en-US" sz="1200" dirty="0">
                <a:solidFill>
                  <a:prstClr val="black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/>
            </a:r>
            <a:endParaRPr lang="en-US" altLang="ko-KR" sz="1200" dirty="0">
              <a:solidFill>
                <a:prstClr val="black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2CB4E5-5EE9-ECD7-C163-3CE21C418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631" y="2443173"/>
            <a:ext cx="1328738" cy="1208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3936</TotalTime>
  <Words>2330</Words>
  <Application>Microsoft Office PowerPoint</Application>
  <PresentationFormat>와이드스크린</PresentationFormat>
  <Paragraphs>650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KoPubWorld돋움체 Bold</vt:lpstr>
      <vt:lpstr>KoPubWorld돋움체 Bold</vt:lpstr>
      <vt:lpstr>KoPubWorld돋움체 Medium</vt:lpstr>
      <vt:lpstr>KoPubWorld돋움체 Medium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MLOps-Edge-Lab 교육자료</dc:title>
  <dc:subject>MLOps 파이프라인 · 엣지 sLLM 구축기 — 개인 학습 프로젝트 사내 교육자료</dc:subject>
  <dc:creator>그립(Grib)</dc:creator>
  <cp:lastModifiedBy>택헌 안</cp:lastModifiedBy>
  <cp:revision>97</cp:revision>
  <dcterms:created xsi:type="dcterms:W3CDTF">2026-08-05T13:55:43Z</dcterms:created>
  <dcterms:modified xsi:type="dcterms:W3CDTF">2026-09-18T06:22:50Z</dcterms:modified>
</cp:coreProperties>
</file>