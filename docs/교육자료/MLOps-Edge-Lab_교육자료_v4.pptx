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67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6446520"/>
            <a:ext cx="11612880" cy="13716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chemeClr val="accent1">
                    <a:lumMod val="75000"/>
                  </a:schemeClr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Confidential</a:t>
            </a:r>
            <a:endParaRPr lang="en-US" sz="1000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682505F-77E2-EE7A-E86B-AD76951F06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6496574"/>
            <a:ext cx="356227" cy="32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sharp-cerf/mnt/Claude Skill/assets/cover-bg-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7874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S-P-N-D  AX </a:t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디지털전환</a:t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융합</a:t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 솔루션 전문기업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425166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</a:t>
            </a:r>
            <a:r>
              <a:rPr lang="ko-KR" altLang="en-US" sz="3600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006706" y="481215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 Everything, THINK Everyone"</a:t>
            </a:r>
            <a:endParaRPr 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6AE9AA-3895-F613-1011-A33956C2AE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0846" y="2471707"/>
            <a:ext cx="1803354" cy="180335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3356036-F9EB-FEE6-F68E-01E956DE7DD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854" y="71064"/>
            <a:ext cx="507681" cy="507681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F2F00B17-3F5A-98AD-FE53-4CEB8199B220}"/>
              </a:ext>
            </a:extLst>
          </p:cNvPr>
          <p:cNvSpPr/>
          <p:nvPr/>
        </p:nvSpPr>
        <p:spPr>
          <a:xfrm>
            <a:off x="457200" y="5021354"/>
            <a:ext cx="34497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2026년 09월</a:t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endParaRPr lang="en-US" altLang="ko-KR" sz="1600" dirty="0"/>
          </a:p>
          <a:p>
            <a:pPr marL="0" indent="0">
              <a:buNone/>
            </a:pPr>
            <a:endParaRPr lang="en-US" b="1" dirty="0">
              <a:solidFill>
                <a:srgbClr val="FFFFFF"/>
              </a:solidFill>
              <a:latin typeface="KoPubWorld돋움체 Bold" pitchFamily="34" charset="0"/>
              <a:ea typeface="KoPubWorld돋움체 Bold" pitchFamily="34" charset="-122"/>
              <a:cs typeface="KoPubWorld돋움체 Bold" pitchFamily="34" charset="-12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</a:t>
            </a:r>
            <a:r>
              <a:rPr lang="en-US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 그립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365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S.P.N.D. 디지털전환 및 융합 솔루션 전문기업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 그립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시스템 개요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기술 구성과 선택 근거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0" y="3931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서비스 적용 사례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0EC8C7-390D-C1F1-1C7F-91AEB1D4AD8A}"/>
              </a:ext>
            </a:extLst>
          </p:cNvPr>
          <p:cNvSpPr txBox="1"/>
          <p:nvPr/>
        </p:nvSpPr>
        <p:spPr>
          <a:xfrm>
            <a:off x="1258264" y="1449590"/>
            <a:ext cx="276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Contents</a:t>
            </a:r>
            <a:endParaRPr lang="ko-KR" altLang="en-US" sz="3600" b="1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CFC66E-4BFE-1B11-B8E2-45F12D6FF684}"/>
              </a:ext>
            </a:extLst>
          </p:cNvPr>
          <p:cNvSpPr/>
          <p:nvPr/>
        </p:nvSpPr>
        <p:spPr>
          <a:xfrm>
            <a:off x="3712040" y="1449590"/>
            <a:ext cx="6218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2E7BB8">
              <a:alpha val="55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48640" y="1828800"/>
            <a:ext cx="9144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963271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914400" y="4754880"/>
            <a:ext cx="10058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(주)그립 (Grib Co., Ltd.)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서울특별시 서초구 효령로 242 서양빌딩 5층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sales@grib.co.kr · grib.co.kr · 02-521-6542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D221DC5-3C6D-0BCD-AEC3-78738031B6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9699" y="3218599"/>
            <a:ext cx="1444842" cy="14448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핵심 지표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606040" cy="109728"/>
          </a:xfrm>
          <a:prstGeom prst="rect">
            <a:avLst/>
          </a:prstGeom>
          <a:solidFill>
            <a:srgbClr val="2E7BB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738건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안전문서 추출 (99.9%)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377440"/>
            <a:ext cx="2606040" cy="109728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3756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12,964개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RAG 검색 청크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606040" cy="109728"/>
          </a:xfrm>
          <a:prstGeom prst="rect">
            <a:avLst/>
          </a:prstGeom>
          <a:solidFill>
            <a:srgbClr val="266F9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3.2배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양자화 압축 (7.5GB→2.3GB)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2377440"/>
            <a:ext cx="2606040" cy="109728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9828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9828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3.7배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09828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GPU 추론 가속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핵심 지표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온프레미스·엣지 환경에서 규칙 기반 판정과 LLM을 결합한 sLLM 플랫폼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사업 배경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사업 배경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정부과제·잠재고객 수요와 온프레미스 제약이 만나는 지점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왜 시작했나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정부과제·잠재고객 sLLM 수요 증가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AI 성능·데이터 보안 관점 온프레미스 요구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sLLM이 부가 기능으로 요청되는 경우 증가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1인 개발, 온프레미스 GPU 서버 1대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왜 온프레미스·오프라인 우선인가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산업 현장은 네트워크 단절·통신차단 흔함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클라우드 LLM을 아예 못 쓰는 조건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안전 가이드라인 문서를 다수 확보 가능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완전 폐쇄망에서도 동작하는 게 목표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전체 흐름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전체 흐름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추출부터 운영까지 — 8단계가 순서대로 이어진다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43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1.개발환경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359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2.데이터추출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9261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4075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3.모델+파인튜닝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977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7791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4.양자화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693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1507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5.RAG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409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223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6.Agent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125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8939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7.엣지에뮬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841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2655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8.운영인프라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1557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64311" y="4160520"/>
            <a:ext cx="108630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95959"/>
                </a:solidFill>
              </a:rPr>
              <a:t>↺ 6→2/3단계: 운영 중 쌓인 피드백을 다시 학습 데이터로 반영(자동화 완료)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목표와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목표와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두 가지 목표를 네 가지 설계 원칙이 관통한다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목표 ① MLOps 파이프라인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실험관리(MLflow) → 학습 → 평가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배포(모델 레지스트리) → 모니터링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Prometheus+Grafana로 운영 지표 실시간 확인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평가 기준 미달 시 자동 재학습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목표 ② 엣지 sLLM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양자화(Q4_K_M)로 경량화, GPU 없이도 동작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cgroup 에뮬레이션으로 저사양 환경 하한선 추정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규칙+LLM 역할 분리로 안전한 자동 판단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설계 철학 — 온프레미스·오프라인 우선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개발 환경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개발 환경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실험 재현성과 배포 안정성을 우선한 개발 환경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결정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선택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이유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실행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AI 서버 하나로 통일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로컬에서 학습·추론·서빙 안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grib-ai-server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환경관리자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uv (venv/conda 대신)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lock 파일로 실험 재현성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MLflow 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조건 검색에 유리, 백업 쉬움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mlflow.db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상시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tmux → systemd --user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재부팅에도 살아남게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Restart=always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데이터 추출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데이터 추출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포맷별 폴백 사슬과 조용한 실패 금지 원칙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결정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선택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이유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PDF 라이브러리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pymupdf(fitz)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OCR용 렌더링 겸용, 외부도구 불필요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레거시 포맷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LibreOffice→PDF 변환 후 재사용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포맷별 전용 파서 불필요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HWP/DOC/XLS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HWP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pyhwp 1차, LibreOffice 2차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더 가볍고 변환 품질 안정적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확장자 오표기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매직바이트로 실제 구조 재확인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확장자만으로는 신뢰 불가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.hwpx가 실제 OLE인 사례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738/738건 성공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2-2. 센서 데이터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2-2. 센서 데이터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3개 카테고리, 임계값은 실제 법령 기준으로 교체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카테고리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측정 물질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단위 예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임계값 근거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공기질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온도·습도·미세먼지·CO2·TVOC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℃/%/㎍/m³/ppm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KOSHA·실내공기질관리법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6개 물질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가스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산소(O2)·수소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%/%LEL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산업안전보건기준 제618조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질식 위험 중심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조리흄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포름알데히드 등 9종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ppm/ng·mg/m³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고용노동부 노출기준 고시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4종은 근사값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구조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헬륨·질소·아르곤 → 산소(O2) 통합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단순 질식제라 개별기준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산소결핍 18% 미만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모델 선정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모델 선정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라이선스·한국어 품질·크기 — 세 기준으로 Qwen3 채택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채택 기준 3가지 — 라이선스·한국어 품질·크기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① 상업적 이용 가능한 라이선스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② 한국어 품질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③ 엣지 배포 가능한 크기(1~3B급)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GPU 서버용 대형 모델도 같은 계열이면 유리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제외된 후보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EXAONE — 한국어 최고, 비상업 전용이라 제외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Upstage Solar — 최소 10.7B, 엣지에 부적합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DeepSeek V4 — 라이선스는 깨끗하나 한국어 불확실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채택 — Qwen/Qwen3-4B-Instruct-2507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모델 비교표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모델 비교표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4개 후보의 라이선스·한국어 품질 정량 비교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모델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기업/국가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라이선스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한국어 품질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결과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Qwen3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Alibaba·중국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Apache 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다국어 최상위권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채택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EXAONE 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LG AI연구원·한국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비상업 전용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한국어 최상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제외(라이선스)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Upstage Solar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Upstage·한국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조건부 상업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우수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제외(최소10.7B)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Gemma 3/4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Google·미국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조건부 상업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양호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차선책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3-2. 파인튜닝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3-2. 파인튜닝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현장 알림체를 소량 예시로 가르치는 LoRA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왜 필요했나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기본 모델은 일반적 문장만 생성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"3동 2층 화기작업구역..." 같은 간결한 알림체 필요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LoRA — 모델 전체가 아닌 보정 레이어만 학습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r=16, alpha=32, bf16(양자화 없음)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효과 (정직하게 두 가지로)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배관검증용 — 합성 32건 5에포크, 품질지표 아님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실제 개선폭 — 안전 도메인 ROUGE-L 0.525→0.719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한계 — 합성 데이터라 실사용 품질보증 아님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에듀 도메인은 별도 실측 0.239→0.373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양자화 방식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양자화 방식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K-quant 계열에서 크기·품질 균형점을 찾는다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방식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계열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크기(4B 기준)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품질 손실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F16(무양자화)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~8.0GB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없음(기준)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GPU 서버 학습용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Q5_K_M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K-quant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~2.7GB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적음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품질 우선 대안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Q4_K_M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K-quant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~2.4GB(실측)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적당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채택 · 범용 기본값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Q3_K_M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K-quant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~1.9GB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눈에 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RAM 빠듯한 엣지용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실측 결과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실측 결과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같은 GGUF 파일 하나로 CPU·GPU 둘 다 동작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압축 전후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f16 7.5GB → Q4_K_M 2.3GB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약 3.2배 압축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CPU에서 정확한 문장 생성 확인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범용 기본값으로 유지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CPU vs GPU 벤치마크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CPU(Xeon Silver, 8스레드): 23.6 tok/s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GPU(RTX 4000 Ada): 87.0 tok/s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배율 약 3.7배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같은 파일을 두 백엔드가 그대로 사용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RAG 파이프라인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RAG 파이프라인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근거 없이는 답하지 않는 검색 결합 생성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구성요소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역할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청킹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문단 슬라이딩윈도우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문서를 검색 단위로 분할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12,964개 청크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738건 문서 기준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임베딩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multilingual-e5-small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의미 기반 벡터화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다국어 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FAISS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최근접 벡터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hit_rate@4 = 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골든셋 평가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sLLM(Qwen3)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검색결과 근거로 답변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근거 없으면 모른다고 답함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할루시네이션 방지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6. Agent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 Agent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판정은 규칙, 서술은 LLM, 고위험은 사람이 승인한다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규칙 우선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초과·위험도 판정은 코드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장비 제어도 규칙이 즉시 실행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LLM은 판정을 재수행하지 않음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근거 기반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RAG 검색 결과 없이 답하지 않음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도구 호출 여부는 LLM 자율판단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할루시네이션 방지 핵심 장치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승인 체계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저위험 장비는 자동 실행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고위험은 사람 승인 대기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Human-in-the-loop 전 도메인 공통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6. Agent 역할 분리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 Agent 역할 분리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같은 상황도 담당 주체에 따라 처리 방식이 다르다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역할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담당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설명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권한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판정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규칙(rules.judge)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초과 여부·위험도 계산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LLM이 재판정 안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도구호출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search_guidelines 호출여부·검색어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자율판단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저위험 장비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즉시 자동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환풍기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고위험 장비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사람 승인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자동 실행 안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가스차단기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사람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7. 엣지 에뮬레이션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7. 엣지 에뮬레이션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실제 하드웨어 없이 성능 하한선을 추정한다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cgroup(systemd-run)으로 CPU·메모리 제한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재현 가능 — CPU 코어 수, 메모리 상한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재현 불가 — 명령어셋(AVX-512), 디스크 I/O, 발열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그래서 정확한 예측이 아니라 하한선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실측치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실측 결과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2코어/32GB → tg 7.32 tok/s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48코어 서버 CPU 벤치(19.1 tok/s)보다 낙관적일 수 있음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진짜 엣지 하드웨어 확보 전까지는 참고치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다음 단계 — 실제 하드웨어 확보 후 재검증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8. 운영 인프라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8. 운영 인프라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 레지스트리부터 CI/CD까지 표준 MLOps 갭을 채운다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갭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도구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역할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모델 레지스트리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MLflow Model Registry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성능 기준 통과 모델만 Production 승격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train/auto_retrain.py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모니터링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Prometheus + Grafana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서비스 상태·요청량·지연시간 실시간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/metrics 엔드포인트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데이터 버저닝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DVC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대용량 학습 데이터 버전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로컬 원격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CI/CD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GitHub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push마다 테스트→자동 배포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테스트~배포 27초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사업 기회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사업 기회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산업안전·제조AX·에듀테크 세 영역에서 실제 수요 확인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한국수자원공사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온프레미스 실험실 안전 대응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자연어 기반 안내·질의응답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산업안전 Agent와 동일 구조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강원 AX 화장품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AX 팩토리 Layer-4 AI Agent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운영자용 자연어 대시보드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개념검증(PoC) 완료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클랙스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단순 에듀테크가 아닌 AI융합교육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AI튜터·AI토론이 실제 사례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완전 오프라인 동작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스마트팩토리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스마트팩토리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설비·SOP만 교체하면 같은 Agent 구조를 재사용한다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목적 — 화장품 AX 패턴의 일반화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설비군·센서 종류·SOP만 교체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EQUIPMENT_MAP·SOP_RANGES가 이미 설정 기반 구조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제안서에도 Config 기반 아키텍처로 확장 반영 명시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Human-in-the-loop 원칙 동일 적용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단계별 변경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데이터 = PLC/MES 시계열, RAG = 설비 SOP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Agent = 예지보전 알람 + 승인 워크플로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나머지(개발환경·양자화·엣지에뮬·운영인프라)는 동일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구현 상태 — 개념검증(화장품 AX PoC)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AX 에듀테크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AX 에듀테크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AI튜터·AI토론이 이미 실제 사례다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목적 — 단순 에듀테크가 아닌 AI융합교육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AI튜터(RAG+LoRA)·AI토론이 실제 사례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완전 오프라인 동작(학교 네트워크 제약 대응)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학생 개인정보 서버 미전송(localStorage)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실측 ROUGE-L 0.239→0.373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단계별 변경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데이터 = 교과서·교육과정, RAG = 경제·지리 지식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Agent = 오답노트+학습진도 추적(장비제어 없음)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나머지는 동일 플랫폼 재사용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구현 상태 — 완전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AI 추천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AI 추천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아직 미구현 — 원칙이 통할지에 대한 사고 실험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목적 — 추천 이유를 설명 가능한 AI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판정/추천은 규칙·통계 모델, 설명은 LLM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이 프로젝트의 핵심 원칙과 자연스럽게 겹침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"근거 없으면 모른다"가 설명가능AI 요구와 일치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실제 구현된 것은 전혀 없음(가설 단계)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단계별 변경(가설)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데이터 = 사용자 행동 로그, RAG = 상품 카탈로그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cold-start·대규모 협업필터링은 검토 안 됨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Agent = 추천 스코어 인용 후 이유 설명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구현 상태 — 미구현(사고 실험)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관통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관통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규칙 우선 · 근거 기반 · 실측 우선 · 정직한 기록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관통한 설계 원칙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규칙 우선, LLM은 보조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근거 없으면 모른다고 답함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주장보다 실측 수치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실패도 숨기지 않고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앞으로의 확장 방향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실제 엣지 하드웨어 확보 후 재검증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센서 임계값을 정식 안전보건기준으로 교체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운영 피드백 루프의 자동 재학습 확장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신규 사업 기회 3건 실증 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520</Words>
  <Application>Microsoft Office PowerPoint</Application>
  <PresentationFormat>와이드스크린</PresentationFormat>
  <Paragraphs>125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KoPubWorld돋움체 Bold</vt:lpstr>
      <vt:lpstr>KoPubWorld돋움체 Medium</vt:lpstr>
      <vt:lpstr>KoPub돋움체 Medium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Grib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Grib 표준 PPT 데모 (전체 레이아웃)</dc:title>
  <dc:subject/>
  <dc:creator>(주)그립</dc:creator>
  <cp:lastModifiedBy>Jeffrey Ahn</cp:lastModifiedBy>
  <cp:revision>4</cp:revision>
  <dcterms:created xsi:type="dcterms:W3CDTF">2026-06-15T09:39:04Z</dcterms:created>
  <dcterms:modified xsi:type="dcterms:W3CDTF">2026-06-15T10:50:39Z</dcterms:modified>
</cp:coreProperties>
</file>