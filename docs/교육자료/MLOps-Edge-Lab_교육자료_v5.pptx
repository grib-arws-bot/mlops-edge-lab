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67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74320" y="6446520"/>
            <a:ext cx="11612880" cy="13716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0" y="6519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0" i="1" dirty="0">
                <a:solidFill>
                  <a:schemeClr val="accent1">
                    <a:lumMod val="75000"/>
                  </a:schemeClr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Confidential</a:t>
            </a:r>
            <a:endParaRPr lang="en-US" sz="1000" b="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682505F-77E2-EE7A-E86B-AD76951F06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" y="6496574"/>
            <a:ext cx="356227" cy="324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5C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nice-sharp-cerf/mnt/Claude Skill/assets/cover-bg-c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578745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S-P-N-D  AX </a:t>
            </a:r>
            <a:r>
              <a:rPr lang="en-US" sz="1600" dirty="0" err="1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디지털전환</a:t>
            </a: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융합</a:t>
            </a:r>
            <a:r>
              <a:rPr 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 솔루션 전문기업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457200" y="1425166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MLOps-Edge-Lab</a:t>
            </a:r>
            <a:r>
              <a:rPr lang="ko-KR" altLang="en-US" sz="3600" b="1" dirty="0" err="1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r>
              <a:rPr lang="en-US" altLang="ko-KR" sz="3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/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7006706" y="481215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"LINK Everything, THINK Everyone"</a:t>
            </a:r>
            <a:endParaRPr lang="en-US" sz="16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16AE9AA-3895-F613-1011-A33956C2AEB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50846" y="2471707"/>
            <a:ext cx="1803354" cy="180335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3356036-F9EB-FEE6-F68E-01E956DE7DD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854" y="71064"/>
            <a:ext cx="507681" cy="507681"/>
          </a:xfrm>
          <a:prstGeom prst="rect">
            <a:avLst/>
          </a:prstGeom>
        </p:spPr>
      </p:pic>
      <p:sp>
        <p:nvSpPr>
          <p:cNvPr id="17" name="Text 1">
            <a:extLst>
              <a:ext uri="{FF2B5EF4-FFF2-40B4-BE49-F238E27FC236}">
                <a16:creationId xmlns:a16="http://schemas.microsoft.com/office/drawing/2014/main" id="{F2F00B17-3F5A-98AD-FE53-4CEB8199B220}"/>
              </a:ext>
            </a:extLst>
          </p:cNvPr>
          <p:cNvSpPr/>
          <p:nvPr/>
        </p:nvSpPr>
        <p:spPr>
          <a:xfrm>
            <a:off x="457200" y="5021354"/>
            <a:ext cx="344978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ko-KR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2026년 09월</a:t>
            </a:r>
            <a:r>
              <a:rPr lang="ko-KR" alt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r>
              <a:rPr lang="en-US" altLang="ko-KR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r>
              <a:rPr lang="ko-KR" altLang="en-US" sz="16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/>
            </a:r>
            <a:endParaRPr lang="en-US" altLang="ko-KR" sz="1600" dirty="0"/>
          </a:p>
          <a:p>
            <a:pPr marL="0" indent="0">
              <a:buNone/>
            </a:pPr>
            <a:endParaRPr lang="en-US" b="1" dirty="0">
              <a:solidFill>
                <a:srgbClr val="FFFFFF"/>
              </a:solidFill>
              <a:latin typeface="KoPubWorld돋움체 Bold" pitchFamily="34" charset="0"/>
              <a:ea typeface="KoPubWorld돋움체 Bold" pitchFamily="34" charset="-122"/>
              <a:cs typeface="KoPubWorld돋움체 Bold" pitchFamily="34" charset="-120"/>
            </a:endParaRPr>
          </a:p>
          <a:p>
            <a:pPr marL="0" indent="0">
              <a:buNone/>
            </a:pPr>
            <a:r>
              <a:rPr lang="en-US" b="1" dirty="0" err="1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주식회사</a:t>
            </a:r>
            <a:r>
              <a:rPr lang="en-US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 그립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274320" y="365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S.P.N.D. 디지털전환 및 융합 솔루션 전문기업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주식회사 그립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97680" y="219456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297680" y="2194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Ⅰ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0" y="21945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시스템 개요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97680" y="306324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297680" y="30632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Ⅱ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029200" y="30632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기술 구성과 선택 근거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97680" y="3931920"/>
            <a:ext cx="548640" cy="502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66F9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97680" y="3931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66F9F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Ⅲ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029200" y="3931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222222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서비스 적용 사례</a:t>
            </a:r>
            <a:endParaRPr lang="en-US" dirty="0"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0EC8C7-390D-C1F1-1C7F-91AEB1D4AD8A}"/>
              </a:ext>
            </a:extLst>
          </p:cNvPr>
          <p:cNvSpPr txBox="1"/>
          <p:nvPr/>
        </p:nvSpPr>
        <p:spPr>
          <a:xfrm>
            <a:off x="1258264" y="1449590"/>
            <a:ext cx="2764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Contents</a:t>
            </a:r>
            <a:endParaRPr lang="ko-KR" altLang="en-US" sz="3600" b="1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5CFC66E-4BFE-1B11-B8E2-45F12D6FF684}"/>
              </a:ext>
            </a:extLst>
          </p:cNvPr>
          <p:cNvSpPr/>
          <p:nvPr/>
        </p:nvSpPr>
        <p:spPr>
          <a:xfrm>
            <a:off x="3712040" y="1449590"/>
            <a:ext cx="62180" cy="50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0" y="0"/>
            <a:ext cx="6702552" cy="6858000"/>
          </a:xfrm>
          <a:prstGeom prst="rect">
            <a:avLst/>
          </a:prstGeom>
          <a:solidFill>
            <a:srgbClr val="2E7BB8">
              <a:alpha val="55000"/>
            </a:srgbClr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48640" y="1828800"/>
            <a:ext cx="9144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914400" y="1963271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8" name="Shape 5"/>
          <p:cNvSpPr/>
          <p:nvPr/>
        </p:nvSpPr>
        <p:spPr>
          <a:xfrm>
            <a:off x="914400" y="4754880"/>
            <a:ext cx="10058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(주)그립 (Grib Co., Ltd.)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53492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서울특별시 서초구 효령로 242 서양빌딩 5층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sales@grib.co.kr · grib.co.kr · 02-521-6542</a:t>
            </a:r>
            <a:endParaRPr lang="en-US" sz="12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D221DC5-3C6D-0BCD-AEC3-78738031B6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39699" y="3218599"/>
            <a:ext cx="1444842" cy="14448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Ⅰ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핵심 지표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606040" cy="109728"/>
          </a:xfrm>
          <a:prstGeom prst="rect">
            <a:avLst/>
          </a:prstGeom>
          <a:solidFill>
            <a:srgbClr val="2E7BB8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5720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738건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안전문서 추출 (99.9%)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37560" y="2377440"/>
            <a:ext cx="2606040" cy="109728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3756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33756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5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12,964개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3756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RAG 검색 청크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2606040" cy="109728"/>
          </a:xfrm>
          <a:prstGeom prst="rect">
            <a:avLst/>
          </a:prstGeom>
          <a:solidFill>
            <a:srgbClr val="266F9F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21792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21792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66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3.2배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21792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양자화 압축 (7.5GB→2.3GB)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98280" y="2377440"/>
            <a:ext cx="2606040" cy="109728"/>
          </a:xfrm>
          <a:prstGeom prst="rect">
            <a:avLst/>
          </a:prstGeom>
          <a:solidFill>
            <a:srgbClr val="00B050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98280" y="2487168"/>
            <a:ext cx="2606040" cy="3090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098280" y="2926080"/>
            <a:ext cx="2606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3.7배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9098280" y="46634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6464"/>
                </a:solidFill>
                <a:latin typeface="KoPubWorld돋움체 Medium" pitchFamily="34" charset="0"/>
                <a:ea typeface="KoPubWorld돋움체 Medium" pitchFamily="34" charset="-122"/>
                <a:cs typeface="KoPubWorld돋움체 Medium" pitchFamily="34" charset="-120"/>
              </a:rPr>
              <a:t>GPU 추론 가속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51967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6464"/>
                </a:solidFill>
                <a:latin typeface="KoPubWorld돋움체 Medium"/>
                <a:ea typeface="KoPubWorld돋움체 Medium"/>
                <a:cs typeface="KoPubWorld돋움체 Medium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핵심 지표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온프레미스·엣지 환경에서 규칙 기반 판정과 LLM을 결합한 sLLM 플랫폼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사업 배경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사업 배경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정부과제·잠재고객 수요와 온프레미스 제약이 만나는 지점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왜 시작했나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정부과제·잠재고객 sLLM 수요 증가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AI 성능·데이터 보안 관점 온프레미스 요구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sLLM이 부가 기능으로 요청되는 경우 증가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1인 개발, 온프레미스 GPU 서버 1대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왜 온프레미스·오프라인 우선인가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산업 현장은 네트워크 단절·통신차단 흔함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클라우드 LLM을 아예 못 쓰는 조건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안전 가이드라인 문서를 다수 확보 가능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완전 폐쇄망에서도 동작하는 게 목표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전체 흐름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전체 흐름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데이터 추출부터 운영까지 — 8단계가 순서대로 이어진다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643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1.개발환경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0359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2.데이터추출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9261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4075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3.모델+파인튜닝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32977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7791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4.양자화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693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1507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5.RAG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409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5223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6.Agent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4125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8939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7.엣지에뮬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7841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265511" y="2743200"/>
            <a:ext cx="1261872" cy="960120"/>
          </a:xfrm>
          <a:prstGeom prst="roundRect">
            <a:avLst/>
          </a:prstGeom>
          <a:solidFill>
            <a:srgbClr val="1F4E79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8.운영인프라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10155783" y="3223260"/>
            <a:ext cx="109728" cy="0"/>
          </a:xfrm>
          <a:prstGeom prst="line">
            <a:avLst/>
          </a:prstGeom>
          <a:ln w="28575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64311" y="4160520"/>
            <a:ext cx="1086307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i="1">
                <a:solidFill>
                  <a:srgbClr val="595959"/>
                </a:solidFill>
              </a:rPr>
              <a:t>↺ 6→2/3단계: 운영 중 쌓인 피드백을 다시 학습 데이터로 반영(자동화 완료)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Ⅰ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시스템 개요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목표와 원칙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목표와 원칙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두 가지 목표를 네 가지 설계 원칙이 관통한다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목표 ① MLOps 파이프라인 구축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실험관리(MLflow) → 학습 → 평가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배포(모델 레지스트리) → 모니터링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Prometheus+Grafana로 운영 지표 실시간 확인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평가 기준 미달 시 자동 재학습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목표 ② 엣지 sLLM 구축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양자화(Q4_K_M)로 경량화, GPU 없이도 동작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cgroup 에뮬레이션으로 저사양 환경 하한선 추정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규칙+LLM 역할 분리로 안전한 자동 판단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설계 철학 — 온프레미스·오프라인 우선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Ⅱ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개발 환경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개발 환경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실험 재현성과 배포 안정성을 우선한 개발 환경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결정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선택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이유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상태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실행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AI 서버 하나로 통일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로컬에서 학습·추론·서빙 안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grib-ai-server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환경관리자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uv (venv/conda 대신)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lock 파일로 실험 재현성 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MLflow backend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SQLite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조건 검색에 유리, 백업 쉬움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mlflow.db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상시 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tmux → systemd --user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재부팅에도 살아남게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Restart=always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데이터 추출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데이터 추출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포맷별 폴백 사슬과 조용한 실패 금지 원칙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결정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선택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이유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실측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PDF 라이브러리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pymupdf(fitz)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OCR용 렌더링 겸용, 외부도구 불필요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레거시 포맷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LibreOffice→PDF 변환 후 재사용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포맷별 전용 파서 불필요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HWP/DOC/XLS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HWP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pyhwp 1차, LibreOffice 2차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더 가볍고 변환 품질 안정적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확장자 오표기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매직바이트로 실제 구조 재확인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확장자만으로는 신뢰 불가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.hwpx가 실제 OLE인 사례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738/738건 성공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모델 선정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모델 선정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라이선스·한국어 품질·크기 — 세 기준으로 Qwen3 채택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채택 기준 3가지 — 라이선스·한국어 품질·크기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① 상업적 이용 가능한 라이선스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② 한국어 품질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③ 엣지 배포 가능한 크기(1~3B급)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GPU 서버용 대형 모델도 같은 계열이면 유리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제외된 후보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EXAONE — 한국어 최고, 비상업 전용이라 제외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Upstage Solar — 최소 10.7B, 엣지에 부적합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DeepSeek V4 — 라이선스는 깨끗하나 한국어 불확실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채택 — Qwen/Qwen3-4B-Instruct-2507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모델 비교표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모델 비교표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4개 후보의 라이선스·한국어 품질 정량 비교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모델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기업/국가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라이선스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한국어 품질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결과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Qwen3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Alibaba·중국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Apache 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다국어 최상위권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채택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EXAONE 4.0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LG AI연구원·한국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비상업 전용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한국어 최상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제외(라이선스)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Upstage Solar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Upstage·한국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조건부 상업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우수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제외(최소10.7B)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Gemma 3/4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Google·미국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조건부 상업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양호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차선책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3-2. 파인튜닝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3-2. 파인튜닝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현장 알림체를 소량 예시로 가르치는 LoRA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왜 필요했나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기본 모델은 일반적 문장만 생성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"3동 2층 화기작업구역..." 같은 간결한 알림체 필요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LoRA — 모델 전체가 아닌 보정 레이어만 학습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r=16, alpha=32, bf16(양자화 없음)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효과 (정직하게 두 가지로)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배관검증용 — 합성 32건 5에포크, 품질지표 아님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실제 개선폭 — 안전 도메인 ROUGE-L 0.525→0.719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한계 — 합성 데이터라 실사용 품질보증 아님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에듀 도메인은 별도 실측 0.239→0.373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양자화 방식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양자화 방식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K-quant 계열에서 크기·품질 균형점을 찾는다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방식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계열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크기(4B 기준)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품질 손실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F16(무양자화)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~8.0GB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없음(기준)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GPU 서버 학습용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Q5_K_M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K-quant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~2.7GB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적음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품질 우선 대안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Q4_K_M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K-quant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~2.4GB(실측)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적당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채택 · 범용 기본값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Q3_K_M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K-quant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~1.9GB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눈에 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RAM 빠듯한 엣지용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실측 결과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실측 결과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같은 GGUF 파일 하나로 CPU·GPU 둘 다 동작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압축 전후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f16 7.5GB → Q4_K_M 2.3GB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약 3.2배 압축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CPU에서 정확한 문장 생성 확인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범용 기본값으로 유지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CPU vs GPU 벤치마크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CPU(Xeon Silver, 8스레드): 23.6 tok/s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GPU(RTX 4000 Ada): 87.0 tok/s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배율 약 3.7배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같은 파일을 두 백엔드가 그대로 사용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5. RAG 파이프라인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5. RAG 파이프라인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근거 없이는 답하지 않는 검색 결합 생성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구성요소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기술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역할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실측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청킹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문단 슬라이딩윈도우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문서를 검색 단위로 분할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12,964개 청크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738건 문서 기준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임베딩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multilingual-e5-small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의미 기반 벡터화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다국어 지원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FAISS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최근접 벡터 검색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hit_rate@4 = 0.857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골든셋 평가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sLLM(Qwen3)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검색결과 근거로 답변 생성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근거 없으면 모른다고 답함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할루시네이션 방지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6. Agent 원칙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6. Agent 원칙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판정은 규칙, 서술은 LLM, 고위험은 사람이 승인한다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3575304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규칙 우선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초과·위험도 판정은 코드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장비 제어도 규칙이 즉시 실행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LLM은 판정을 재수행하지 않음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06824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06824" y="2011680"/>
            <a:ext cx="3575304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9704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근거 기반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4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RAG 검색 결과 없이 답하지 않음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도구 호출 여부는 LLM 자율판단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할루시네이션 방지 핵심 장치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56448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56448" y="2011680"/>
            <a:ext cx="3575304" cy="91440"/>
          </a:xfrm>
          <a:prstGeom prst="rect">
            <a:avLst/>
          </a:prstGeom>
          <a:solidFill>
            <a:srgbClr val="26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8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6F9F"/>
                </a:solidFill>
                <a:latin typeface="KoPubWorld돋움체 Medium"/>
                <a:ea typeface="KoPubWorld돋움체 Medium"/>
              </a:rPr>
              <a:t>승인 체계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저위험 장비는 자동 실행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고위험은 사람 승인 대기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Human-in-the-loop 전 도메인 공통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6. Agent 역할 분리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6. Agent 역할 분리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같은 상황도 담당 주체에 따라 처리 방식이 다르다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역할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담당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설명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권한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판정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규칙(rules.judge)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초과 여부·위험도 계산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LLM이 재판정 안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도구호출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LLM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search_guidelines 호출여부·검색어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자율판단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LLM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저위험 장비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규칙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즉시 자동 실행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환풍기 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코드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고위험 장비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사람 승인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자동 실행 안 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가스차단기 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사람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6-1. 센서 데이터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6-1. 센서 데이터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Agent 규칙판정(rules.judge)이 소비하는 3개 카테고리 정의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카테고리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측정 물질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단위 예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임계값 근거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공기질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온도·습도·PM10·PM2.5·CO2·TVOC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℃/%/㎍/m³/ppm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KOSHA 사무실 공기관리지침·실내공기질관리법 시행규칙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6개 물질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가스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산소(O2)·수소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%/%LEL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산업안전보건기준에 관한 규칙 제618조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산소는 낮을수록 위험(판정 로직 방향 반대)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조리흄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포름알데히드 등 9종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ppm/ng·mg/m³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고용노동부 노출기준 고시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4종(아세트알데히드·벤조에이피렌 등)은 근사값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구조 변경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헬륨·질소·아르곤 → 산소(O2) 통합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산업안전보건기준 제618조(산소 18%미만=산소결핍)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단순 질식제라 개별기준 없음, 3물질→1센서 통합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6-1. 센서 데이터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6-1. 센서 데이터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2단계가 아니라 6단계 — 실제 소비자를 반영해 재배치했다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왜 6단계로 옮겼나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소비 주체는 문서추출·RAG가 아니라 Agent 규칙판정(rules.judge)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src/sensors.py에 정의를 두고 학습데이터·웹시뮬레이터·Agent가 공유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사용자 지적(2026-09-21): "Agent의 입력 아닌가"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원래 2단계 아래 있던 정의를 6단계로 재배치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정직한 현황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임계값 — 처음엔 placeholder, 법령·고시·ACGIH/NIOSH 조사로 대부분 교체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남은 한계 — 4개 물질은 국내외 공식기준 자체가 없어 근사값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아직 실제 센서 장비 없음 — 값은 무작위(웹데모)·합성(학습데이터)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3곳에서 공유 — Agent 판정, 파인튜닝 데이터, /simulate·/control-room UI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7. 엣지 에뮬레이션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7. 엣지 에뮬레이션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실제 하드웨어 없이 성능 하한선을 추정한다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cgroup(systemd-run)으로 CPU·메모리 제한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재현 가능 — CPU 코어 수, 메모리 상한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재현 불가 — 명령어셋(AVX-512), 디스크 I/O, 발열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그래서 정확한 예측이 아니라 하한선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실측치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실측 결과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2코어/32GB → tg 7.32 tok/s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48코어 서버 CPU 벤치(19.1 tok/s)보다 낙관적일 수 있음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진짜 엣지 하드웨어 확보 전까지는 참고치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다음 단계 — 실제 하드웨어 확보 후 재검증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Ⅱ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기술 구성과 선택 근거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8. 운영 인프라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8. 운영 인프라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모델 레지스트리부터 CI/CD까지 표준 MLOps 갭을 채운다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갭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도구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역할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상태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모델 레지스트리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MLflow Model Registry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성능 기준 통과 모델만 Production 승격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train/auto_retrain.py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모니터링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Prometheus + Grafana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서비스 상태·요청량·지연시간 실시간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/metrics 엔드포인트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데이터 버저닝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DVC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대용량 학습 데이터 버전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로컬 원격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CI/CD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GitHub 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push마다 테스트→자동 배포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테스트~배포 27초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완료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059936" y="0"/>
            <a:ext cx="4059936" cy="6858000"/>
          </a:xfrm>
          <a:prstGeom prst="rect">
            <a:avLst/>
          </a:prstGeom>
          <a:solidFill>
            <a:srgbClr val="266F9F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19872" y="0"/>
            <a:ext cx="4069080" cy="6858000"/>
          </a:xfrm>
          <a:prstGeom prst="rect">
            <a:avLst/>
          </a:prstGeom>
          <a:solidFill>
            <a:srgbClr val="2E7BB8">
              <a:alpha val="50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0" y="301752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sz="4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07E4E87-9576-AD62-62DC-E2F40EB8EA51}"/>
              </a:ext>
            </a:extLst>
          </p:cNvPr>
          <p:cNvSpPr/>
          <p:nvPr/>
        </p:nvSpPr>
        <p:spPr>
          <a:xfrm>
            <a:off x="5815584" y="2554781"/>
            <a:ext cx="548640" cy="50292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Ⅲ</a:t>
            </a:r>
            <a:endParaRPr lang="en-US" sz="2000" dirty="0">
              <a:solidFill>
                <a:schemeClr val="bg1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1. 사업 기회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1. 사업 기회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산업안전·제조AX·에듀테크 세 영역에서 실제 수요 확인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3575304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한국수자원공사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온프레미스 실험실 안전 대응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자연어 기반 안내·질의응답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산업안전 Agent와 동일 구조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06824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306824" y="2011680"/>
            <a:ext cx="3575304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489704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강원 AX 화장품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89704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AX 팩토리 Layer-4 AI Agent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운영자용 자연어 대시보드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개념검증(PoC) 완료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56448" y="2011680"/>
            <a:ext cx="3575304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156448" y="2011680"/>
            <a:ext cx="3575304" cy="91440"/>
          </a:xfrm>
          <a:prstGeom prst="rect">
            <a:avLst/>
          </a:prstGeom>
          <a:solidFill>
            <a:srgbClr val="266F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339328" y="2240280"/>
            <a:ext cx="3209544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66F9F"/>
                </a:solidFill>
                <a:latin typeface="KoPubWorld돋움체 Medium"/>
                <a:ea typeface="KoPubWorld돋움체 Medium"/>
              </a:rPr>
              <a:t>클랙스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2926080"/>
            <a:ext cx="3209544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단순 에듀테크가 아닌 AI융합교육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AI튜터·AI토론이 실제 사례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완전 오프라인 동작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2. 스마트팩토리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2. 스마트팩토리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설비·SOP만 교체하면 같은 Agent 구조를 재사용한다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목적 — 화장품 AX 패턴의 일반화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설비군·센서 종류·SOP만 교체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EQUIPMENT_MAP·SOP_RANGES가 이미 설정 기반 구조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제안서에도 Config 기반 아키텍처로 확장 반영 명시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Human-in-the-loop 원칙 동일 적용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단계별 변경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데이터 = PLC/MES 시계열, RAG = 설비 SOP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Agent = 예지보전 알람 + 승인 워크플로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나머지(개발환경·양자화·엣지에뮬·운영인프라)는 동일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구현 상태 — 개념검증(화장품 AX PoC)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AX 에듀테크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AX 에듀테크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AI튜터·AI토론이 이미 실제 사례다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57200" y="2011680"/>
            <a:ext cx="11274552" cy="3303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목적 — 단순 에듀테크가 아닌 AI융합교육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AI튜터(RAG+LoRA)·AI토론이 실제 사례</a:t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ko-KR" altLang="en-US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lang="en-US" altLang="ko-KR"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lang="ko-KR" altLang="en-US" sz="1400" b="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완전 오프라인 동작(학교 네트워크 제약 대응)</a:t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b="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학생 개인정보 서버 미전송(localStorage)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lang="en-US"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실측 ROUGE-L 0.239→0.373</a:t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b="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b="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단계별 변경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데이터 = 교과서·교육과정, RAG = 경제·지리 지식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709613" lvl="2" indent="-171450">
              <a:spcAft>
                <a:spcPts val="400"/>
              </a:spcAft>
              <a:buFont typeface="Wingdings" panose="05000000000000000000" pitchFamily="2" charset="2"/>
              <a:buChar char="§"/>
            </a:pP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>Agent = 오답노트+학습진도 추적(장비제어 없음)</a:t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r>
              <a:rPr sz="1200" dirty="0" err="1">
                <a:solidFill>
                  <a:srgbClr val="646464"/>
                </a:solidFill>
                <a:latin typeface="KoPubWorld돋움체 Medium"/>
                <a:ea typeface="KoPubWorld돋움체 Medium"/>
              </a:rPr>
              <a:t/>
            </a:r>
            <a:endParaRPr sz="1200" dirty="0">
              <a:solidFill>
                <a:srgbClr val="646464"/>
              </a:solidFill>
              <a:latin typeface="KoPubWorld돋움체 Medium"/>
              <a:ea typeface="KoPubWorld돋움체 Medium"/>
            </a:endParaRPr>
          </a:p>
          <a:p>
            <a:pPr marL="554038" lvl="1" indent="-285750">
              <a:spcAft>
                <a:spcPts val="400"/>
              </a:spcAft>
              <a:buFont typeface="Wingdings" panose="05000000000000000000" pitchFamily="2" charset="2"/>
              <a:buChar char="l"/>
            </a:pP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나머지는 동일 플랫폼 재사용</a:t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r>
              <a:rPr sz="1400" dirty="0" err="1">
                <a:solidFill>
                  <a:srgbClr val="222222"/>
                </a:solidFill>
                <a:latin typeface="KoPubWorld돋움체 Medium"/>
                <a:ea typeface="KoPubWorld돋움체 Medium"/>
              </a:rPr>
              <a:t/>
            </a:r>
            <a:endParaRPr sz="1400" dirty="0">
              <a:solidFill>
                <a:srgbClr val="222222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endParaRPr lang="en-US"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</a:pP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>구현 상태 — 완전 구축</a:t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r>
              <a:rPr sz="1600" b="1" dirty="0" err="1">
                <a:solidFill>
                  <a:srgbClr val="1F5C8C"/>
                </a:solidFill>
                <a:latin typeface="KoPubWorld돋움체 Medium"/>
                <a:ea typeface="KoPubWorld돋움체 Medium"/>
              </a:rPr>
              <a:t/>
            </a:r>
            <a:endParaRPr sz="1600" b="1" dirty="0">
              <a:solidFill>
                <a:srgbClr val="1F5C8C"/>
              </a:solidFill>
              <a:latin typeface="KoPubWorld돋움체 Medium"/>
              <a:ea typeface="KoPubWorld돋움체 Mediu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AX 에듀테크 — AI 토론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AX 에듀테크 — AI 토론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판정은 코드(균형 클러스터링), 라벨링만 LLM이 한다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배정 메커니즘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학생 의견을 임베딩으로 벡터화(RAG와 같은 다국어 모델)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균형 잡힌 클러스터링으로 팀 수만큼 분할(인원을 고르게)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LLM은 클러스터 결과에 주제 관련 이름만 붙임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판정=코드, 라벨링만=LLM — 프로젝트 전체 원칙과 동일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실제 예시 개요(2026-09-21 실측)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주제 — 급식실 식재료: 현지 농산물 vs 도시 외식업체 조달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학생 8명 → 3개 팀으로 자동 분리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찬성 5명이 "지역경제" vs "환경·품질" 두 갈래로 세분화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같은 입장이어도 강조점이 다르면 다른 팀으로 갈릴 수 있음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3. AX 에듀테크 — AI 토론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3. AX 에듀테크 — AI 토론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찬성 5명도 "지역경제 vs 환경·품질"로 자동 분리됐다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팀(라벨)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배정 학생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인원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핵심 근거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구분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현지 농산물 보호와 지역경제 연결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서민서·김지영·정하늘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3명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"농장·지역경제에 도움"이 핵심 근거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찬성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환경 보호와 식재료 질 강조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최지민·박지훈·윤지현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3명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같은 찬성이나 환경·품질 관점 우세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찬성(강조점 다름)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간편성과 맛을 우선하는 조달 시스템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강민호·이승재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유일하게 도시 외식업체 지지, 편의성·전문성 강조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반대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참고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찬성 측 5명은 하나로 뭉치지 않고 의미적 유사도만으로 두 갈래 자동 분리됐다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BidRadar — 개요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BidRadar — 개요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사고실험이 아니라 실제 운영 중인 사례다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무엇을 하나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BidRadar(사내 별도 프로젝트, 인프라 완전 분리)가 호출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이 프로젝트의 sLLM 서빙 API(8단계, 8081/28081 포트)를 그대로 사용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공고 제목 ↔ 고객 관심주제를 의미적으로 매칭(/v1/classify-topic)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첨부문서가 공통서식인지도 판단(/v1/classify-doc)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원칙과 한계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confidence는 절대 임계값이 아니라 "사람이 검토할 후보"로만 사용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기존 키워드 매칭을 대체하지 않음 — "판정은 규칙" 원칙과 동일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정직한 한계 — "추천"보다 "매칭 후보 제시"에 가까움, 최종 결정은 사람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classify-doc 실패율(185건 중 88건)이 아직 높음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4. BidRadar — 실측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4. BidRadar — 실측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공고 매칭 5,299건 호출·성공률 100%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항목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내용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실측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API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비고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공고 매칭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공고 제목 ↔ 고객 관심주제 의미적 매칭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5,299건 호출, 성공률 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/v1/classify-topic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확정 매칭 아님, 후보 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보조 신호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키워드 매칭을 대체하지 않음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평균 지연 1.6초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/v1/classify-topic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confidence는 사람 검토용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병렬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전용 GPU 풀(GPU 2·3)로 동시 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4워커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실시간 서비스 GPU와 분리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문서 분류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첨부문서가 공통서식인지 판단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185건 호출(성공97·실패88)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/v1/classify-doc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실패율 47.6% — 아직 높음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5. 세 사례 종합 비교 (1/2)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5. 세 사례 종합 비교 (1/2)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스마트팩토리·AX에듀테크는 확장, BidRadar는 대부분 해당없음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스마트팩토리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AX 에듀테크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BidRadar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패턴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1. 개발환경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해당없음(별도 인프라)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SF·AX 동일, BR만 별도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2. 데이터추출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변경(설비 매뉴얼·SOP)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변경(교과서·공공데이터)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해당없음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SF·AX 변경, BR 해당없음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3. 파인튜닝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변경(설비 이상 서술체)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변경(학생 눈높이 설명체)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해당없음(재학습 없이 API만 호출)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SF·AX 변경, BR 해당없음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4. 양자화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해당없음(이미 양자화된 모델 호출)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SF·AX 동일, BR 해당없음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5. 세 사례 종합 비교 (2/2)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5. 세 사례 종합 비교 (2/2)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BidRadar는 확장이 아니라 이미 만든 API를 외부에서 호출하는 구조다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9025"/>
              </p:ext>
            </p:extLst>
          </p:nvPr>
        </p:nvGraphicFramePr>
        <p:xfrm>
          <a:off x="457200" y="2011680"/>
          <a:ext cx="11274552" cy="27432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54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49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9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단계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스마트팩토리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AX 에듀테크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BidRadar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패턴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/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5.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변경(SOP 검색)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변경(교과서 하이브리드 검색)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변형(RAG 대신 classify-topic 임베딩 매칭)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SF·AX 변경, BR 변형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6.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 구조(임계값 판정+승인)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변경(장비제어→오답노트/토론팀 배정)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변형(장비제어→키워드매칭 보조신호, 최종판정은 사람)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셋 다 다른 양상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7. 엣지에뮬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동일(현장 PC 흉내)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동일(학교 PC/태블릿)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해당없음(엣지 배포 없음, 서버 GPU 풀만 사용)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SF·AX 동일, BR 해당없음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chemeClr val="bg1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8. 운영인프라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동일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별도(분리된 인프라, 네트워크로 API만 호출)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222222"/>
                          </a:solidFill>
                          <a:latin typeface="KoPubWorld돋움체 Medium" panose="00000600000000000000" pitchFamily="2" charset="-127"/>
                          <a:ea typeface="KoPubWorld돋움체 Medium" panose="00000600000000000000" pitchFamily="2" charset="-127"/>
                          <a:cs typeface="KoPubWorld돋움체 Medium" panose="00000600000000000000" pitchFamily="2" charset="-127"/>
                        </a:rPr>
                        <a:t>SF·AX 동일, BR 별도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40080"/>
          </a:xfrm>
          <a:prstGeom prst="rect">
            <a:avLst/>
          </a:prstGeom>
          <a:solidFill>
            <a:srgbClr val="F0F3F5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14400" y="0"/>
            <a:ext cx="274320" cy="640080"/>
          </a:xfrm>
          <a:prstGeom prst="rtTriangle">
            <a:avLst/>
          </a:prstGeom>
          <a:solidFill>
            <a:srgbClr val="1F5C8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0" y="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2200" dirty="0">
                <a:solidFill>
                  <a:srgbClr val="FFFFFF"/>
                </a:solidFill>
                <a:latin typeface="KoPubWorld돋움체 Bold" panose="00000800000000000000" pitchFamily="2" charset="-127"/>
                <a:ea typeface="KoPubWorld돋움체 Bold" panose="00000800000000000000" pitchFamily="2" charset="-127"/>
                <a:cs typeface="KoPubWorld돋움체 Bold" panose="00000800000000000000" pitchFamily="2" charset="-127"/>
              </a:rPr>
              <a:t>Ⅲ</a:t>
            </a:r>
            <a:endParaRPr lang="en-US" altLang="ko-KR" sz="2200" dirty="0">
              <a:latin typeface="KoPubWorld돋움체 Bold" panose="00000800000000000000" pitchFamily="2" charset="-127"/>
              <a:ea typeface="KoPubWorld돋움체 Bold" panose="00000800000000000000" pitchFamily="2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80160" y="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200" b="1" dirty="0">
                <a:solidFill>
                  <a:srgbClr val="222222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서비스 적용 사례</a:t>
            </a:r>
            <a:endParaRPr lang="en-US" altLang="ko-KR" sz="2200" dirty="0"/>
          </a:p>
        </p:txBody>
      </p:sp>
      <p:sp>
        <p:nvSpPr>
          <p:cNvPr id="8" name="Text 6"/>
          <p:cNvSpPr/>
          <p:nvPr/>
        </p:nvSpPr>
        <p:spPr>
          <a:xfrm>
            <a:off x="8724900" y="935019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KoPubWorld돋움체 Bold" pitchFamily="34" charset="0"/>
                <a:ea typeface="KoPubWorld돋움체 Bold" pitchFamily="34" charset="-122"/>
                <a:cs typeface="KoPubWorld돋움체 Bold" pitchFamily="34" charset="-120"/>
              </a:rPr>
              <a:t>6. 관통 원칙</a:t>
            </a:r>
            <a:endParaRPr lang="en-US" sz="1400" dirty="0"/>
          </a:p>
        </p:txBody>
      </p:sp>
      <p:sp>
        <p:nvSpPr>
          <p:cNvPr id="31" name="사각형: 잘린 위쪽 모서리 30">
            <a:extLst>
              <a:ext uri="{FF2B5EF4-FFF2-40B4-BE49-F238E27FC236}">
                <a16:creationId xmlns:a16="http://schemas.microsoft.com/office/drawing/2014/main" id="{BBB0A8EA-37AD-05AC-50EA-383844BF9905}"/>
              </a:ext>
            </a:extLst>
          </p:cNvPr>
          <p:cNvSpPr/>
          <p:nvPr/>
        </p:nvSpPr>
        <p:spPr>
          <a:xfrm>
            <a:off x="9234732" y="248710"/>
            <a:ext cx="2468692" cy="345650"/>
          </a:xfrm>
          <a:prstGeom prst="snip2Same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6. 관통 원칙</a:t>
            </a:r>
            <a:r>
              <a:rPr lang="ko-KR" altLang="en-US" sz="1600" b="1" dirty="0"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</a:p>
        </p:txBody>
      </p:sp>
      <p:sp>
        <p:nvSpPr>
          <p:cNvPr id="33" name="모서리가 둥근 직사각형 67">
            <a:extLst>
              <a:ext uri="{FF2B5EF4-FFF2-40B4-BE49-F238E27FC236}">
                <a16:creationId xmlns:a16="http://schemas.microsoft.com/office/drawing/2014/main" id="{AA5D1AFF-0972-980F-6B8D-92D815481D3E}"/>
              </a:ext>
            </a:extLst>
          </p:cNvPr>
          <p:cNvSpPr/>
          <p:nvPr/>
        </p:nvSpPr>
        <p:spPr>
          <a:xfrm>
            <a:off x="457200" y="900686"/>
            <a:ext cx="11247120" cy="54864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72000" rtlCol="0" anchor="ctr"/>
          <a:lstStyle/>
          <a:p>
            <a:pPr algn="ctr"/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>규칙 우선 · 근거 기반 · 실측 우선 · 정직한 기록</a:t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chemeClr val="bg1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en-US" altLang="ko-KR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r>
              <a:rPr lang="ko-KR" altLang="en-US" b="1" spc="-100" dirty="0">
                <a:solidFill>
                  <a:srgbClr val="FFFF00"/>
                </a:solidFill>
                <a:latin typeface="KoPubWorld돋움체 Medium" panose="00000600000000000000" pitchFamily="2" charset="-127"/>
                <a:ea typeface="KoPubWorld돋움체 Medium" panose="00000600000000000000" pitchFamily="2" charset="-127"/>
                <a:cs typeface="KoPubWorld돋움체 Medium" panose="00000600000000000000" pitchFamily="2" charset="-127"/>
              </a:rPr>
              <a:t/>
            </a:r>
            <a:endParaRPr lang="x-none" altLang="en-US" b="1" spc="-100" dirty="0">
              <a:solidFill>
                <a:srgbClr val="FFFF00"/>
              </a:solidFill>
              <a:latin typeface="KoPubWorld돋움체 Medium" panose="00000600000000000000" pitchFamily="2" charset="-127"/>
              <a:ea typeface="KoPubWorld돋움체 Medium" panose="00000600000000000000" pitchFamily="2" charset="-127"/>
              <a:cs typeface="KoPubWorld돋움체 Medium" panose="00000600000000000000" pitchFamily="2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457200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57200" y="2011680"/>
            <a:ext cx="5454396" cy="91440"/>
          </a:xfrm>
          <a:prstGeom prst="rect">
            <a:avLst/>
          </a:prstGeom>
          <a:solidFill>
            <a:srgbClr val="1F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31520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5C8C"/>
                </a:solidFill>
                <a:latin typeface="KoPubWorld돋움체 Medium"/>
                <a:ea typeface="KoPubWorld돋움체 Medium"/>
              </a:rPr>
              <a:t>관통한 설계 원칙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규칙 우선, LLM은 보조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근거 없으면 모른다고 답함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주장보다 실측 수치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실패도 숨기지 않고 기록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77356" y="2011680"/>
            <a:ext cx="5454396" cy="4297680"/>
          </a:xfrm>
          <a:prstGeom prst="rect">
            <a:avLst/>
          </a:prstGeom>
          <a:solidFill>
            <a:srgbClr val="F0F3F5"/>
          </a:solidFill>
          <a:ln w="63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277356" y="2011680"/>
            <a:ext cx="5454396" cy="91440"/>
          </a:xfrm>
          <a:prstGeom prst="rect">
            <a:avLst/>
          </a:prstGeom>
          <a:solidFill>
            <a:srgbClr val="2E7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51676" y="2240280"/>
            <a:ext cx="49057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E7BB8"/>
                </a:solidFill>
                <a:latin typeface="KoPubWorld돋움체 Medium"/>
                <a:ea typeface="KoPubWorld돋움체 Medium"/>
              </a:rPr>
              <a:t>앞으로의 확장 방향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51676" y="2926080"/>
            <a:ext cx="4905756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실제 엣지 하드웨어 확보 후 재검증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센서 임계값을 정식 안전보건기준으로 교체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운영 피드백 루프의 자동 재학습 확장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222222"/>
                </a:solidFill>
                <a:latin typeface="KoPubWorld돋움체 Medium"/>
                <a:ea typeface="KoPubWorld돋움체 Medium"/>
              </a:rPr>
              <a:t>● 스마트팩토리 등 추가 실증 검토(BidRadar는 이미 실측 확보)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520</Words>
  <Application>Microsoft Office PowerPoint</Application>
  <PresentationFormat>와이드스크린</PresentationFormat>
  <Paragraphs>125</Paragraphs>
  <Slides>11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KoPubWorld돋움체 Bold</vt:lpstr>
      <vt:lpstr>KoPubWorld돋움체 Medium</vt:lpstr>
      <vt:lpstr>KoPub돋움체 Medium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Grib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Grib 표준 PPT 데모 (전체 레이아웃)</dc:title>
  <dc:subject/>
  <dc:creator>(주)그립</dc:creator>
  <cp:lastModifiedBy>Jeffrey Ahn</cp:lastModifiedBy>
  <cp:revision>4</cp:revision>
  <dcterms:created xsi:type="dcterms:W3CDTF">2026-06-15T09:39:04Z</dcterms:created>
  <dcterms:modified xsi:type="dcterms:W3CDTF">2026-06-15T10:50:39Z</dcterms:modified>
</cp:coreProperties>
</file>