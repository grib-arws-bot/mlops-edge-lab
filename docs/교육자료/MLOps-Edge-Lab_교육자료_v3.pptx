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67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6446520"/>
            <a:ext cx="11612880" cy="13716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i="1" dirty="0">
                <a:solidFill>
                  <a:schemeClr val="accent1">
                    <a:lumMod val="75000"/>
                  </a:schemeClr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Confidential</a:t>
            </a:r>
            <a:endParaRPr lang="en-US" sz="1000" b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682505F-77E2-EE7A-E86B-AD76951F06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6496574"/>
            <a:ext cx="356227" cy="32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ce-sharp-cerf/mnt/Claude Skill/assets/cover-bg-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78745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S-P-N-D  AX </a:t>
            </a:r>
            <a:r>
              <a:rPr lang="en-US" sz="1600" dirty="0" err="1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디지털전환</a:t>
            </a: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융합</a:t>
            </a: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 솔루션 전문기업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425166"/>
            <a:ext cx="34497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</a:t>
            </a:r>
            <a:r>
              <a:rPr lang="ko-KR" altLang="en-US" sz="3600" b="1" dirty="0" err="1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3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006706" y="481215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"LINK Everything, THINK Everyone"</a:t>
            </a:r>
            <a:endParaRPr 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16AE9AA-3895-F613-1011-A33956C2AE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0846" y="2471707"/>
            <a:ext cx="1803354" cy="180335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3356036-F9EB-FEE6-F68E-01E956DE7DD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854" y="71064"/>
            <a:ext cx="507681" cy="507681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F2F00B17-3F5A-98AD-FE53-4CEB8199B220}"/>
              </a:ext>
            </a:extLst>
          </p:cNvPr>
          <p:cNvSpPr/>
          <p:nvPr/>
        </p:nvSpPr>
        <p:spPr>
          <a:xfrm>
            <a:off x="457200" y="5021354"/>
            <a:ext cx="34497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2026년 09월</a:t>
            </a:r>
            <a:r>
              <a:rPr lang="ko-KR" alt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en-US" altLang="ko-KR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ko-KR" alt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endParaRPr lang="en-US" altLang="ko-KR" sz="1600" dirty="0"/>
          </a:p>
          <a:p>
            <a:pPr marL="0" indent="0">
              <a:buNone/>
            </a:pPr>
            <a:endParaRPr lang="en-US" b="1" dirty="0">
              <a:solidFill>
                <a:srgbClr val="FFFFFF"/>
              </a:solidFill>
              <a:latin typeface="KoPubWorld돋움체 Bold" pitchFamily="34" charset="0"/>
              <a:ea typeface="KoPubWorld돋움체 Bold" pitchFamily="34" charset="-122"/>
              <a:cs typeface="KoPubWorld돋움체 Bold" pitchFamily="34" charset="-120"/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주식회사</a:t>
            </a:r>
            <a:r>
              <a:rPr lang="en-US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 그립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365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S.P.N.D. 디지털전환 및 융합 솔루션 전문기업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주식회사 그립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297680" y="2194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Ⅰ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시스템 개요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306324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97680" y="3063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Ⅱ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3063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기술 구성과 선택 근거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97680" y="393192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97680" y="3931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Ⅲ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0" y="3931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서비스 적용 사례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0EC8C7-390D-C1F1-1C7F-91AEB1D4AD8A}"/>
              </a:ext>
            </a:extLst>
          </p:cNvPr>
          <p:cNvSpPr txBox="1"/>
          <p:nvPr/>
        </p:nvSpPr>
        <p:spPr>
          <a:xfrm>
            <a:off x="1258264" y="1449590"/>
            <a:ext cx="276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Contents</a:t>
            </a:r>
            <a:endParaRPr lang="ko-KR" altLang="en-US" sz="3600" b="1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5CFC66E-4BFE-1B11-B8E2-45F12D6FF684}"/>
              </a:ext>
            </a:extLst>
          </p:cNvPr>
          <p:cNvSpPr/>
          <p:nvPr/>
        </p:nvSpPr>
        <p:spPr>
          <a:xfrm>
            <a:off x="3712040" y="1449590"/>
            <a:ext cx="6218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2E7BB8">
              <a:alpha val="55000"/>
            </a:srgbClr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48640" y="1828800"/>
            <a:ext cx="9144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1963271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914400" y="4754880"/>
            <a:ext cx="10058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(주)그립 (Grib Co., Ltd.)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5349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서울특별시 서초구 효령로 242 서양빌딩 5층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sales@grib.co.kr · grib.co.kr · 02-521-6542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D221DC5-3C6D-0BCD-AEC3-78738031B6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9699" y="3218599"/>
            <a:ext cx="1444842" cy="14448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Ⅰ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핵심 지표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606040" cy="109728"/>
          </a:xfrm>
          <a:prstGeom prst="rect">
            <a:avLst/>
          </a:prstGeom>
          <a:solidFill>
            <a:srgbClr val="2E7BB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738건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안전문서 추출 (99.9%)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377440"/>
            <a:ext cx="2606040" cy="109728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3756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3756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12,964개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RAG 검색 청크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2606040" cy="109728"/>
          </a:xfrm>
          <a:prstGeom prst="rect">
            <a:avLst/>
          </a:prstGeom>
          <a:solidFill>
            <a:srgbClr val="266F9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1792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6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3.2배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1792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양자화 압축 (7.5GB→2.3GB)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2377440"/>
            <a:ext cx="2606040" cy="109728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9828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09828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3.7배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09828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GPU 추론 가속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핵심 지표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온프레미스·엣지 환경에서 규칙 기반 판정과 LLM을 결합한 sLLM 플랫폼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목표와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목표와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두 가지 목표를 네 가지 설계 원칙이 관통한다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목표 ① MLOps 파이프라인 구축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실험관리(MLflow) → 학습 → 평가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배포(모델 레지스트리) → 모니터링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Prometheus+Grafana로 운영 지표 실시간 확인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평가 기준 미달 시 자동 재학습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목표 ② 엣지 sLLM 구축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양자화(Q4_K_M)로 경량화, GPU 없이도 동작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cgroup 에뮬레이션으로 저사양 환경 하한선 추정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규칙+LLM 역할 분리로 안전한 자동 판단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설계 철학 — 온프레미스·오프라인 우선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Ⅱ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1~4단계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1~4단계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개발 환경부터 양자화까지 — 채택 근거와 실측치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핵심 기술/도구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채택 근거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실측 수치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상태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1. 개발 환경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uv + MLflow + systemd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실험 재현성(lock 파일)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2. 데이터 추출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PDF/HWP/OCR 폴백 체인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포맷별 실패 시 다음 경로로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738/738건 성공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3. 모델선정+파인튜닝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Qwen3-4B, 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Apache 2.0 · 한국어 상위권 · 크기 다양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ROUGE-L 0.525→0.719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4. 양자화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GGUF Q4_K_M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품질 92~95% 유지, 절반 이하 압축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7.5GB→2.3GB, GPU 3.7배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5~8단계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5~8단계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검색부터 운영까지 — 채택 근거와 실측치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핵심 기술/도구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채택 근거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실측 수치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상태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5.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다국어 임베딩 + FAISS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청킹→임베딩→검색→생성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hit_rate@4 = 0.857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6.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규칙 판정 + LLM 도구호출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판정은 코드, 서술은 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정상/주의/위험 3단계 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7. 엣지 에뮬레이션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cgroup(systemd-run)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 하드웨어 없이 하한선 추정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2코어/32GB → 7.32 tok/s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진행중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8. 운영 인프라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MLflow+Prometheus+Grafana+CI/CD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표준 MLOps 갭 4가지 충족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배포 자동화 27초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모델 선정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모델 선정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라이선스·한국어 품질·크기 — 세 기준으로 Qwen3 채택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채택 기준 3가지 — 라이선스·한국어 품질·크기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① 상업적 이용 가능한 라이선스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② 한국어 품질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③ 엣지 배포 가능한 크기(1~3B급)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GPU 서버용 대형 모델도 같은 계열이면 유리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제외된 후보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EXAONE — 한국어 최고, 비상업 전용이라 제외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Upstage Solar — 최소 10.7B, 엣지에 부적합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DeepSeek V4 — 라이선스는 깨끗하나 한국어 불확실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채택 — Qwen/Qwen3-4B-Instruct-2507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파인튜닝·양자화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파인튜닝·양자화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가볍게 다듬고, 가볍게 압축한다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파인튜닝 (LoRA)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r=16, alpha=32, bf16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목적 — 현장 알림체로 스타일 학습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안전 도메인 ROUGE-L 0.525→0.719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한계 — 합성 데이터, 실사용 품질보증 아님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양자화 (GGUF)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Q4_K_M (K-quant 계열)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7.5GB→2.3GB (약 3.2배 압축)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CPU 23.6 tok/s · GPU 87 tok/s (3.7배)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같은 파일로 CPU/GPU 겸용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5. Agent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5. Agent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판정은 규칙, 서술은 LLM, 고위험은 사람이 승인한다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3575304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규칙 우선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초과·위험도 판정은 코드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장비 제어도 규칙이 즉시 실행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LLM은 판정을 재수행하지 않음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06824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06824" y="2011680"/>
            <a:ext cx="3575304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9704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근거 기반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RAG 검색 결과 없이 답하지 않음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도구 호출 여부는 LLM 자율판단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할루시네이션 방지 핵심 장치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56448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56448" y="2011680"/>
            <a:ext cx="3575304" cy="91440"/>
          </a:xfrm>
          <a:prstGeom prst="rect">
            <a:avLst/>
          </a:prstGeom>
          <a:solidFill>
            <a:srgbClr val="26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8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6F9F"/>
                </a:solidFill>
                <a:latin typeface="KoPubWorld돋움체 Medium"/>
                <a:ea typeface="KoPubWorld돋움체 Medium"/>
              </a:rPr>
              <a:t>승인 체계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저위험 장비는 자동 실행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고위험은 사람 승인 대기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Human-in-the-loop 전 도메인 공통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Ⅲ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사업 기회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사업 기회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산업안전·제조AX·에듀테크 세 영역에서 실제 수요 확인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3575304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한국수자원공사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온프레미스 실험실 안전 대응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자연어 기반 안내·질의응답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산업안전 Agent와 동일 구조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06824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06824" y="2011680"/>
            <a:ext cx="3575304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9704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강원 AX 화장품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AX 팩토리 Layer-4 AI Agent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운영자용 자연어 대시보드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개념검증(PoC) 완료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56448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56448" y="2011680"/>
            <a:ext cx="3575304" cy="91440"/>
          </a:xfrm>
          <a:prstGeom prst="rect">
            <a:avLst/>
          </a:prstGeom>
          <a:solidFill>
            <a:srgbClr val="26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8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6F9F"/>
                </a:solidFill>
                <a:latin typeface="KoPubWorld돋움체 Medium"/>
                <a:ea typeface="KoPubWorld돋움체 Medium"/>
              </a:rPr>
              <a:t>클랙스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단순 에듀테크가 아닌 AI융합교육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AI튜터·AI토론이 실제 사례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완전 오프라인 동작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도메인 확장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도메인 확장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설비·코퍼스만 교체하면 같은 플랫폼을 재사용한다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사례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목적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구현 상태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핵심 특징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재사용 요소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산업안전 (원형)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현장 안전 오프라인 어시스턴트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완전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규칙판정+RAG+Agent+엣지에뮬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스마트팩토리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화장품 AX 패턴의 일반화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개념검증(화장품)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설비·SOP만 교체, 나머지 재사용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Agent+RAG 구조 전체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AX 에듀테크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AI 융합교육 플랫폼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완전 구축(AI튜터·토론)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ROUGE-L 0.239→0.373 실측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파인튜닝+RAG 파이프라인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AI 추천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추천 이유 설명 가능한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미구현(가설 단계)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판정은 규칙, 설명은 LLM 원칙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규칙+LLM 역할 분리 원칙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관통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관통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규칙 우선 · 근거 기반 · 실측 우선 · 정직한 기록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관통한 설계 원칙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규칙 우선, LLM은 보조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근거 없으면 모른다고 답함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주장보다 실측 수치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실패도 숨기지 않고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앞으로의 확장 방향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실제 엣지 하드웨어 확보 후 재검증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센서 임계값을 정식 안전보건기준으로 교체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운영 피드백 루프의 자동 재학습 확장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신규 사업 기회 3건 실증 검토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520</Words>
  <Application>Microsoft Office PowerPoint</Application>
  <PresentationFormat>와이드스크린</PresentationFormat>
  <Paragraphs>125</Paragraphs>
  <Slides>11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KoPubWorld돋움체 Bold</vt:lpstr>
      <vt:lpstr>KoPubWorld돋움체 Medium</vt:lpstr>
      <vt:lpstr>KoPub돋움체 Medium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Grib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Grib 표준 PPT 데모 (전체 레이아웃)</dc:title>
  <dc:subject/>
  <dc:creator>(주)그립</dc:creator>
  <cp:lastModifiedBy>Jeffrey Ahn</cp:lastModifiedBy>
  <cp:revision>4</cp:revision>
  <dcterms:created xsi:type="dcterms:W3CDTF">2026-06-15T09:39:04Z</dcterms:created>
  <dcterms:modified xsi:type="dcterms:W3CDTF">2026-06-15T10:50:39Z</dcterms:modified>
</cp:coreProperties>
</file>