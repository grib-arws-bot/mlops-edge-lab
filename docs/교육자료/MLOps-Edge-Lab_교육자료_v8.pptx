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4672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D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74320" y="6446520"/>
            <a:ext cx="11612880" cy="13716"/>
          </a:xfrm>
          <a:prstGeom prst="rect">
            <a:avLst/>
          </a:prstGeom>
          <a:solidFill>
            <a:srgbClr val="DEE2E6"/>
          </a:solidFill>
          <a:ln/>
        </p:spPr>
      </p:sp>
      <p:sp>
        <p:nvSpPr>
          <p:cNvPr id="5" name="Text 2"/>
          <p:cNvSpPr/>
          <p:nvPr/>
        </p:nvSpPr>
        <p:spPr>
          <a:xfrm>
            <a:off x="5029200" y="65196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0" i="1" dirty="0">
                <a:solidFill>
                  <a:schemeClr val="accent1">
                    <a:lumMod val="75000"/>
                  </a:schemeClr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>Confidential</a:t>
            </a:r>
            <a:endParaRPr lang="en-US" sz="1000" b="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1967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6464"/>
                </a:solidFill>
                <a:latin typeface="KoPubWorld돋움체 Medium"/>
                <a:ea typeface="KoPubWorld돋움체 Medium"/>
                <a:cs typeface="KoPubWorld돋움체 Medium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1682505F-77E2-EE7A-E86B-AD76951F063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" y="6496574"/>
            <a:ext cx="356227" cy="324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F5C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1967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6464"/>
                </a:solidFill>
                <a:latin typeface="KoPubWorld돋움체 Medium"/>
                <a:ea typeface="KoPubWorld돋움체 Medium"/>
                <a:cs typeface="KoPubWorld돋움체 Medium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nice-sharp-cerf/mnt/Claude Skill/assets/cover-bg-c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578745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>S-P-N-D  AX </a:t>
            </a:r>
            <a:r>
              <a:rPr lang="en-US" sz="1600" dirty="0" err="1">
                <a:solidFill>
                  <a:srgbClr val="FFFFFF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>디지털전환</a:t>
            </a:r>
            <a:r>
              <a:rPr lang="en-US" sz="1600" dirty="0">
                <a:solidFill>
                  <a:srgbClr val="FFFFFF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>융합</a:t>
            </a:r>
            <a:r>
              <a:rPr lang="en-US" sz="1600" dirty="0">
                <a:solidFill>
                  <a:srgbClr val="FFFFFF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> 솔루션 전문기업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457200" y="1425166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MLOps-Edge-Lab</a:t>
            </a:r>
            <a:r>
              <a:rPr lang="ko-KR" altLang="en-US" sz="3600" b="1" dirty="0" err="1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/>
            </a:r>
            <a:r>
              <a:rPr lang="en-US" altLang="ko-KR" sz="36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/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7006706" y="481215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"LINK Everything, THINK Everyone"</a:t>
            </a:r>
            <a:endParaRPr lang="en-US" sz="16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616AE9AA-3895-F613-1011-A33956C2AEB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50846" y="2471707"/>
            <a:ext cx="1803354" cy="180335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A3356036-F9EB-FEE6-F68E-01E956DE7DD4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854" y="71064"/>
            <a:ext cx="507681" cy="507681"/>
          </a:xfrm>
          <a:prstGeom prst="rect">
            <a:avLst/>
          </a:prstGeom>
        </p:spPr>
      </p:pic>
      <p:sp>
        <p:nvSpPr>
          <p:cNvPr id="17" name="Text 1">
            <a:extLst>
              <a:ext uri="{FF2B5EF4-FFF2-40B4-BE49-F238E27FC236}">
                <a16:creationId xmlns:a16="http://schemas.microsoft.com/office/drawing/2014/main" id="{F2F00B17-3F5A-98AD-FE53-4CEB8199B220}"/>
              </a:ext>
            </a:extLst>
          </p:cNvPr>
          <p:cNvSpPr/>
          <p:nvPr/>
        </p:nvSpPr>
        <p:spPr>
          <a:xfrm>
            <a:off x="457200" y="5021354"/>
            <a:ext cx="344978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600" dirty="0">
                <a:solidFill>
                  <a:srgbClr val="FFFFFF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>2026년 09월</a:t>
            </a:r>
            <a:r>
              <a:rPr lang="ko-KR" altLang="en-US" sz="1600" dirty="0">
                <a:solidFill>
                  <a:srgbClr val="FFFFFF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/>
            </a:r>
            <a:r>
              <a:rPr lang="en-US" altLang="ko-KR" sz="1600" dirty="0">
                <a:solidFill>
                  <a:srgbClr val="FFFFFF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/>
            </a:r>
            <a:r>
              <a:rPr lang="ko-KR" altLang="en-US" sz="1600" dirty="0">
                <a:solidFill>
                  <a:srgbClr val="FFFFFF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/>
            </a:r>
            <a:endParaRPr lang="en-US" altLang="ko-KR" sz="1600" dirty="0"/>
          </a:p>
          <a:p>
            <a:pPr marL="0" indent="0">
              <a:buNone/>
            </a:pPr>
            <a:endParaRPr lang="en-US" b="1" dirty="0">
              <a:solidFill>
                <a:srgbClr val="FFFFFF"/>
              </a:solidFill>
              <a:latin typeface="KoPubWorld돋움체 Bold" pitchFamily="34" charset="0"/>
              <a:ea typeface="KoPubWorld돋움체 Bold" pitchFamily="34" charset="-122"/>
              <a:cs typeface="KoPubWorld돋움체 Bold" pitchFamily="34" charset="-120"/>
            </a:endParaRPr>
          </a:p>
          <a:p>
            <a:pPr marL="0" indent="0">
              <a:buNone/>
            </a:pPr>
            <a:r>
              <a:rPr lang="en-US" b="1" dirty="0" err="1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주식회사</a:t>
            </a:r>
            <a:r>
              <a:rPr lang="en-US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 그립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74320" y="365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>S.P.N.D. 디지털전환 및 융합 솔루션 전문기업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7315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주식회사 그립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297680" y="2194560"/>
            <a:ext cx="54864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266F9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297680" y="21945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66F9F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Ⅰ</a:t>
            </a:r>
            <a:endParaRPr 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0" y="219456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22222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시스템 개요</a:t>
            </a:r>
            <a:endParaRPr 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297680" y="3063240"/>
            <a:ext cx="54864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266F9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297680" y="306324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66F9F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Ⅱ</a:t>
            </a:r>
            <a:endParaRPr 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29200" y="306324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22222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기술 구성과 선택 근거</a:t>
            </a:r>
            <a:endParaRPr 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297680" y="3931920"/>
            <a:ext cx="54864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266F9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297680" y="393192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66F9F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Ⅲ</a:t>
            </a:r>
            <a:endParaRPr 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029200" y="39319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22222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서비스 적용 사례</a:t>
            </a:r>
            <a:endParaRPr 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0EC8C7-390D-C1F1-1C7F-91AEB1D4AD8A}"/>
              </a:ext>
            </a:extLst>
          </p:cNvPr>
          <p:cNvSpPr txBox="1"/>
          <p:nvPr/>
        </p:nvSpPr>
        <p:spPr>
          <a:xfrm>
            <a:off x="1258264" y="1449590"/>
            <a:ext cx="2764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Contents</a:t>
            </a:r>
            <a:endParaRPr lang="ko-KR" altLang="en-US" sz="3600" b="1" dirty="0">
              <a:solidFill>
                <a:schemeClr val="bg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5CFC66E-4BFE-1B11-B8E2-45F12D6FF684}"/>
              </a:ext>
            </a:extLst>
          </p:cNvPr>
          <p:cNvSpPr/>
          <p:nvPr/>
        </p:nvSpPr>
        <p:spPr>
          <a:xfrm>
            <a:off x="3712040" y="1449590"/>
            <a:ext cx="62180" cy="50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latin typeface="KoPub돋움체 Medium" panose="00000600000000000000" pitchFamily="2" charset="-127"/>
              <a:ea typeface="KoPub돋움체 Medium" panose="00000600000000000000" pitchFamily="2" charset="-127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486400" y="0"/>
            <a:ext cx="6702552" cy="6858000"/>
          </a:xfrm>
          <a:prstGeom prst="rect">
            <a:avLst/>
          </a:prstGeom>
          <a:solidFill>
            <a:srgbClr val="2E7BB8">
              <a:alpha val="55000"/>
            </a:srgbClr>
          </a:solidFill>
          <a:ln/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548640" y="1828800"/>
            <a:ext cx="91440" cy="3200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914400" y="1963271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8" name="Shape 5"/>
          <p:cNvSpPr/>
          <p:nvPr/>
        </p:nvSpPr>
        <p:spPr>
          <a:xfrm>
            <a:off x="914400" y="4754880"/>
            <a:ext cx="100584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914400" y="4937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(주)그립 (Grib Co., Ltd.)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53492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>서울특별시 서초구 효령로 242 서양빌딩 5층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>sales@grib.co.kr · grib.co.kr · 02-521-6542</a:t>
            </a:r>
            <a:endParaRPr lang="en-US" sz="12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D221DC5-3C6D-0BCD-AEC3-78738031B6A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39699" y="3218599"/>
            <a:ext cx="1444842" cy="144484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059936" y="0"/>
            <a:ext cx="4059936" cy="6858000"/>
          </a:xfrm>
          <a:prstGeom prst="rect">
            <a:avLst/>
          </a:prstGeom>
          <a:solidFill>
            <a:srgbClr val="266F9F">
              <a:alpha val="60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19872" y="0"/>
            <a:ext cx="4069080" cy="6858000"/>
          </a:xfrm>
          <a:prstGeom prst="rect">
            <a:avLst/>
          </a:prstGeom>
          <a:solidFill>
            <a:srgbClr val="2E7BB8">
              <a:alpha val="50000"/>
            </a:srgbClr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0" y="301752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시스템 개요</a:t>
            </a:r>
            <a:endParaRPr lang="en-US" sz="40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E07E4E87-9576-AD62-62DC-E2F40EB8EA51}"/>
              </a:ext>
            </a:extLst>
          </p:cNvPr>
          <p:cNvSpPr/>
          <p:nvPr/>
        </p:nvSpPr>
        <p:spPr>
          <a:xfrm>
            <a:off x="5815584" y="2554781"/>
            <a:ext cx="548640" cy="50292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Ⅰ</a:t>
            </a:r>
            <a:endParaRPr lang="en-US" sz="2000" dirty="0">
              <a:solidFill>
                <a:schemeClr val="bg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Ⅰ</a:t>
            </a:r>
            <a:endParaRPr lang="en-US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시스템 개요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1. 핵심 지표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2606040" cy="109728"/>
          </a:xfrm>
          <a:prstGeom prst="rect">
            <a:avLst/>
          </a:prstGeom>
          <a:solidFill>
            <a:srgbClr val="2E7BB8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" y="2487168"/>
            <a:ext cx="2606040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7200" y="2926080"/>
            <a:ext cx="2606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738건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57200" y="46634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6464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>안전문서 추출 (99.9%)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37560" y="2377440"/>
            <a:ext cx="2606040" cy="109728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3337560" y="2487168"/>
            <a:ext cx="2606040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337560" y="2926080"/>
            <a:ext cx="2606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5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273,595개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3337560" y="46634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6464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>RAG 청크 (MSDS 통합 후)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2377440"/>
            <a:ext cx="2606040" cy="109728"/>
          </a:xfrm>
          <a:prstGeom prst="rect">
            <a:avLst/>
          </a:prstGeom>
          <a:solidFill>
            <a:srgbClr val="266F9F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217920" y="2487168"/>
            <a:ext cx="2606040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217920" y="2926080"/>
            <a:ext cx="2606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6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3.2배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217920" y="46634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6464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>양자화 압축 (7.5GB→2.3GB)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098280" y="2377440"/>
            <a:ext cx="2606040" cy="109728"/>
          </a:xfrm>
          <a:prstGeom prst="rect">
            <a:avLst/>
          </a:prstGeom>
          <a:solidFill>
            <a:srgbClr val="00B050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9098280" y="2487168"/>
            <a:ext cx="2606040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9098280" y="2926080"/>
            <a:ext cx="2606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3.7배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9098280" y="46634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6464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>GPU 추론 가속(tg128)</a:t>
            </a:r>
            <a:endParaRPr lang="en-US" sz="11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1967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6464"/>
                </a:solidFill>
                <a:latin typeface="KoPubWorld돋움체 Medium"/>
                <a:ea typeface="KoPubWorld돋움체 Medium"/>
                <a:cs typeface="KoPubWorld돋움체 Medium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1. 핵심 지표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온프레미스·엣지 환경에서 규칙 기반 판정과 LLM을 결합한 sLLM 플랫폼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Ⅰ</a:t>
            </a:r>
            <a:endParaRPr lang="en-US" altLang="ko-KR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시스템 개요</a:t>
            </a:r>
            <a:endParaRPr lang="en-US" altLang="ko-KR" sz="2200" dirty="0"/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2. 사업 배경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2. 사업 배경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정부과제·잠재고객의 온프레미스 sLLM 수요와 완전 폐쇄망 목표가 만나는 지점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57200" y="2011680"/>
            <a:ext cx="5454396" cy="4297680"/>
          </a:xfrm>
          <a:prstGeom prst="rect">
            <a:avLst/>
          </a:prstGeom>
          <a:solidFill>
            <a:srgbClr val="F0F3F5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7200" y="2011680"/>
            <a:ext cx="5454396" cy="91440"/>
          </a:xfrm>
          <a:prstGeom prst="rect">
            <a:avLst/>
          </a:prstGeom>
          <a:solidFill>
            <a:srgbClr val="1F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" y="2240280"/>
            <a:ext cx="490575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5C8C"/>
                </a:solidFill>
                <a:latin typeface="KoPubWorld돋움체 Medium"/>
                <a:ea typeface="KoPubWorld돋움체 Medium"/>
              </a:rPr>
              <a:t>왜 시작했나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2926080"/>
            <a:ext cx="490575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정부과제·잠재고객 sLLM 수요 지속 증가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AI 성능·데이터 보안 관점 온프레미스·엣지 요구 확대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수자원공사·강원AX화장품·클랙스 — 실제 수요 확인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1인 개발, 온프레미스 GPU 서버 1대(2026-09-17 시작)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77356" y="2011680"/>
            <a:ext cx="5454396" cy="4297680"/>
          </a:xfrm>
          <a:prstGeom prst="rect">
            <a:avLst/>
          </a:prstGeom>
          <a:solidFill>
            <a:srgbClr val="F0F3F5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277356" y="2011680"/>
            <a:ext cx="5454396" cy="91440"/>
          </a:xfrm>
          <a:prstGeom prst="rect">
            <a:avLst/>
          </a:prstGeom>
          <a:solidFill>
            <a:srgbClr val="2E7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51676" y="2240280"/>
            <a:ext cx="490575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E7BB8"/>
                </a:solidFill>
                <a:latin typeface="KoPubWorld돋움체 Medium"/>
                <a:ea typeface="KoPubWorld돋움체 Medium"/>
              </a:rPr>
              <a:t>왜 온프레미스·오프라인 우선인가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51676" y="2926080"/>
            <a:ext cx="490575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완전 폐쇄망에서도 동작하는 오프라인 안전 어시스턴트가 목표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sLLM은 중심이 아니라 부가 기능으로 요청되는 경우가 더 많음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AIoT 플랫폼 Thing-X와는 목적·기술이 근본적으로 다름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두 솔루션은 역할이 달라 오히려 융합이 용이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Ⅰ</a:t>
            </a:r>
            <a:endParaRPr lang="en-US" altLang="ko-KR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시스템 개요</a:t>
            </a:r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3. 전체 흐름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3. 전체 흐름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데이터 추출부터 운영까지 8단계, 오판정·성능저하는 재학습·재색인으로 되돌린다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64311" y="2743200"/>
            <a:ext cx="1261872" cy="960120"/>
          </a:xfrm>
          <a:prstGeom prst="roundRect">
            <a:avLst/>
          </a:prstGeom>
          <a:solidFill>
            <a:srgbClr val="1F4E79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1.개발환경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035911" y="2743200"/>
            <a:ext cx="1261872" cy="960120"/>
          </a:xfrm>
          <a:prstGeom prst="roundRect">
            <a:avLst/>
          </a:prstGeom>
          <a:solidFill>
            <a:srgbClr val="1F4E79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2.데이터추출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926183" y="3223260"/>
            <a:ext cx="109728" cy="0"/>
          </a:xfrm>
          <a:prstGeom prst="line">
            <a:avLst/>
          </a:prstGeom>
          <a:ln w="28575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3407511" y="2743200"/>
            <a:ext cx="1261872" cy="960120"/>
          </a:xfrm>
          <a:prstGeom prst="roundRect">
            <a:avLst/>
          </a:prstGeom>
          <a:solidFill>
            <a:srgbClr val="1F4E79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3.모델+파인튜닝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297783" y="3223260"/>
            <a:ext cx="109728" cy="0"/>
          </a:xfrm>
          <a:prstGeom prst="line">
            <a:avLst/>
          </a:prstGeom>
          <a:ln w="28575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4779111" y="2743200"/>
            <a:ext cx="1261872" cy="960120"/>
          </a:xfrm>
          <a:prstGeom prst="roundRect">
            <a:avLst/>
          </a:prstGeom>
          <a:solidFill>
            <a:srgbClr val="1F4E79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4.양자화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669383" y="3223260"/>
            <a:ext cx="109728" cy="0"/>
          </a:xfrm>
          <a:prstGeom prst="line">
            <a:avLst/>
          </a:prstGeom>
          <a:ln w="28575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6150711" y="2743200"/>
            <a:ext cx="1261872" cy="960120"/>
          </a:xfrm>
          <a:prstGeom prst="roundRect">
            <a:avLst/>
          </a:prstGeom>
          <a:solidFill>
            <a:srgbClr val="1F4E79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5.RAG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040983" y="3223260"/>
            <a:ext cx="109728" cy="0"/>
          </a:xfrm>
          <a:prstGeom prst="line">
            <a:avLst/>
          </a:prstGeom>
          <a:ln w="28575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7522311" y="2743200"/>
            <a:ext cx="1261872" cy="960120"/>
          </a:xfrm>
          <a:prstGeom prst="roundRect">
            <a:avLst/>
          </a:prstGeom>
          <a:solidFill>
            <a:srgbClr val="1F4E79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6.Agent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412583" y="3223260"/>
            <a:ext cx="109728" cy="0"/>
          </a:xfrm>
          <a:prstGeom prst="line">
            <a:avLst/>
          </a:prstGeom>
          <a:ln w="28575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8893911" y="2743200"/>
            <a:ext cx="1261872" cy="960120"/>
          </a:xfrm>
          <a:prstGeom prst="roundRect">
            <a:avLst/>
          </a:prstGeom>
          <a:solidFill>
            <a:srgbClr val="1F4E79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7.엣지에뮬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784183" y="3223260"/>
            <a:ext cx="109728" cy="0"/>
          </a:xfrm>
          <a:prstGeom prst="line">
            <a:avLst/>
          </a:prstGeom>
          <a:ln w="28575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10265511" y="2743200"/>
            <a:ext cx="1261872" cy="960120"/>
          </a:xfrm>
          <a:prstGeom prst="roundRect">
            <a:avLst/>
          </a:prstGeom>
          <a:solidFill>
            <a:srgbClr val="1F4E79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8.운영인프라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0155783" y="3223260"/>
            <a:ext cx="109728" cy="0"/>
          </a:xfrm>
          <a:prstGeom prst="line">
            <a:avLst/>
          </a:prstGeom>
          <a:ln w="28575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64311" y="4160520"/>
            <a:ext cx="108630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i="1">
                <a:solidFill>
                  <a:srgbClr val="595959"/>
                </a:solidFill>
              </a:rPr>
              <a:t>↺ 6·8단계의 오판정·성능저하 피드백 → 3단계 재학습 / 5단계 재색인으로 순환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Ⅰ</a:t>
            </a:r>
            <a:endParaRPr lang="en-US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시스템 개요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4. 목표와 원칙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4. 목표와 원칙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두 가지 목표를 관통하는 설계 원칙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57200" y="2011680"/>
            <a:ext cx="11274552" cy="3303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>목표 ① MLOps 파이프라인 구축</a:t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endParaRPr lang="ko-KR" altLang="en-US" sz="1400" b="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lang="en-US" altLang="ko-KR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실험관리(MLflow)→학습→평가 순환</a:t>
            </a:r>
            <a:r>
              <a:rPr lang="ko-KR" altLang="en-US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lang="en-US" altLang="ko-KR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lang="ko-KR" altLang="en-US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lang="en-US" altLang="ko-KR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endParaRPr lang="ko-KR" altLang="en-US" sz="1400" b="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sz="1400" b="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배포(모델 레지스트리)→모니터링(Prometheus/Grafana)</a:t>
            </a:r>
            <a:r>
              <a:rPr sz="1400" b="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b="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b="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b="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</a:p>
          <a:p>
            <a:pPr marL="709613" lvl="2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>평가 기준 미달 시 자동 재학습으로 복귀</a:t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endParaRPr lang="en-US" sz="1200" b="0" dirty="0">
              <a:solidFill>
                <a:srgbClr val="646464"/>
              </a:solidFill>
              <a:latin typeface="KoPubWorld돋움체 Medium"/>
              <a:ea typeface="KoPubWorld돋움체 Medium"/>
            </a:endParaRPr>
          </a:p>
          <a:p>
            <a:pPr marL="709613" lvl="2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>CI/CD로 테스트~배포 27초 자동화</a:t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endParaRPr sz="1200" b="0" dirty="0">
              <a:solidFill>
                <a:srgbClr val="646464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endParaRPr lang="en-US"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>목표 ② 엣지 sLLM 구축</a:t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endParaRPr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양자화(Q4_K_M)로 경량화, GPU 없이도 동작</a:t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endParaRPr sz="140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709613" lvl="2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>cgroup 에뮬레이션으로 저사양 환경 하한선 추정</a:t>
            </a:r>
            <a:r>
              <a:rPr sz="120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endParaRPr sz="1200" dirty="0">
              <a:solidFill>
                <a:srgbClr val="646464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규칙+LLM 역할 분리로 안전한 자동 판단</a:t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endParaRPr sz="140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endParaRPr lang="en-US"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>관통 원칙 — 근거 없으면 모른다고 답하고, 실패도 숨기지 않고 기록한다</a:t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endParaRPr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059936" y="0"/>
            <a:ext cx="4059936" cy="6858000"/>
          </a:xfrm>
          <a:prstGeom prst="rect">
            <a:avLst/>
          </a:prstGeom>
          <a:solidFill>
            <a:srgbClr val="266F9F">
              <a:alpha val="60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19872" y="0"/>
            <a:ext cx="4069080" cy="6858000"/>
          </a:xfrm>
          <a:prstGeom prst="rect">
            <a:avLst/>
          </a:prstGeom>
          <a:solidFill>
            <a:srgbClr val="2E7BB8">
              <a:alpha val="50000"/>
            </a:srgbClr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0" y="301752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기술 구성과 선택 근거</a:t>
            </a:r>
            <a:endParaRPr lang="en-US" sz="40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E07E4E87-9576-AD62-62DC-E2F40EB8EA51}"/>
              </a:ext>
            </a:extLst>
          </p:cNvPr>
          <p:cNvSpPr/>
          <p:nvPr/>
        </p:nvSpPr>
        <p:spPr>
          <a:xfrm>
            <a:off x="5815584" y="2554781"/>
            <a:ext cx="548640" cy="50292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Ⅱ</a:t>
            </a:r>
            <a:endParaRPr lang="en-US" sz="2000" dirty="0">
              <a:solidFill>
                <a:schemeClr val="bg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</a:t>
            </a:r>
            <a:endParaRPr lang="en-US" altLang="ko-KR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기술 구성과 선택 근거</a:t>
            </a:r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1. 개발 환경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1. 개발 환경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실험 재현성과 배포 안정성을 우선한 개발 환경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709025"/>
              </p:ext>
            </p:extLst>
          </p:nvPr>
        </p:nvGraphicFramePr>
        <p:xfrm>
          <a:off x="457200" y="2011680"/>
          <a:ext cx="11274552" cy="2743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5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549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결정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선택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이유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비고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상태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실행 위치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AI 서버(grib-ai-server) 하나로 통일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학습·추론·서빙을 로컬에서 돌리지 않는다는 원칙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로컬 PC는 편집 전용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완료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환경관리자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uv (venv/conda 대신)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lock 파일로 버전 고정 — 재현성 우선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MLOps 핵심가치=재현성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완료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MLflow backend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SQLite(mlflow.db)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조건 검색(실험 비교)에 유리하면서 백업은 파일 하나로 간단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파일 기반보다 비교 유리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완료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상시 실행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tmux → systemd --user로 승격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재부팅에도 살아남게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Restart=always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완료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</a:t>
            </a:r>
            <a:endParaRPr lang="en-US" altLang="ko-KR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기술 구성과 선택 근거</a:t>
            </a:r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2. 데이터 추출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2. 데이터 추출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포맷별 폴백 사슬 + '조용한 빈 결과 금지' 원칙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709025"/>
              </p:ext>
            </p:extLst>
          </p:nvPr>
        </p:nvGraphicFramePr>
        <p:xfrm>
          <a:off x="457200" y="2011680"/>
          <a:ext cx="11274552" cy="2743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5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549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결정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선택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이유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비고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실측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PDF 라이브러리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pymupdf(fitz)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OCR용 페이지→이미지 렌더링이 같은 라이브러리에 있어 외부도구 불필요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poppler 불필요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레거시 포맷(HWP/DOC/XLS)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LibreOffice headless→PDF 변환 후 기존 추출기 재사용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포맷별 전용 파서를 따로 안 만들어도 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HWP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pyhwp 1차, LibreOffice 2차 안전망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더 가볍고 변환 품질이 안정적임을 확인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확장자 오표기 대응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매직바이트(PK=zip, CFBF=OLE)로 실제 구조 재확인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확장자만으로는 실제 구조를 신뢰할 수 없는 사례 발견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예: .hwpx인데 실제 구버전 OLE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738/738건 성공(99.9%)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457200" y="580644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595959"/>
                </a:solidFill>
              </a:rPr>
              <a:t>정직하게 남겨둔 한계 — "738건 100% 성공"은 품질 검증이 아니다. 판정 기준이 '빈 문자열이 아니고 글자수 임계값을 넘음'뿐이라 OCR 오탈자·머리말만 추출돼도 통과할 수 있다. 샘플 검수는 아직 미착수.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</a:t>
            </a:r>
            <a:endParaRPr lang="en-US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기술 구성과 선택 근거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3-1. 모델 선정 기준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3-1. 모델 선정 기준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라이선스·한국어 품질·엣지 배포 가능 크기 — 세 기준으로 Qwen3 채택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57200" y="2011680"/>
            <a:ext cx="11274552" cy="3303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>채택 기준 3가지</a:t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endParaRPr lang="ko-KR" altLang="en-US" sz="1400" b="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lang="en-US" altLang="ko-KR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① 상업적 이용 가능한 라이선스</a:t>
            </a:r>
            <a:r>
              <a:rPr lang="ko-KR" altLang="en-US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lang="en-US" altLang="ko-KR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lang="ko-KR" altLang="en-US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lang="en-US" altLang="ko-KR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endParaRPr lang="ko-KR" altLang="en-US" sz="1400" b="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sz="1400" b="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② 한국어 품질</a:t>
            </a:r>
            <a:r>
              <a:rPr sz="1400" b="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b="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b="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b="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</a:p>
          <a:p>
            <a:pPr marL="709613" lvl="2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>③ 엣지 배포 가능한 크기(1~3B급)</a:t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endParaRPr lang="en-US" sz="1200" b="0" dirty="0">
              <a:solidFill>
                <a:srgbClr val="646464"/>
              </a:solidFill>
              <a:latin typeface="KoPubWorld돋움체 Medium"/>
              <a:ea typeface="KoPubWorld돋움체 Medium"/>
            </a:endParaRPr>
          </a:p>
          <a:p>
            <a:pPr marL="709613" lvl="2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>국적·회사에 따라 한국어 실력과 상업조건이 크게 갈림</a:t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endParaRPr sz="1200" b="0" dirty="0">
              <a:solidFill>
                <a:srgbClr val="646464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endParaRPr lang="en-US"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>제외된 후보</a:t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endParaRPr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EXAONE 4.0 — 한국어 최상, 비상업 전용이라 제외</a:t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endParaRPr sz="140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709613" lvl="2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>Upstage Solar — 최소 10.7B부터, 엣지에 부적합</a:t>
            </a:r>
            <a:r>
              <a:rPr sz="120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endParaRPr sz="1200" dirty="0">
              <a:solidFill>
                <a:srgbClr val="646464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DeepSeek V4 — 라이선스는 깨끗하나 한국어 신뢰도 불확실</a:t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endParaRPr sz="140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endParaRPr lang="en-US"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>채택 — Qwen3(Apache 2.0, 0.6B~32B+MoE로 선택지 넓음)</a:t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endParaRPr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</a:t>
            </a:r>
            <a:endParaRPr lang="en-US" altLang="ko-KR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기술 구성과 선택 근거</a:t>
            </a:r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3-1. 모델 비교표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3-1. 모델 비교표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4개 후보의 라이선스·한국어 품질 정량 비교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709025"/>
              </p:ext>
            </p:extLst>
          </p:nvPr>
        </p:nvGraphicFramePr>
        <p:xfrm>
          <a:off x="457200" y="2011680"/>
          <a:ext cx="11274552" cy="2743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5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549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모델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기업/국가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라이선스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한국어 품질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결과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Qwen3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Alibaba·중국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Apache 2.0(제약 없음)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다국어 최상위권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채택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EXAONE 4.0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LG AI연구원·한국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비상업 전용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한국어 최상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제외(라이선스)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Upstage Solar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Upstage·한국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조건부 상업 허용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우수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제외(최소 10.7B)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Gemma 3/4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Google·미국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조건부 상업 허용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양호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차선책(4B 메모리효율 최고)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</a:t>
            </a:r>
            <a:endParaRPr lang="en-US" altLang="ko-KR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기술 구성과 선택 근거</a:t>
            </a:r>
            <a:endParaRPr lang="en-US" altLang="ko-KR" sz="2200" dirty="0"/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3-2. 파인튜닝 스택과 실측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3-2. 파인튜닝 스택과 실측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현장 알림체를 소량 예시로 가르치는 LoRA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57200" y="2011680"/>
            <a:ext cx="5454396" cy="4297680"/>
          </a:xfrm>
          <a:prstGeom prst="rect">
            <a:avLst/>
          </a:prstGeom>
          <a:solidFill>
            <a:srgbClr val="F0F3F5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7200" y="2011680"/>
            <a:ext cx="5454396" cy="91440"/>
          </a:xfrm>
          <a:prstGeom prst="rect">
            <a:avLst/>
          </a:prstGeom>
          <a:solidFill>
            <a:srgbClr val="1F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" y="2240280"/>
            <a:ext cx="490575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5C8C"/>
                </a:solidFill>
                <a:latin typeface="KoPubWorld돋움체 Medium"/>
                <a:ea typeface="KoPubWorld돋움체 Medium"/>
              </a:rPr>
              <a:t>왜 필요했나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2926080"/>
            <a:ext cx="490575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기본 모델은 일반 문장은 잘 만들지만 원하는 형식은 예시로 가르쳐야 함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목표: "3동 2층 화기작업구역, 미착용 안전모 3건 감지"류 알림체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LoRA — 전체가 아닌 보정 레이어만 학습, r=16 alpha=32, bf16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RTX 4000은 NVLink 없어 NCCL_P2P_DISABLE=1 상시 필요(멀티GPU)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77356" y="2011680"/>
            <a:ext cx="5454396" cy="4297680"/>
          </a:xfrm>
          <a:prstGeom prst="rect">
            <a:avLst/>
          </a:prstGeom>
          <a:solidFill>
            <a:srgbClr val="F0F3F5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277356" y="2011680"/>
            <a:ext cx="5454396" cy="91440"/>
          </a:xfrm>
          <a:prstGeom prst="rect">
            <a:avLst/>
          </a:prstGeom>
          <a:solidFill>
            <a:srgbClr val="2E7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51676" y="2240280"/>
            <a:ext cx="490575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E7BB8"/>
                </a:solidFill>
                <a:latin typeface="KoPubWorld돋움체 Medium"/>
                <a:ea typeface="KoPubWorld돋움체 Medium"/>
              </a:rPr>
              <a:t>효과 — 정직하게 두 가지로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51676" y="2926080"/>
            <a:ext cx="490575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배관검증용 — 합성 32건 5에포크 ROUGE-L 0.986, 품질지표 아님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안전 도메인 실제 개선폭 — ROUGE-L 0.525→0.719(+0.194)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에듀 도메인 실제 개선폭 — ROUGE-L 0.239→0.373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한계 — 템플릿 합성 데이터라 실사용 품질보증은 아님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</a:t>
            </a:r>
            <a:endParaRPr lang="en-US" altLang="ko-KR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기술 구성과 선택 근거</a:t>
            </a:r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4. 양자화 방식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4. 양자화 방식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K-quant 계열에서 크기·품질 균형점을 찾는다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709025"/>
              </p:ext>
            </p:extLst>
          </p:nvPr>
        </p:nvGraphicFramePr>
        <p:xfrm>
          <a:off x="457200" y="2011680"/>
          <a:ext cx="11274552" cy="2743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5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549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방식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크기(4B 기준)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품질 손실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비고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선택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F16(무양자화)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~8.0GB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없음(기준)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GPU 서버 학습용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Q5_K_M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~2.7GB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적음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정확도 민감 태스크 대안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Q4_K_M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~2.4GB(실측)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적당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Legacy보다 동일크기서 품질 우위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채택 · 범용 기본값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Q3_K_M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~1.9GB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눈에 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RAM 빠듯한 엣지용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</a:t>
            </a:r>
            <a:endParaRPr lang="en-US" altLang="ko-KR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기술 구성과 선택 근거</a:t>
            </a:r>
            <a:endParaRPr lang="en-US" altLang="ko-KR" sz="2200" dirty="0"/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4. 양자화 실측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4. 양자화 실측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같은 GGUF 파일 하나로 CPU·GPU 둘 다 정상 동작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57200" y="2011680"/>
            <a:ext cx="5454396" cy="4297680"/>
          </a:xfrm>
          <a:prstGeom prst="rect">
            <a:avLst/>
          </a:prstGeom>
          <a:solidFill>
            <a:srgbClr val="F0F3F5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7200" y="2011680"/>
            <a:ext cx="5454396" cy="91440"/>
          </a:xfrm>
          <a:prstGeom prst="rect">
            <a:avLst/>
          </a:prstGeom>
          <a:solidFill>
            <a:srgbClr val="1F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" y="2240280"/>
            <a:ext cx="490575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5C8C"/>
                </a:solidFill>
                <a:latin typeface="KoPubWorld돋움체 Medium"/>
                <a:ea typeface="KoPubWorld돋움체 Medium"/>
              </a:rPr>
              <a:t>압축 전후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2926080"/>
            <a:ext cx="490575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f16 7.5GB → Q4_K_M 2.3GB(약 3.2배 압축)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LoRA는 merge_and_unload()로 먼저 병합 후 GGUF 변환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llama.cpp CPU 전용 빌드(nvcc 없음, 엣지 목적에도 부합)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CPU에서 정확한 문장 생성 확인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77356" y="2011680"/>
            <a:ext cx="5454396" cy="4297680"/>
          </a:xfrm>
          <a:prstGeom prst="rect">
            <a:avLst/>
          </a:prstGeom>
          <a:solidFill>
            <a:srgbClr val="F0F3F5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277356" y="2011680"/>
            <a:ext cx="5454396" cy="91440"/>
          </a:xfrm>
          <a:prstGeom prst="rect">
            <a:avLst/>
          </a:prstGeom>
          <a:solidFill>
            <a:srgbClr val="2E7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51676" y="2240280"/>
            <a:ext cx="490575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E7BB8"/>
                </a:solidFill>
                <a:latin typeface="KoPubWorld돋움체 Medium"/>
                <a:ea typeface="KoPubWorld돋움체 Medium"/>
              </a:rPr>
              <a:t>CPU vs GPU 벤치마크(llama-bench)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51676" y="2926080"/>
            <a:ext cx="490575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CPU(Xeon Silver 4510, 8스레드): tg128 23.63 t/s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GPU(RTX 4000 SFF Ada): tg128 87.01 t/s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생성 속도 약 3.7배, 프롬프트 처리는 약 18.7배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디바이스마다 모델을 따로 만들 필요가 없어짐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</a:t>
            </a:r>
            <a:endParaRPr lang="en-US" altLang="ko-KR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기술 구성과 선택 근거</a:t>
            </a:r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5. RAG 파이프라인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5. RAG 파이프라인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근거 없이는 답하지 않는 검색 결합 생성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709025"/>
              </p:ext>
            </p:extLst>
          </p:nvPr>
        </p:nvGraphicFramePr>
        <p:xfrm>
          <a:off x="457200" y="2011680"/>
          <a:ext cx="11274552" cy="2743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5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549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구성요소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기술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역할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실측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비고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청킹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문단 슬라이딩윈도우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문서를 검색 단위로 분할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12,964개 청크(738건 기준)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MSDS 통합 전 원본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임베딩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multilingual-e5-small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의미 기반 벡터화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다국어 지원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검색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FAISS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최근접 벡터 검색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hit_rate@4 = 0.857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골든셋 평가(2026-09-20)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생성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sLLM(Qwen3)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검색 결과 근거로만 답변 생성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근거 없으면 모른다고 답함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할루시네이션 방지 핵심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457200" y="580644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595959"/>
                </a:solidFill>
              </a:rPr>
              <a:t>곁가지 버그 — PDF 텍스트의 U+2028을 splitlines()가 줄바꿈으로 오인해 JSONL이 반쪽으로 잘리는 문제를 발견, 쓰기·읽기 모두 "\n" 명시 분할로 고정했다.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</a:t>
            </a:r>
            <a:endParaRPr lang="en-US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기술 구성과 선택 근거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5-1. MSDS 통합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5-1. MSDS 통합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산업안전 RAG를 화학물질 안전정보까지 확장한다 (신규 섹션)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57200" y="2011680"/>
            <a:ext cx="11274552" cy="3303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>목적 — 산업안전 RAG를 화학물질 안전정보(MSDS)까지 확장</a:t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endParaRPr lang="ko-KR" altLang="en-US" sz="1400" b="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lang="en-US" altLang="ko-KR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KOSHA가 물질별 16개 표준 항목으로 관리하는 공식 문서</a:t>
            </a:r>
            <a:r>
              <a:rPr lang="ko-KR" altLang="en-US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lang="en-US" altLang="ko-KR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lang="ko-KR" altLang="en-US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lang="en-US" altLang="ko-KR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endParaRPr lang="ko-KR" altLang="en-US" sz="1400" b="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sz="1400" b="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데이터 확보 — data.go.kr 공식 API는 검색 전용, 전체 목록 나열 불가 확인</a:t>
            </a:r>
            <a:r>
              <a:rPr sz="1400" b="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b="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b="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b="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</a:p>
          <a:p>
            <a:pPr marL="709613" lvl="2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>대안 — 동일 API 기반 공개 데이터셋(HF, 48,966개 물질) 사용, SHA256 무결성 검증</a:t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endParaRPr lang="en-US" sz="1200" b="0" dirty="0">
              <a:solidFill>
                <a:srgbClr val="646464"/>
              </a:solidFill>
              <a:latin typeface="KoPubWorld돋움체 Medium"/>
              <a:ea typeface="KoPubWorld돋움체 Medium"/>
            </a:endParaRPr>
          </a:p>
          <a:p>
            <a:pPr marL="709613" lvl="2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>라이선스 — 데이터셋 CC BY 4.0, 원본은 공공누리 제1유형(자유이용)</a:t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endParaRPr sz="1200" b="0" dirty="0">
              <a:solidFill>
                <a:srgbClr val="646464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endParaRPr lang="en-US"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>결과 — 273,595개 청크로 재구축(기존 12,964개 대비 약 21배)</a:t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endParaRPr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서비스 페이지(/msds) — ① 물질 선택 즉시조회 ② 전체 소스 RAG 검색</a:t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endParaRPr sz="140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709613" lvl="2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>근거 없으면 '찾지 못했다'는 원칙 동일 적용</a:t>
            </a:r>
            <a:r>
              <a:rPr sz="120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endParaRPr sz="1200" dirty="0">
              <a:solidFill>
                <a:srgbClr val="646464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자동 갱신 — HF 최신 커밋을 주기 조회해 새 버전만 감지</a:t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endParaRPr sz="140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endParaRPr lang="en-US"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>재수집은 사람이 버튼으로 직접 시작(인덱스 재구축 GPU 약 20분)</a:t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endParaRPr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</a:t>
            </a:r>
            <a:endParaRPr lang="en-US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기술 구성과 선택 근거</a:t>
            </a:r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6. Agent 원칙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6. Agent 원칙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판정은 규칙, 서술은 LLM, 고위험은 사람이 승인한다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57200" y="2011680"/>
            <a:ext cx="3575304" cy="4297680"/>
          </a:xfrm>
          <a:prstGeom prst="rect">
            <a:avLst/>
          </a:prstGeom>
          <a:solidFill>
            <a:srgbClr val="F0F3F5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7200" y="2011680"/>
            <a:ext cx="3575304" cy="91440"/>
          </a:xfrm>
          <a:prstGeom prst="rect">
            <a:avLst/>
          </a:prstGeom>
          <a:solidFill>
            <a:srgbClr val="1F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" y="2240280"/>
            <a:ext cx="3209544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F5C8C"/>
                </a:solidFill>
                <a:latin typeface="KoPubWorld돋움체 Medium"/>
                <a:ea typeface="KoPubWorld돋움체 Medium"/>
              </a:rPr>
              <a:t>규칙 우선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2926080"/>
            <a:ext cx="320954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초과·위험도 판정은 코드(rules.py)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장비 제어도 규칙이 즉시 실행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LLM은 판정을 재수행하지 않음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06824" y="2011680"/>
            <a:ext cx="3575304" cy="4297680"/>
          </a:xfrm>
          <a:prstGeom prst="rect">
            <a:avLst/>
          </a:prstGeom>
          <a:solidFill>
            <a:srgbClr val="F0F3F5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306824" y="2011680"/>
            <a:ext cx="3575304" cy="91440"/>
          </a:xfrm>
          <a:prstGeom prst="rect">
            <a:avLst/>
          </a:prstGeom>
          <a:solidFill>
            <a:srgbClr val="2E7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489704" y="2240280"/>
            <a:ext cx="3209544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E7BB8"/>
                </a:solidFill>
                <a:latin typeface="KoPubWorld돋움체 Medium"/>
                <a:ea typeface="KoPubWorld돋움체 Medium"/>
              </a:rPr>
              <a:t>근거 기반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9704" y="2926080"/>
            <a:ext cx="320954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search_guidelines 호출은 LLM 자율판단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RAG(5단계) 재사용, 근거 없이 답하지 않음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위험 등급에도 강제 호출 안 해도 재량 설계 확인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56448" y="2011680"/>
            <a:ext cx="3575304" cy="4297680"/>
          </a:xfrm>
          <a:prstGeom prst="rect">
            <a:avLst/>
          </a:prstGeom>
          <a:solidFill>
            <a:srgbClr val="F0F3F5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156448" y="2011680"/>
            <a:ext cx="3575304" cy="91440"/>
          </a:xfrm>
          <a:prstGeom prst="rect">
            <a:avLst/>
          </a:prstGeom>
          <a:solidFill>
            <a:srgbClr val="266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339328" y="2240280"/>
            <a:ext cx="3209544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66F9F"/>
                </a:solidFill>
                <a:latin typeface="KoPubWorld돋움체 Medium"/>
                <a:ea typeface="KoPubWorld돋움체 Medium"/>
              </a:rPr>
              <a:t>승인 체계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39328" y="2926080"/>
            <a:ext cx="320954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저위험 장비(환풍기 등) 자동 실행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고위험(가스차단기·소화설비) 사람 승인 대기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운영 피드백은 사람이 2단계로 직접 실행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</a:t>
            </a:r>
            <a:endParaRPr lang="en-US" altLang="ko-KR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기술 구성과 선택 근거</a:t>
            </a:r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6. Agent 역할 분리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6. Agent 역할 분리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같은 상황도 담당 주체에 따라 처리 방식이 다르다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709025"/>
              </p:ext>
            </p:extLst>
          </p:nvPr>
        </p:nvGraphicFramePr>
        <p:xfrm>
          <a:off x="457200" y="2011680"/>
          <a:ext cx="11274552" cy="2743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5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549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역할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담당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설명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비고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권한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초과·위험도 판정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규칙(rules.py)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정상/주의/위험 3단계 계산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LLM이 다시 판정 안 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코드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도구 호출 여부·검색어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LLM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search_guidelines 재사용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자율판단에 맡김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LLM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알림/에스칼레이션/보고서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코드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위험도에 따라 직접 호출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LLM이 스스로 결정 안 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코드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장비 제어(환풍기·가스차단기 등)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규칙+사람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저위험 자동, 고위험 승인대기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임의 실행 방지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코드+사람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</a:t>
            </a:r>
            <a:endParaRPr lang="en-US" altLang="ko-KR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기술 구성과 선택 근거</a:t>
            </a:r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6-1. 센서 데이터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6-1. 센서 데이터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문서 추출이 아니라 여기 속한다 — 이 값을 소비하는 건 Agent의 규칙 판정이기 때문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709025"/>
              </p:ext>
            </p:extLst>
          </p:nvPr>
        </p:nvGraphicFramePr>
        <p:xfrm>
          <a:off x="457200" y="2011680"/>
          <a:ext cx="11274552" cy="2743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5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549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카테고리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측정 물질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단위 예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임계값 근거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비고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공기질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온도·습도·PM10·PM2.5·CO2·TVOC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℃/%/㎍/m³/ppm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KOSHA 사무실 공기관리지침 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6개 물질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가스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산소(O2)·수소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%/%LEL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산업안전보건기준 제618조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산소는 낮을수록 위험(판정 방향 반대)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조리흄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포름알데히드 등 9종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ppm/ng·mg/m³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고용노동부 노출기준 고시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4종은 공식기준 없어 근사값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구조 변경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헬륨·질소·아르곤 → 산소(O2) 통합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단순 질식제는 개별기준 없음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산소 18% 미만=산소결핍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457200" y="580644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595959"/>
                </a:solidFill>
              </a:rPr>
              <a:t>아직 실제 센서 장비는 없다 — 카테고리·임계값은 실제 법령 기준으로 교체했지만, 값 자체는 여전히 무작위 생성(웹 데모) 또는 합성 템플릿(학습 데이터)이다.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</a:t>
            </a:r>
            <a:endParaRPr lang="en-US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기술 구성과 선택 근거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7. 엣지 에뮬레이션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7. 엣지 에뮬레이션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실제 하드웨어 없이 성능 하한선을 추정한다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57200" y="2011680"/>
            <a:ext cx="11274552" cy="3303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>실제 하드웨어 없이 cgroup(systemd-run)으로 제약을 흉내</a:t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endParaRPr lang="ko-KR" altLang="en-US" sz="1400" b="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lang="en-US" altLang="ko-KR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재현 가능 — CPU 코어 수, 메모리 상한</a:t>
            </a:r>
            <a:r>
              <a:rPr lang="ko-KR" altLang="en-US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lang="en-US" altLang="ko-KR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lang="ko-KR" altLang="en-US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lang="en-US" altLang="ko-KR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endParaRPr lang="ko-KR" altLang="en-US" sz="1400" b="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sz="1400" b="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재현 불가 — 명령어셋(AVX-512), 디스크 I/O, 발열 스로틀링</a:t>
            </a:r>
            <a:r>
              <a:rPr sz="1400" b="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b="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b="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b="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</a:p>
          <a:p>
            <a:pPr marL="709613" lvl="2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>그래서 정확한 예측이 아니라 '최소한 이만큼은 된다'는 하한선</a:t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endParaRPr lang="en-US" sz="1200" b="0" dirty="0">
              <a:solidFill>
                <a:srgbClr val="646464"/>
              </a:solidFill>
              <a:latin typeface="KoPubWorld돋움체 Medium"/>
              <a:ea typeface="KoPubWorld돋움체 Medium"/>
            </a:endParaRPr>
          </a:p>
          <a:p>
            <a:pPr marL="709613" lvl="2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>실측 — 2코어/32GB 제약에서 tg 7.32 t/s</a:t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endParaRPr sz="1200" b="0" dirty="0">
              <a:solidFill>
                <a:srgbClr val="646464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endParaRPr lang="en-US"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>발견된 버그</a:t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endParaRPr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메모리 상한이 모델보다 작으면 스왑 때문에 조용히 멈춤(OOM 아님)</a:t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endParaRPr sz="140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709613" lvl="2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>MemorySwapMax=0으로 해결</a:t>
            </a:r>
            <a:r>
              <a:rPr sz="120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endParaRPr sz="1200" dirty="0">
              <a:solidFill>
                <a:srgbClr val="646464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이 설정 없인 '멈춤'을 OOM 크래시로 오인하기 쉬움</a:t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endParaRPr sz="140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endParaRPr lang="en-US"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>다음 단계 — 실제 엣지 하드웨어 확보 후 재검증</a:t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endParaRPr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</a:t>
            </a:r>
            <a:endParaRPr lang="en-US" altLang="ko-KR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기술 구성과 선택 근거</a:t>
            </a:r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8. 운영 인프라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8. 운영 인프라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표준 MLOps 4대 갭을 순차적으로 메웠다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709025"/>
              </p:ext>
            </p:extLst>
          </p:nvPr>
        </p:nvGraphicFramePr>
        <p:xfrm>
          <a:off x="457200" y="2011680"/>
          <a:ext cx="11274552" cy="2743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5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549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갭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도구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역할(실제로 하는 일)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비고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상태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모델 레지스트리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MLflow Model Registry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기준 통과 모델만 Production으로 승격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train/auto_retrain.py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완료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모니터링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Prometheus + Grafana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상태·요청수·응답속도 수집 후 대시보드화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/metrics 엔드포인트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완료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데이터 버저닝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DVC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대용량 학습데이터 버전 관리, git엔 포인터만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로컬 원격(~/dvc-storage)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완료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CI/CD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GitHub Actions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push마다 테스트→통과 시 자동 배포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테스트~배포 27초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완료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</a:t>
            </a:r>
            <a:endParaRPr lang="en-US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기술 구성과 선택 근거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8-1. 데이터 드리프트 감지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8-1. 데이터 드리프트 감지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업계 관례 임계치를 그대로 믿지 않고, 이 지표의 '정상 분포'를 직접 재봤다 (신규)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57200" y="2011680"/>
            <a:ext cx="11274552" cy="3303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>배경 — 화장품 제조AX 제안서가 명시한 'Evidently AI 기반 Drift 감지'를 이 프로젝트 파이프라인에 직접 적용</a:t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endParaRPr lang="ko-KR" altLang="en-US" sz="1400" b="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lang="en-US" altLang="ko-KR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화장품 PoC가 아니라 MLOps-Edge-Lab 자신의 산업안전 RAG 파이프라인에 실제 적용해 학습(핵심 포인트)</a:t>
            </a:r>
            <a:r>
              <a:rPr lang="ko-KR" altLang="en-US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lang="en-US" altLang="ko-KR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lang="ko-KR" altLang="en-US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lang="en-US" altLang="ko-KR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endParaRPr lang="ko-KR" altLang="en-US" sz="1400" b="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sz="1400" b="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구성 — reference(기준 분포) vs current(현재 분포)의 top-1 검색 유사도를 Evidently(PSI)로 비교</a:t>
            </a:r>
            <a:r>
              <a:rPr sz="1400" b="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b="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b="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b="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</a:p>
          <a:p>
            <a:pPr marL="709613" lvl="2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>판정(PSI 임계치 초과 여부)은 코드 규칙이 정하고 LLM은 관여하지 않음</a:t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endParaRPr lang="en-US" sz="1200" b="0" dirty="0">
              <a:solidFill>
                <a:srgbClr val="646464"/>
              </a:solidFill>
              <a:latin typeface="KoPubWorld돋움체 Medium"/>
              <a:ea typeface="KoPubWorld돋움체 Medium"/>
            </a:endParaRPr>
          </a:p>
          <a:p>
            <a:pPr marL="709613" lvl="2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>Rollback(MLflow Model Registry 이전 버전 복귀)은 사람이 /quality에서 버튼+확인 팝업을 통과해야 실행 — 자동 트리거 없음('판정은 규칙, 실행은 사람 승인' 원칙 재사용)</a:t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endParaRPr sz="1200" b="0" dirty="0">
              <a:solidFill>
                <a:srgbClr val="646464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endParaRPr lang="en-US"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>가장 중요한 실측 발견 — 업계 관례 PSI 임계치(&lt;0.1 안정/0.1~0.25 드리프트)는 표본 잡음만으로도 넘는 수준이라 못 썼다</a:t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endParaRPr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reference 7건일 땐 PSI 계산 자체가 사실상 고장 — current에 뭘 넣어도(완전히 같은 분포를 넣어도) PSI가 13~17까지 튐</a:t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endParaRPr sz="140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709613" lvl="2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>reference를 116건(코퍼스 기반 LLM 초안 질문, 점수 분포 전용)으로 늘려도, 완전히 같은 분포에서 뽑은 두 표본을 비교하는 정상 상황에서 PSI가 0.06~1.69까지 나옴을 40회 반복 실측으로 확인 → 새 임계치로 재보정: 안정&lt;2 / 중간 2~8 / 드리프트&gt;8(기존 0.1/0.25 대체), current 최소 표본 수도 10→30으로 상향</a:t>
            </a:r>
            <a:r>
              <a:rPr sz="120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endParaRPr sz="1200" dirty="0">
              <a:solidFill>
                <a:srgbClr val="646464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실측 결과 — 배포 직후 실트래픽 적어 '데이터 부족(판단 불가)' 정직하게 표시(가짜로 '정상' 표시 안 함), 인위적 이동 데이터 주입 시 status=drift·PSI=12.39(reference 평균 0.90 vs current 평균 0.80), Rollback 시도는 되돌릴 Archived 버전이 없어 정상적으로 거부(409)됨까지 확인</a:t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endParaRPr sz="140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endParaRPr lang="en-US"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>교훈 — 업계 표준 임계치를 그대로 믿지 말고, 내 지표의 '정상일 때' 분포를 직접 재봐야 한다</a:t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endParaRPr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059936" y="0"/>
            <a:ext cx="4059936" cy="6858000"/>
          </a:xfrm>
          <a:prstGeom prst="rect">
            <a:avLst/>
          </a:prstGeom>
          <a:solidFill>
            <a:srgbClr val="266F9F">
              <a:alpha val="60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19872" y="0"/>
            <a:ext cx="4069080" cy="6858000"/>
          </a:xfrm>
          <a:prstGeom prst="rect">
            <a:avLst/>
          </a:prstGeom>
          <a:solidFill>
            <a:srgbClr val="2E7BB8">
              <a:alpha val="50000"/>
            </a:srgbClr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0" y="301752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서비스 적용 사례</a:t>
            </a:r>
            <a:endParaRPr lang="en-US" sz="40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E07E4E87-9576-AD62-62DC-E2F40EB8EA51}"/>
              </a:ext>
            </a:extLst>
          </p:cNvPr>
          <p:cNvSpPr/>
          <p:nvPr/>
        </p:nvSpPr>
        <p:spPr>
          <a:xfrm>
            <a:off x="5815584" y="2554781"/>
            <a:ext cx="548640" cy="50292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Ⅲ</a:t>
            </a:r>
            <a:endParaRPr lang="en-US" sz="2000" dirty="0">
              <a:solidFill>
                <a:schemeClr val="bg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Ⅲ</a:t>
            </a:r>
            <a:endParaRPr lang="en-US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서비스 적용 사례</a:t>
            </a:r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1. 사업 기회 개요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1. 사업 기회 개요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산업안전 외 4개 사례로 플랫폼 재사용성을 확인 — 실제 구축은 산업안전·교육 AX뿐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57200" y="2011680"/>
            <a:ext cx="3575304" cy="4297680"/>
          </a:xfrm>
          <a:prstGeom prst="rect">
            <a:avLst/>
          </a:prstGeom>
          <a:solidFill>
            <a:srgbClr val="F0F3F5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7200" y="2011680"/>
            <a:ext cx="3575304" cy="91440"/>
          </a:xfrm>
          <a:prstGeom prst="rect">
            <a:avLst/>
          </a:prstGeom>
          <a:solidFill>
            <a:srgbClr val="1F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" y="2240280"/>
            <a:ext cx="3209544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F5C8C"/>
                </a:solidFill>
                <a:latin typeface="KoPubWorld돋움체 Medium"/>
                <a:ea typeface="KoPubWorld돋움체 Medium"/>
              </a:rPr>
              <a:t>제조 AX — 스마트팩토리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2926080"/>
            <a:ext cx="320954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화장품 AX PoC 패턴의 일반화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설비·SOP만 교체하면 재사용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개념검증 단계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06824" y="2011680"/>
            <a:ext cx="3575304" cy="4297680"/>
          </a:xfrm>
          <a:prstGeom prst="rect">
            <a:avLst/>
          </a:prstGeom>
          <a:solidFill>
            <a:srgbClr val="F0F3F5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306824" y="2011680"/>
            <a:ext cx="3575304" cy="91440"/>
          </a:xfrm>
          <a:prstGeom prst="rect">
            <a:avLst/>
          </a:prstGeom>
          <a:solidFill>
            <a:srgbClr val="2E7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489704" y="2240280"/>
            <a:ext cx="3209544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E7BB8"/>
                </a:solidFill>
                <a:latin typeface="KoPubWorld돋움체 Medium"/>
                <a:ea typeface="KoPubWorld돋움체 Medium"/>
              </a:rPr>
              <a:t>교육 AX — AI튜터·AI토론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9704" y="2926080"/>
            <a:ext cx="320954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클랙스 요청 기반 AI융합교육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완전 오프라인, 실제 구축완료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튜터·토론 2개 실사례로 분리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56448" y="2011680"/>
            <a:ext cx="3575304" cy="4297680"/>
          </a:xfrm>
          <a:prstGeom prst="rect">
            <a:avLst/>
          </a:prstGeom>
          <a:solidFill>
            <a:srgbClr val="F0F3F5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156448" y="2011680"/>
            <a:ext cx="3575304" cy="91440"/>
          </a:xfrm>
          <a:prstGeom prst="rect">
            <a:avLst/>
          </a:prstGeom>
          <a:solidFill>
            <a:srgbClr val="266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339328" y="2240280"/>
            <a:ext cx="3209544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66F9F"/>
                </a:solidFill>
                <a:latin typeface="KoPubWorld돋움체 Medium"/>
                <a:ea typeface="KoPubWorld돋움체 Medium"/>
              </a:rPr>
              <a:t>BidRadar — 사내 실운영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39328" y="2926080"/>
            <a:ext cx="320954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별개 인프라, sLLM API만 호출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5,299건 호출, 성공률 100%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가설이 아닌 실제 운영 데이터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Ⅲ</a:t>
            </a:r>
            <a:endParaRPr lang="en-US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서비스 적용 사례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2. MSDS 통합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2. MSDS 통합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산업안전 sLLM을 화학물질 영역까지 실사용 서비스로 확장한다 (신규)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57200" y="2011680"/>
            <a:ext cx="11274552" cy="3303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>목적 — 기존 산업안전 sLLM 서비스를 화학물질(MSDS) 영역까지 실사용자용 기능으로 확장</a:t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endParaRPr lang="ko-KR" altLang="en-US" sz="1400" b="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lang="en-US" altLang="ko-KR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챕터Ⅱ 5-1은 데이터 확보·갱신 로직 등 파이프라인 결정, 이 슬라이드는 실사용 서비스 관점</a:t>
            </a:r>
            <a:r>
              <a:rPr lang="ko-KR" altLang="en-US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lang="en-US" altLang="ko-KR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lang="ko-KR" altLang="en-US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lang="en-US" altLang="ko-KR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endParaRPr lang="ko-KR" altLang="en-US" sz="1400" b="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sz="1400" b="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서비스 페이지(/msds)</a:t>
            </a:r>
            <a:r>
              <a:rPr sz="1400" b="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b="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b="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b="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</a:p>
          <a:p>
            <a:pPr marL="709613" lvl="2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>① 물질 선택 — 카탈로그 즉시조회</a:t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endParaRPr lang="en-US" sz="1200" b="0" dirty="0">
              <a:solidFill>
                <a:srgbClr val="646464"/>
              </a:solidFill>
              <a:latin typeface="KoPubWorld돋움체 Medium"/>
              <a:ea typeface="KoPubWorld돋움체 Medium"/>
            </a:endParaRPr>
          </a:p>
          <a:p>
            <a:pPr marL="709613" lvl="2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>② 전체 소스 검색 — 산업안전+MSDS 통합 RAG 검색 + sLLM 답변 생성</a:t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endParaRPr sz="1200" b="0" dirty="0">
              <a:solidFill>
                <a:srgbClr val="646464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endParaRPr lang="en-US"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>데이터 규모 — 48,966개 화학물질, 16개 표준항목, 총 273,595개 청크(기존 대비 약 21배)</a:t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endParaRPr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근거 없으면 '찾지 못했다'는 이 프로젝트 원칙 동일 적용(할루시네이션 방지)</a:t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endParaRPr sz="140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709613" lvl="2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>자동 갱신 — HF 최신 커밋 주기 조회, 새 버전 있을 때만 '지금 업데이트' 버튼 활성화</a:t>
            </a:r>
            <a:r>
              <a:rPr sz="120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endParaRPr sz="1200" dirty="0">
              <a:solidFill>
                <a:srgbClr val="646464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재수집은 사람이 시작(버튼 클릭)</a:t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endParaRPr sz="140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endParaRPr lang="en-US"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>구현 상태 — 실제 구축·배포 완료(/msds 실사용 가능)</a:t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endParaRPr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Ⅲ</a:t>
            </a:r>
            <a:endParaRPr lang="en-US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서비스 적용 사례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3. 스마트팩토리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3. 스마트팩토리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설비·SOP만 교체하면 같은 Agent 구조를 재사용한다 (9-1)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57200" y="2011680"/>
            <a:ext cx="11274552" cy="3303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>목적 — 화장품 AX PoC 패턴을 임의 제조현장으로 일반화</a:t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endParaRPr lang="ko-KR" altLang="en-US" sz="1400" b="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lang="en-US" altLang="ko-KR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설비군·센서 종류·SOP만 교체하면 같은 플랫폼 재사용</a:t>
            </a:r>
            <a:r>
              <a:rPr lang="ko-KR" altLang="en-US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lang="en-US" altLang="ko-KR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lang="ko-KR" altLang="en-US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lang="en-US" altLang="ko-KR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endParaRPr lang="ko-KR" altLang="en-US" sz="1400" b="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sz="1400" b="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EQUIPMENT_MAP·SOP_RANGES가 이미 설정 기반 구조로 설계됨</a:t>
            </a:r>
            <a:r>
              <a:rPr sz="1400" b="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b="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b="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b="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</a:p>
          <a:p>
            <a:pPr marL="709613" lvl="2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>제안서에도 'Config 기반 아키텍처로 확장 반영' 명시</a:t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endParaRPr lang="en-US" sz="1200" b="0" dirty="0">
              <a:solidFill>
                <a:srgbClr val="646464"/>
              </a:solidFill>
              <a:latin typeface="KoPubWorld돋움체 Medium"/>
              <a:ea typeface="KoPubWorld돋움체 Medium"/>
            </a:endParaRPr>
          </a:p>
          <a:p>
            <a:pPr marL="709613" lvl="2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>COA(시험성적서) 자동생성 추가(신규) — 제안서가 'AI 에이전트 핵심가치'로 명시한 기능, 저장된 값을 문서로 조립만 하고 판정은 SOP 규칙이 계산(LLM이 판정을 바꾸지 못하게 시스템 프롬프트로 강제)</a:t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endParaRPr sz="1200" b="0" dirty="0">
              <a:solidFill>
                <a:srgbClr val="646464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endParaRPr lang="en-US"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>단계별 변경</a:t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endParaRPr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데이터=설비 매뉴얼·SOP, 센서=PLC/OPC-UA 시계열+MES 실적</a:t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endParaRPr sz="140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709613" lvl="2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>3단계=설비 이상 서술체 재학습, 6단계=예지보전 알람+승인</a:t>
            </a:r>
            <a:r>
              <a:rPr sz="120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endParaRPr sz="1200" dirty="0">
              <a:solidFill>
                <a:srgbClr val="646464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1·4·7·8단계는 산업안전과 동일 구조, Human-in-the-loop 원칙도 동일 적용 — 자동 시뮬레이션이 정상 종료됐을 때도 COA 초안이 자동으로 나오게 확장</a:t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endParaRPr sz="140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endParaRPr lang="en-US"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>구현 상태 — 개념검증(화장품 AX PoC) 단계</a:t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endParaRPr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Ⅲ</a:t>
            </a:r>
            <a:endParaRPr lang="en-US" altLang="ko-KR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서비스 적용 사례</a:t>
            </a:r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4. AI 튜터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4. AI 튜터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학교 네트워크 제약에 대응하는 완전 오프라인 튜터 — 8단계 중 4곳만 바뀐다 (9-2, 신규 분리)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709025"/>
              </p:ext>
            </p:extLst>
          </p:nvPr>
        </p:nvGraphicFramePr>
        <p:xfrm>
          <a:off x="457200" y="2011680"/>
          <a:ext cx="11277569" cy="397763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569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1959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단계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산업안전 원형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AI튜터 변경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1. 개발환경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uv/MLflow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동일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2. 데이터추출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안전 문서 738건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교과서·교육과정 참고자료(현재 42건, data.go.kr 공공데이터로 확장 진행 중)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3. 모델선정/파인튜닝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동일 베이스, 안전 알림체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동일 베이스(edge-social-lora), 학생 눈높이 설명체 — 실측 ROUGE-L 0.239→0.373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4. 양자화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동일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동일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5. RAG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안전 법령/수칙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교과서 지식(경제·지리·법 등), BM25+임베딩 하이브리드 검색(RRF)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6. Agent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규칙판정+장비제어+LLM서술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장비제어 없음 — 대신 "오답노트 생성+학습진도 추적"이 그 자리를 대체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7. 엣지에뮬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서버 cgroup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동일 프레임워크, 학교 PC/태블릿 사양으로 치환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8. 운영인프라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동일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동일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457200" y="603504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595959"/>
                </a:solidFill>
              </a:rPr>
              <a:t>한계 — 코퍼스 2소스·42건뿐이라 파인튜닝 개선폭이 문체 때문인지 내용 정확도 때문인지 아직 구분되지 않는다. 구현 상태 — 실제 구축·서비스 완료(완전 오프라인 학생용 페이지).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Ⅲ</a:t>
            </a:r>
            <a:endParaRPr lang="en-US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서비스 적용 사례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5. AI 토론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5. AI 토론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쿼터 기반 팀 배정, Sankey→막대그래프로 시각화 변경 (9-3, 신규 분리)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57200" y="2011680"/>
            <a:ext cx="11274552" cy="3303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>목적 — 구상만 있던 'AI 토론 배틀'의 실제 구현</a:t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endParaRPr lang="ko-KR" altLang="en-US" sz="1400" b="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lang="en-US" altLang="ko-KR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흐름 — 주제생성→의견 에뮬레이션→팀배정→RAG 토론자료→재의견→시각화</a:t>
            </a:r>
            <a:r>
              <a:rPr lang="ko-KR" altLang="en-US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lang="en-US" altLang="ko-KR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lang="ko-KR" altLang="en-US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lang="en-US" altLang="ko-KR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endParaRPr lang="ko-KR" altLang="en-US" sz="1400" b="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sz="1400" b="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팀 배정 — 의견 임베딩 후 균형 클러스터링, LLM은 이름만 라벨링</a:t>
            </a:r>
            <a:r>
              <a:rPr sz="1400" b="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b="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b="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b="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</a:p>
          <a:p>
            <a:pPr marL="709613" lvl="2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>찬성/반대/조건부 비율은 코드가 쿼터로 먼저 고정</a:t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endParaRPr lang="en-US" sz="1200" b="0" dirty="0">
              <a:solidFill>
                <a:srgbClr val="646464"/>
              </a:solidFill>
              <a:latin typeface="KoPubWorld돋움체 Medium"/>
              <a:ea typeface="KoPubWorld돋움체 Medium"/>
            </a:endParaRPr>
          </a:p>
          <a:p>
            <a:pPr marL="709613" lvl="2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>이유 — '다양하게 만들라'는 프롬프트만으론 한쪽 쏠림이 실제로 있었음</a:t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endParaRPr sz="1200" b="0" dirty="0">
              <a:solidFill>
                <a:srgbClr val="646464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endParaRPr lang="en-US"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>실제 예시(2026-09-21) — 급식실 식재료 주제</a:t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endParaRPr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찬성 5명이 '지역경제' vs '환경/품질' 2팀으로 자동 분리</a:t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endParaRPr sz="140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709613" lvl="2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>같은 입장도 강조점이 다르면 다른 팀으로 갈릴 수 있음을 보여줌</a:t>
            </a:r>
            <a:r>
              <a:rPr sz="120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endParaRPr sz="1200" dirty="0">
              <a:solidFill>
                <a:srgbClr val="646464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시각화 변경 — Sankey 흐름도 → 팀별 막대그래프(전/후+신규유입)</a:t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endParaRPr sz="140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endParaRPr lang="en-US"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>구현 상태 — 실제 구축·서비스 완료(파인튜닝 없이 프롬프팅만)</a:t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endParaRPr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Ⅲ</a:t>
            </a:r>
            <a:endParaRPr lang="en-US" altLang="ko-KR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서비스 적용 사례</a:t>
            </a:r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6. BidRadar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6. BidRadar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산업안전과 완전히 별개인 사내 프로젝트가 이 프로젝트의 서빙 API를 실제로 호출한다 (9-4, 신규)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709025"/>
              </p:ext>
            </p:extLst>
          </p:nvPr>
        </p:nvGraphicFramePr>
        <p:xfrm>
          <a:off x="457200" y="2011680"/>
          <a:ext cx="11274552" cy="2743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5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549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항목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내용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실측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엔드포인트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비고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공고 매칭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공고 제목 ↔ 고객 관심주제 의미적 매칭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5,299건 호출, 성공률 100%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/v1/classify-topic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평균 지연 1.6초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보조 신호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키워드 매칭을 대체하지 않음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confidence는 사람 검토용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기존 매칭과 병행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병렬 처리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전용 GPU 풀(GPU 2·3)로 동시 처리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4워커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실시간 서비스 GPU와 분리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문서 분류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첨부문서가 공통서식인지 판단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185건 호출(성공 97·실패 88)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/v1/classify-doc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실패율 아직 높음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457200" y="580644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595959"/>
                </a:solidFill>
              </a:rPr>
              <a:t>정직하게 밝혀둔다 — 이 사례는 사고실험이 아니라 실제 운영 데이터지만 '추천'보다 '매칭 후보 제시'에 가깝다. 최종 결정은 여전히 사람(키워드 매칭+검토)이 하며, classify-doc 실패율(185건 중 88건)이 아직 높다는 점도 그대로 남겨둔다.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Ⅲ</a:t>
            </a:r>
            <a:endParaRPr lang="en-US" altLang="ko-KR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서비스 적용 사례</a:t>
            </a:r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7. 네 사례 종합 비교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7. 네 사례 종합 비교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8단계 구조가 얼마나 그대로 재사용되는가 — BidRadar는 나머지 셋과 성격이 다르다 (9-5, 신규)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709025"/>
              </p:ext>
            </p:extLst>
          </p:nvPr>
        </p:nvGraphicFramePr>
        <p:xfrm>
          <a:off x="457200" y="2011680"/>
          <a:ext cx="11274552" cy="397763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5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549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1959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단계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스마트팩토리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AI튜터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AI토론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BidRadar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1. 개발환경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동일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동일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동일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해당없음(별도 인프라)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2. 데이터추출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변경(설비 매뉴얼·SOP)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변경(교과서·공공데이터)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동일(AI튜터와 코퍼스 재사용)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해당없음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3. 파인튜닝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변경(설비 이상 서술체)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변경(학생 눈높이 설명체)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해당없음(프롬프팅만 사용)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해당없음(재학습 없음)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4. 양자화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동일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동일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동일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해당없음(양자화된 모델 그대로 호출)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5. RAG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변경(SOP 검색)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변경(교과서 하이브리드 검색)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변경(토론주제 교과서 검색)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변형(임베딩 매칭으로 대체)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6. Agent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동일 구조(임계값+승인)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변경(오답노트 생성)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장비제어 없음(팀배정·재의견)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변형(키워드 보조, 최종은 사람)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7. 엣지에뮬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동일(현장PC 흉내)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동일(학교PC·태블릿)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해당없음(서버 웹서비스)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해당없음(엣지 배포 없음)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8. 운영인프라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동일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동일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동일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별도(분리 인프라, API만 호출)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457200" y="603504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595959"/>
                </a:solidFill>
              </a:rPr>
              <a:t>BidRadar는 '같은 플랫폼에 다른 도메인을 넣은 확장'이 아니라, 이미 만든 5·6단계 결과물을 완전히 별개 시스템이 외부에서 호출하는 구조다 — 그래서 1·2·3·4·7·8단계는 '변경'이 아니라 '해당없음'이 정확하다.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Ⅲ</a:t>
            </a:r>
            <a:endParaRPr lang="en-US" altLang="ko-KR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서비스 적용 사례</a:t>
            </a:r>
            <a:endParaRPr lang="en-US" altLang="ko-KR" sz="2200" dirty="0"/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8. 관통 원칙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8. 관통 원칙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네 실사례를 관통하는 원칙과 다음 확장 방향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57200" y="2011680"/>
            <a:ext cx="5454396" cy="4297680"/>
          </a:xfrm>
          <a:prstGeom prst="rect">
            <a:avLst/>
          </a:prstGeom>
          <a:solidFill>
            <a:srgbClr val="F0F3F5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7200" y="2011680"/>
            <a:ext cx="5454396" cy="91440"/>
          </a:xfrm>
          <a:prstGeom prst="rect">
            <a:avLst/>
          </a:prstGeom>
          <a:solidFill>
            <a:srgbClr val="1F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" y="2240280"/>
            <a:ext cx="490575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5C8C"/>
                </a:solidFill>
                <a:latin typeface="KoPubWorld돋움체 Medium"/>
                <a:ea typeface="KoPubWorld돋움체 Medium"/>
              </a:rPr>
              <a:t>관통한 설계 원칙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2926080"/>
            <a:ext cx="490575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규칙 우선, LLM은 보조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근거 없으면 모른다고 답함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주장보다 실측 수치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실패도 숨기지 않고 기록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77356" y="2011680"/>
            <a:ext cx="5454396" cy="4297680"/>
          </a:xfrm>
          <a:prstGeom prst="rect">
            <a:avLst/>
          </a:prstGeom>
          <a:solidFill>
            <a:srgbClr val="F0F3F5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277356" y="2011680"/>
            <a:ext cx="5454396" cy="91440"/>
          </a:xfrm>
          <a:prstGeom prst="rect">
            <a:avLst/>
          </a:prstGeom>
          <a:solidFill>
            <a:srgbClr val="2E7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51676" y="2240280"/>
            <a:ext cx="490575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E7BB8"/>
                </a:solidFill>
                <a:latin typeface="KoPubWorld돋움체 Medium"/>
                <a:ea typeface="KoPubWorld돋움체 Medium"/>
              </a:rPr>
              <a:t>앞으로의 확장 방향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51676" y="2926080"/>
            <a:ext cx="490575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실제 엣지 하드웨어 확보 후 7단계 재검증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센서 임계값을 placeholder에서 정식 기준으로 완전 교체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6→2/3단계 피드백 루프를 자동 재학습까지 확장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아직 가설 단계인 부분의 실증 확대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520</Words>
  <Application>Microsoft Office PowerPoint</Application>
  <PresentationFormat>와이드스크린</PresentationFormat>
  <Paragraphs>125</Paragraphs>
  <Slides>11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8" baseType="lpstr">
      <vt:lpstr>KoPubWorld돋움체 Bold</vt:lpstr>
      <vt:lpstr>KoPubWorld돋움체 Medium</vt:lpstr>
      <vt:lpstr>KoPub돋움체 Medium</vt:lpstr>
      <vt:lpstr>Arial</vt:lpstr>
      <vt:lpstr>Calibri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Grib Co.,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Grib 표준 PPT 데모 (전체 레이아웃)</dc:title>
  <dc:subject/>
  <dc:creator>(주)그립</dc:creator>
  <cp:lastModifiedBy>Jeffrey Ahn</cp:lastModifiedBy>
  <cp:revision>4</cp:revision>
  <dcterms:created xsi:type="dcterms:W3CDTF">2026-06-15T09:39:04Z</dcterms:created>
  <dcterms:modified xsi:type="dcterms:W3CDTF">2026-06-15T10:50:39Z</dcterms:modified>
</cp:coreProperties>
</file>